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10287000" cx="18288000"/>
  <p:notesSz cx="6858000" cy="9144000"/>
  <p:embeddedFontLst>
    <p:embeddedFont>
      <p:font typeface="Montserrat"/>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3" roundtripDataSignature="AMtx7mgcDQjwBgPeWWGKq/iHkZERymNk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fntdata"/><Relationship Id="rId30" Type="http://schemas.openxmlformats.org/officeDocument/2006/relationships/slide" Target="slides/slide25.xml"/><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Montserra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5"/>
          <p:cNvSpPr/>
          <p:nvPr>
            <p:ph idx="2" type="pic"/>
          </p:nvPr>
        </p:nvSpPr>
        <p:spPr>
          <a:xfrm>
            <a:off x="1792288" y="612775"/>
            <a:ext cx="5486400" cy="4114800"/>
          </a:xfrm>
          <a:prstGeom prst="rect">
            <a:avLst/>
          </a:prstGeom>
          <a:noFill/>
          <a:ln>
            <a:noFill/>
          </a:ln>
        </p:spPr>
      </p:sp>
      <p:sp>
        <p:nvSpPr>
          <p:cNvPr id="64" name="Google Shape;64;p3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4.png"/><Relationship Id="rId11" Type="http://schemas.openxmlformats.org/officeDocument/2006/relationships/image" Target="../media/image9.png"/><Relationship Id="rId10" Type="http://schemas.openxmlformats.org/officeDocument/2006/relationships/image" Target="../media/image10.png"/><Relationship Id="rId9"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20.png"/><Relationship Id="rId7" Type="http://schemas.openxmlformats.org/officeDocument/2006/relationships/image" Target="../media/image6.png"/><Relationship Id="rId8"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12.png"/><Relationship Id="rId9"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4.png"/><Relationship Id="rId7" Type="http://schemas.openxmlformats.org/officeDocument/2006/relationships/image" Target="../media/image20.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2.jp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29.png"/><Relationship Id="rId7" Type="http://schemas.openxmlformats.org/officeDocument/2006/relationships/image" Target="../media/image18.png"/><Relationship Id="rId8"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6.jpg"/><Relationship Id="rId4" Type="http://schemas.openxmlformats.org/officeDocument/2006/relationships/image" Target="../media/image15.png"/><Relationship Id="rId5" Type="http://schemas.openxmlformats.org/officeDocument/2006/relationships/image" Target="../media/image24.png"/><Relationship Id="rId6" Type="http://schemas.openxmlformats.org/officeDocument/2006/relationships/image" Target="../media/image22.png"/><Relationship Id="rId7"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1.jp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2.jp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29.png"/><Relationship Id="rId7" Type="http://schemas.openxmlformats.org/officeDocument/2006/relationships/image" Target="../media/image18.png"/><Relationship Id="rId8"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2.jpg"/><Relationship Id="rId4" Type="http://schemas.openxmlformats.org/officeDocument/2006/relationships/image" Target="../media/image15.png"/><Relationship Id="rId5" Type="http://schemas.openxmlformats.org/officeDocument/2006/relationships/image" Target="../media/image29.png"/><Relationship Id="rId6" Type="http://schemas.openxmlformats.org/officeDocument/2006/relationships/image" Target="../media/image18.png"/><Relationship Id="rId7" Type="http://schemas.openxmlformats.org/officeDocument/2006/relationships/image" Target="../media/image4.png"/><Relationship Id="rId8"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9.jpg"/><Relationship Id="rId4" Type="http://schemas.openxmlformats.org/officeDocument/2006/relationships/image" Target="../media/image22.png"/><Relationship Id="rId5" Type="http://schemas.openxmlformats.org/officeDocument/2006/relationships/image" Target="../media/image33.png"/><Relationship Id="rId6"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9.jpg"/><Relationship Id="rId4" Type="http://schemas.openxmlformats.org/officeDocument/2006/relationships/image" Target="../media/image35.png"/><Relationship Id="rId5" Type="http://schemas.openxmlformats.org/officeDocument/2006/relationships/image" Target="../media/image22.png"/><Relationship Id="rId6"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0.jpg"/><Relationship Id="rId4" Type="http://schemas.openxmlformats.org/officeDocument/2006/relationships/image" Target="../media/image36.png"/><Relationship Id="rId5" Type="http://schemas.openxmlformats.org/officeDocument/2006/relationships/image" Target="../media/image22.png"/><Relationship Id="rId6"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0.jpg"/><Relationship Id="rId4" Type="http://schemas.openxmlformats.org/officeDocument/2006/relationships/image" Target="../media/image36.png"/><Relationship Id="rId5" Type="http://schemas.openxmlformats.org/officeDocument/2006/relationships/image" Target="../media/image22.png"/><Relationship Id="rId6" Type="http://schemas.openxmlformats.org/officeDocument/2006/relationships/image" Target="../media/image4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1.jp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1.jpg"/><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2.jp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29.png"/><Relationship Id="rId7" Type="http://schemas.openxmlformats.org/officeDocument/2006/relationships/image" Target="../media/image18.png"/><Relationship Id="rId8"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5.jpg"/><Relationship Id="rId4" Type="http://schemas.openxmlformats.org/officeDocument/2006/relationships/image" Target="../media/image46.png"/><Relationship Id="rId5" Type="http://schemas.openxmlformats.org/officeDocument/2006/relationships/image" Target="../media/image4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5.jpg"/><Relationship Id="rId4" Type="http://schemas.openxmlformats.org/officeDocument/2006/relationships/image" Target="../media/image43.png"/><Relationship Id="rId5"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5.jpg"/><Relationship Id="rId4" Type="http://schemas.openxmlformats.org/officeDocument/2006/relationships/image" Target="../media/image5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5.jpg"/><Relationship Id="rId4" Type="http://schemas.openxmlformats.org/officeDocument/2006/relationships/image" Target="../media/image50.png"/><Relationship Id="rId5"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5.jpg"/><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5.jp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5.jp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5.jpg"/><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5.jpg"/><Relationship Id="rId4" Type="http://schemas.openxmlformats.org/officeDocument/2006/relationships/image" Target="../media/image60.png"/><Relationship Id="rId5" Type="http://schemas.openxmlformats.org/officeDocument/2006/relationships/image" Target="../media/image5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5.jpg"/><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5.jpg"/><Relationship Id="rId4" Type="http://schemas.openxmlformats.org/officeDocument/2006/relationships/image" Target="../media/image59.png"/><Relationship Id="rId5"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sp>
        <p:nvSpPr>
          <p:cNvPr id="85" name="Google Shape;85;p1"/>
          <p:cNvSpPr/>
          <p:nvPr/>
        </p:nvSpPr>
        <p:spPr>
          <a:xfrm>
            <a:off x="-2125279" y="5851610"/>
            <a:ext cx="5810817" cy="5810817"/>
          </a:xfrm>
          <a:custGeom>
            <a:rect b="b" l="l" r="r" t="t"/>
            <a:pathLst>
              <a:path extrusionOk="0" h="5810817" w="5810817">
                <a:moveTo>
                  <a:pt x="0" y="0"/>
                </a:moveTo>
                <a:lnTo>
                  <a:pt x="5810817" y="0"/>
                </a:lnTo>
                <a:lnTo>
                  <a:pt x="5810817" y="5810816"/>
                </a:lnTo>
                <a:lnTo>
                  <a:pt x="0" y="5810816"/>
                </a:lnTo>
                <a:lnTo>
                  <a:pt x="0" y="0"/>
                </a:lnTo>
                <a:close/>
              </a:path>
            </a:pathLst>
          </a:custGeom>
          <a:blipFill rotWithShape="1">
            <a:blip r:embed="rId4">
              <a:alphaModFix amt="65999"/>
            </a:blip>
            <a:stretch>
              <a:fillRect b="0" l="0" r="0" t="0"/>
            </a:stretch>
          </a:blipFill>
          <a:ln>
            <a:noFill/>
          </a:ln>
        </p:spPr>
      </p:sp>
      <p:sp>
        <p:nvSpPr>
          <p:cNvPr id="86" name="Google Shape;86;p1"/>
          <p:cNvSpPr/>
          <p:nvPr/>
        </p:nvSpPr>
        <p:spPr>
          <a:xfrm>
            <a:off x="780129" y="2727121"/>
            <a:ext cx="7754648" cy="5011441"/>
          </a:xfrm>
          <a:custGeom>
            <a:rect b="b" l="l" r="r" t="t"/>
            <a:pathLst>
              <a:path extrusionOk="0" h="5011441" w="7754648">
                <a:moveTo>
                  <a:pt x="0" y="0"/>
                </a:moveTo>
                <a:lnTo>
                  <a:pt x="7754649" y="0"/>
                </a:lnTo>
                <a:lnTo>
                  <a:pt x="7754649" y="5011441"/>
                </a:lnTo>
                <a:lnTo>
                  <a:pt x="0" y="5011441"/>
                </a:lnTo>
                <a:lnTo>
                  <a:pt x="0" y="0"/>
                </a:lnTo>
                <a:close/>
              </a:path>
            </a:pathLst>
          </a:custGeom>
          <a:blipFill rotWithShape="1">
            <a:blip r:embed="rId5">
              <a:alphaModFix/>
            </a:blip>
            <a:stretch>
              <a:fillRect b="0" l="0" r="0" t="0"/>
            </a:stretch>
          </a:blipFill>
          <a:ln>
            <a:noFill/>
          </a:ln>
        </p:spPr>
      </p:sp>
      <p:sp>
        <p:nvSpPr>
          <p:cNvPr id="87" name="Google Shape;87;p1"/>
          <p:cNvSpPr/>
          <p:nvPr/>
        </p:nvSpPr>
        <p:spPr>
          <a:xfrm>
            <a:off x="14314527" y="-1367361"/>
            <a:ext cx="8214637" cy="8229600"/>
          </a:xfrm>
          <a:custGeom>
            <a:rect b="b" l="l" r="r" t="t"/>
            <a:pathLst>
              <a:path extrusionOk="0" h="8229600" w="8214637">
                <a:moveTo>
                  <a:pt x="0" y="0"/>
                </a:moveTo>
                <a:lnTo>
                  <a:pt x="8214637" y="0"/>
                </a:lnTo>
                <a:lnTo>
                  <a:pt x="8214637" y="8229600"/>
                </a:lnTo>
                <a:lnTo>
                  <a:pt x="0" y="8229600"/>
                </a:lnTo>
                <a:lnTo>
                  <a:pt x="0" y="0"/>
                </a:lnTo>
                <a:close/>
              </a:path>
            </a:pathLst>
          </a:custGeom>
          <a:blipFill rotWithShape="1">
            <a:blip r:embed="rId6">
              <a:alphaModFix/>
            </a:blip>
            <a:stretch>
              <a:fillRect b="0" l="0" r="0" t="0"/>
            </a:stretch>
          </a:blipFill>
          <a:ln>
            <a:noFill/>
          </a:ln>
        </p:spPr>
      </p:sp>
      <p:sp>
        <p:nvSpPr>
          <p:cNvPr id="88" name="Google Shape;88;p1"/>
          <p:cNvSpPr/>
          <p:nvPr/>
        </p:nvSpPr>
        <p:spPr>
          <a:xfrm>
            <a:off x="-1013954" y="-1942675"/>
            <a:ext cx="6663644" cy="4114800"/>
          </a:xfrm>
          <a:custGeom>
            <a:rect b="b" l="l" r="r" t="t"/>
            <a:pathLst>
              <a:path extrusionOk="0" h="4114800" w="6663644">
                <a:moveTo>
                  <a:pt x="0" y="0"/>
                </a:moveTo>
                <a:lnTo>
                  <a:pt x="6663644" y="0"/>
                </a:lnTo>
                <a:lnTo>
                  <a:pt x="6663644" y="4114800"/>
                </a:lnTo>
                <a:lnTo>
                  <a:pt x="0" y="4114800"/>
                </a:lnTo>
                <a:lnTo>
                  <a:pt x="0" y="0"/>
                </a:lnTo>
                <a:close/>
              </a:path>
            </a:pathLst>
          </a:custGeom>
          <a:blipFill rotWithShape="1">
            <a:blip r:embed="rId7">
              <a:alphaModFix/>
            </a:blip>
            <a:stretch>
              <a:fillRect b="0" l="0" r="0" t="0"/>
            </a:stretch>
          </a:blipFill>
          <a:ln>
            <a:noFill/>
          </a:ln>
        </p:spPr>
      </p:sp>
      <p:sp>
        <p:nvSpPr>
          <p:cNvPr id="89" name="Google Shape;89;p1"/>
          <p:cNvSpPr/>
          <p:nvPr/>
        </p:nvSpPr>
        <p:spPr>
          <a:xfrm rot="10800000">
            <a:off x="13396817" y="7234638"/>
            <a:ext cx="4891183" cy="3044761"/>
          </a:xfrm>
          <a:custGeom>
            <a:rect b="b" l="l" r="r" t="t"/>
            <a:pathLst>
              <a:path extrusionOk="0" h="3044761" w="4891183">
                <a:moveTo>
                  <a:pt x="4891183" y="3044761"/>
                </a:moveTo>
                <a:lnTo>
                  <a:pt x="0" y="3044761"/>
                </a:lnTo>
                <a:lnTo>
                  <a:pt x="0" y="0"/>
                </a:lnTo>
                <a:lnTo>
                  <a:pt x="4891183" y="0"/>
                </a:lnTo>
                <a:lnTo>
                  <a:pt x="4891183" y="3044761"/>
                </a:lnTo>
                <a:close/>
              </a:path>
            </a:pathLst>
          </a:custGeom>
          <a:blipFill rotWithShape="1">
            <a:blip r:embed="rId8">
              <a:alphaModFix/>
            </a:blip>
            <a:stretch>
              <a:fillRect b="0" l="0" r="0" t="0"/>
            </a:stretch>
          </a:blipFill>
          <a:ln>
            <a:noFill/>
          </a:ln>
        </p:spPr>
      </p:sp>
      <p:sp>
        <p:nvSpPr>
          <p:cNvPr id="90" name="Google Shape;90;p1"/>
          <p:cNvSpPr/>
          <p:nvPr/>
        </p:nvSpPr>
        <p:spPr>
          <a:xfrm>
            <a:off x="6081617" y="9603195"/>
            <a:ext cx="7315200" cy="2026456"/>
          </a:xfrm>
          <a:custGeom>
            <a:rect b="b" l="l" r="r" t="t"/>
            <a:pathLst>
              <a:path extrusionOk="0" h="2026456" w="7315200">
                <a:moveTo>
                  <a:pt x="0" y="0"/>
                </a:moveTo>
                <a:lnTo>
                  <a:pt x="7315200" y="0"/>
                </a:lnTo>
                <a:lnTo>
                  <a:pt x="7315200" y="2026456"/>
                </a:lnTo>
                <a:lnTo>
                  <a:pt x="0" y="2026456"/>
                </a:lnTo>
                <a:lnTo>
                  <a:pt x="0" y="0"/>
                </a:lnTo>
                <a:close/>
              </a:path>
            </a:pathLst>
          </a:custGeom>
          <a:blipFill rotWithShape="1">
            <a:blip r:embed="rId9">
              <a:alphaModFix/>
            </a:blip>
            <a:stretch>
              <a:fillRect b="0" l="0" r="0" t="0"/>
            </a:stretch>
          </a:blipFill>
          <a:ln>
            <a:noFill/>
          </a:ln>
        </p:spPr>
      </p:sp>
      <p:sp>
        <p:nvSpPr>
          <p:cNvPr id="91" name="Google Shape;91;p1"/>
          <p:cNvSpPr/>
          <p:nvPr/>
        </p:nvSpPr>
        <p:spPr>
          <a:xfrm>
            <a:off x="12410253" y="-2568978"/>
            <a:ext cx="4611801" cy="4741103"/>
          </a:xfrm>
          <a:custGeom>
            <a:rect b="b" l="l" r="r" t="t"/>
            <a:pathLst>
              <a:path extrusionOk="0" h="4741103" w="4611801">
                <a:moveTo>
                  <a:pt x="0" y="0"/>
                </a:moveTo>
                <a:lnTo>
                  <a:pt x="4611801" y="0"/>
                </a:lnTo>
                <a:lnTo>
                  <a:pt x="4611801" y="4741103"/>
                </a:lnTo>
                <a:lnTo>
                  <a:pt x="0" y="4741103"/>
                </a:lnTo>
                <a:lnTo>
                  <a:pt x="0" y="0"/>
                </a:lnTo>
                <a:close/>
              </a:path>
            </a:pathLst>
          </a:custGeom>
          <a:blipFill rotWithShape="1">
            <a:blip r:embed="rId10">
              <a:alphaModFix/>
            </a:blip>
            <a:stretch>
              <a:fillRect b="0" l="0" r="0" t="0"/>
            </a:stretch>
          </a:blipFill>
          <a:ln>
            <a:noFill/>
          </a:ln>
        </p:spPr>
      </p:sp>
      <p:grpSp>
        <p:nvGrpSpPr>
          <p:cNvPr id="92" name="Google Shape;92;p1"/>
          <p:cNvGrpSpPr/>
          <p:nvPr/>
        </p:nvGrpSpPr>
        <p:grpSpPr>
          <a:xfrm>
            <a:off x="9004566" y="5377069"/>
            <a:ext cx="8254734" cy="2361493"/>
            <a:chOff x="0" y="-47625"/>
            <a:chExt cx="2174086" cy="621957"/>
          </a:xfrm>
        </p:grpSpPr>
        <p:sp>
          <p:nvSpPr>
            <p:cNvPr id="93" name="Google Shape;93;p1"/>
            <p:cNvSpPr/>
            <p:nvPr/>
          </p:nvSpPr>
          <p:spPr>
            <a:xfrm>
              <a:off x="0" y="0"/>
              <a:ext cx="2174086" cy="574332"/>
            </a:xfrm>
            <a:custGeom>
              <a:rect b="b" l="l" r="r" t="t"/>
              <a:pathLst>
                <a:path extrusionOk="0" h="574332" w="2174086">
                  <a:moveTo>
                    <a:pt x="47832" y="0"/>
                  </a:moveTo>
                  <a:lnTo>
                    <a:pt x="2126255" y="0"/>
                  </a:lnTo>
                  <a:cubicBezTo>
                    <a:pt x="2138941" y="0"/>
                    <a:pt x="2151107" y="5039"/>
                    <a:pt x="2160077" y="14010"/>
                  </a:cubicBezTo>
                  <a:cubicBezTo>
                    <a:pt x="2169047" y="22980"/>
                    <a:pt x="2174086" y="35146"/>
                    <a:pt x="2174086" y="47832"/>
                  </a:cubicBezTo>
                  <a:lnTo>
                    <a:pt x="2174086" y="526500"/>
                  </a:lnTo>
                  <a:cubicBezTo>
                    <a:pt x="2174086" y="552917"/>
                    <a:pt x="2152672" y="574332"/>
                    <a:pt x="2126255" y="574332"/>
                  </a:cubicBezTo>
                  <a:lnTo>
                    <a:pt x="47832" y="574332"/>
                  </a:lnTo>
                  <a:cubicBezTo>
                    <a:pt x="21415" y="574332"/>
                    <a:pt x="0" y="552917"/>
                    <a:pt x="0" y="526500"/>
                  </a:cubicBezTo>
                  <a:lnTo>
                    <a:pt x="0" y="47832"/>
                  </a:lnTo>
                  <a:cubicBezTo>
                    <a:pt x="0" y="21415"/>
                    <a:pt x="21415" y="0"/>
                    <a:pt x="47832" y="0"/>
                  </a:cubicBezTo>
                  <a:close/>
                </a:path>
              </a:pathLst>
            </a:custGeom>
            <a:solidFill>
              <a:srgbClr val="0836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txBox="1"/>
            <p:nvPr/>
          </p:nvSpPr>
          <p:spPr>
            <a:xfrm>
              <a:off x="0" y="-47625"/>
              <a:ext cx="2174086" cy="621957"/>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5" name="Google Shape;95;p1"/>
          <p:cNvSpPr/>
          <p:nvPr/>
        </p:nvSpPr>
        <p:spPr>
          <a:xfrm>
            <a:off x="15356951" y="339142"/>
            <a:ext cx="2443978" cy="1832983"/>
          </a:xfrm>
          <a:custGeom>
            <a:rect b="b" l="l" r="r" t="t"/>
            <a:pathLst>
              <a:path extrusionOk="0" h="1832983" w="2443978">
                <a:moveTo>
                  <a:pt x="0" y="0"/>
                </a:moveTo>
                <a:lnTo>
                  <a:pt x="2443978" y="0"/>
                </a:lnTo>
                <a:lnTo>
                  <a:pt x="2443978" y="1832983"/>
                </a:lnTo>
                <a:lnTo>
                  <a:pt x="0" y="1832983"/>
                </a:lnTo>
                <a:lnTo>
                  <a:pt x="0" y="0"/>
                </a:lnTo>
                <a:close/>
              </a:path>
            </a:pathLst>
          </a:custGeom>
          <a:blipFill rotWithShape="1">
            <a:blip r:embed="rId11">
              <a:alphaModFix/>
            </a:blip>
            <a:stretch>
              <a:fillRect b="0" l="0" r="0" t="0"/>
            </a:stretch>
          </a:blipFill>
          <a:ln>
            <a:noFill/>
          </a:ln>
        </p:spPr>
      </p:sp>
      <p:sp>
        <p:nvSpPr>
          <p:cNvPr id="96" name="Google Shape;96;p1"/>
          <p:cNvSpPr txBox="1"/>
          <p:nvPr/>
        </p:nvSpPr>
        <p:spPr>
          <a:xfrm>
            <a:off x="9144000" y="3169656"/>
            <a:ext cx="8505600" cy="2427000"/>
          </a:xfrm>
          <a:prstGeom prst="rect">
            <a:avLst/>
          </a:prstGeom>
          <a:noFill/>
          <a:ln>
            <a:noFill/>
          </a:ln>
        </p:spPr>
        <p:txBody>
          <a:bodyPr anchorCtr="0" anchor="t" bIns="0" lIns="0" spcFirstLastPara="1" rIns="0" wrap="square" tIns="0">
            <a:spAutoFit/>
          </a:bodyPr>
          <a:lstStyle/>
          <a:p>
            <a:pPr indent="0" lvl="0" marL="0" marR="0" rtl="0" algn="l">
              <a:lnSpc>
                <a:spcPct val="103012"/>
              </a:lnSpc>
              <a:spcBef>
                <a:spcPts val="0"/>
              </a:spcBef>
              <a:spcAft>
                <a:spcPts val="0"/>
              </a:spcAft>
              <a:buNone/>
            </a:pPr>
            <a:r>
              <a:rPr b="1" i="0" lang="en-US" sz="7767" u="none" cap="none" strike="noStrike">
                <a:solidFill>
                  <a:srgbClr val="2F3B69"/>
                </a:solidFill>
                <a:latin typeface="Montserrat"/>
                <a:ea typeface="Montserrat"/>
                <a:cs typeface="Montserrat"/>
                <a:sym typeface="Montserrat"/>
              </a:rPr>
              <a:t>MODUL </a:t>
            </a:r>
            <a:r>
              <a:rPr b="1" lang="en-US" sz="7767">
                <a:solidFill>
                  <a:srgbClr val="2F3B69"/>
                </a:solidFill>
                <a:latin typeface="Montserrat"/>
                <a:ea typeface="Montserrat"/>
                <a:cs typeface="Montserrat"/>
                <a:sym typeface="Montserrat"/>
              </a:rPr>
              <a:t>3</a:t>
            </a:r>
            <a:endParaRPr/>
          </a:p>
          <a:p>
            <a:pPr indent="0" lvl="0" marL="0" marR="0" rtl="0" algn="l">
              <a:lnSpc>
                <a:spcPct val="103012"/>
              </a:lnSpc>
              <a:spcBef>
                <a:spcPts val="0"/>
              </a:spcBef>
              <a:spcAft>
                <a:spcPts val="0"/>
              </a:spcAft>
              <a:buNone/>
            </a:pPr>
            <a:r>
              <a:rPr b="1" i="0" lang="en-US" sz="7767" u="none" cap="none" strike="noStrike">
                <a:solidFill>
                  <a:srgbClr val="2F3B69"/>
                </a:solidFill>
                <a:latin typeface="Montserrat"/>
                <a:ea typeface="Montserrat"/>
                <a:cs typeface="Montserrat"/>
                <a:sym typeface="Montserrat"/>
              </a:rPr>
              <a:t>DATA MINING</a:t>
            </a:r>
            <a:endParaRPr/>
          </a:p>
        </p:txBody>
      </p:sp>
      <p:sp>
        <p:nvSpPr>
          <p:cNvPr id="97" name="Google Shape;97;p1"/>
          <p:cNvSpPr txBox="1"/>
          <p:nvPr/>
        </p:nvSpPr>
        <p:spPr>
          <a:xfrm>
            <a:off x="9381246" y="5897003"/>
            <a:ext cx="7640808" cy="703767"/>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0" i="0" lang="en-US" sz="4167" u="none" cap="none" strike="noStrike">
                <a:solidFill>
                  <a:srgbClr val="FFFFFF"/>
                </a:solidFill>
                <a:latin typeface="Montserrat"/>
                <a:ea typeface="Montserrat"/>
                <a:cs typeface="Montserrat"/>
                <a:sym typeface="Montserrat"/>
              </a:rPr>
              <a:t>Penerepan Klasifikasi</a:t>
            </a:r>
            <a:endParaRPr/>
          </a:p>
        </p:txBody>
      </p:sp>
      <p:sp>
        <p:nvSpPr>
          <p:cNvPr id="98" name="Google Shape;98;p1"/>
          <p:cNvSpPr txBox="1"/>
          <p:nvPr/>
        </p:nvSpPr>
        <p:spPr>
          <a:xfrm>
            <a:off x="662326" y="9220200"/>
            <a:ext cx="6543564" cy="727890"/>
          </a:xfrm>
          <a:prstGeom prst="rect">
            <a:avLst/>
          </a:prstGeom>
          <a:noFill/>
          <a:ln>
            <a:noFill/>
          </a:ln>
        </p:spPr>
        <p:txBody>
          <a:bodyPr anchorCtr="0" anchor="t" bIns="0" lIns="0" spcFirstLastPara="1" rIns="0" wrap="square" tIns="0">
            <a:spAutoFit/>
          </a:bodyPr>
          <a:lstStyle/>
          <a:p>
            <a:pPr indent="0" lvl="0" marL="0" marR="0" rtl="0" algn="just">
              <a:lnSpc>
                <a:spcPct val="140057"/>
              </a:lnSpc>
              <a:spcBef>
                <a:spcPts val="0"/>
              </a:spcBef>
              <a:spcAft>
                <a:spcPts val="0"/>
              </a:spcAft>
              <a:buNone/>
            </a:pPr>
            <a:r>
              <a:rPr b="0" i="1" lang="en-US" sz="2092" u="none" cap="none" strike="noStrike">
                <a:solidFill>
                  <a:srgbClr val="2F3B69"/>
                </a:solidFill>
                <a:latin typeface="Montserrat"/>
                <a:ea typeface="Montserrat"/>
                <a:cs typeface="Montserrat"/>
                <a:sym typeface="Montserrat"/>
              </a:rPr>
              <a:t>Ikhwan Fauzi, S.Kom., M.Kom</a:t>
            </a:r>
            <a:endParaRPr/>
          </a:p>
          <a:p>
            <a:pPr indent="0" lvl="0" marL="0" marR="0" rtl="0" algn="just">
              <a:lnSpc>
                <a:spcPct val="140057"/>
              </a:lnSpc>
              <a:spcBef>
                <a:spcPts val="0"/>
              </a:spcBef>
              <a:spcAft>
                <a:spcPts val="0"/>
              </a:spcAft>
              <a:buNone/>
            </a:pPr>
            <a:r>
              <a:rPr b="0" i="1" lang="en-US" sz="2092" u="none" cap="none" strike="noStrike">
                <a:solidFill>
                  <a:srgbClr val="2F3B69"/>
                </a:solidFill>
                <a:latin typeface="Montserrat"/>
                <a:ea typeface="Montserrat"/>
                <a:cs typeface="Montserrat"/>
                <a:sym typeface="Montserrat"/>
              </a:rPr>
              <a:t>Prodi Sistem Informasi - Universitas Pamulang</a:t>
            </a:r>
            <a:endParaRP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sp>
        <p:nvSpPr>
          <p:cNvPr id="104" name="Google Shape;104;p2"/>
          <p:cNvSpPr/>
          <p:nvPr/>
        </p:nvSpPr>
        <p:spPr>
          <a:xfrm>
            <a:off x="13703630" y="-1001383"/>
            <a:ext cx="2291179" cy="2974070"/>
          </a:xfrm>
          <a:custGeom>
            <a:rect b="b" l="l" r="r" t="t"/>
            <a:pathLst>
              <a:path extrusionOk="0" h="2974070" w="2291179">
                <a:moveTo>
                  <a:pt x="0" y="0"/>
                </a:moveTo>
                <a:lnTo>
                  <a:pt x="2291179" y="0"/>
                </a:lnTo>
                <a:lnTo>
                  <a:pt x="2291179" y="2974070"/>
                </a:lnTo>
                <a:lnTo>
                  <a:pt x="0" y="2974070"/>
                </a:lnTo>
                <a:lnTo>
                  <a:pt x="0" y="0"/>
                </a:lnTo>
                <a:close/>
              </a:path>
            </a:pathLst>
          </a:custGeom>
          <a:blipFill rotWithShape="1">
            <a:blip r:embed="rId4">
              <a:alphaModFix/>
            </a:blip>
            <a:stretch>
              <a:fillRect b="0" l="0" r="0" t="0"/>
            </a:stretch>
          </a:blipFill>
          <a:ln>
            <a:noFill/>
          </a:ln>
        </p:spPr>
      </p:sp>
      <p:sp>
        <p:nvSpPr>
          <p:cNvPr id="105" name="Google Shape;105;p2"/>
          <p:cNvSpPr txBox="1"/>
          <p:nvPr/>
        </p:nvSpPr>
        <p:spPr>
          <a:xfrm>
            <a:off x="5107307" y="1383938"/>
            <a:ext cx="8073386" cy="61341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600" u="none" cap="none" strike="noStrike">
                <a:solidFill>
                  <a:srgbClr val="2F3B69"/>
                </a:solidFill>
                <a:latin typeface="Montserrat"/>
                <a:ea typeface="Montserrat"/>
                <a:cs typeface="Montserrat"/>
                <a:sym typeface="Montserrat"/>
              </a:rPr>
              <a:t>PENGERTIAN KLASIFIKASI</a:t>
            </a:r>
            <a:endParaRPr/>
          </a:p>
        </p:txBody>
      </p:sp>
      <p:sp>
        <p:nvSpPr>
          <p:cNvPr id="106" name="Google Shape;106;p2"/>
          <p:cNvSpPr/>
          <p:nvPr/>
        </p:nvSpPr>
        <p:spPr>
          <a:xfrm>
            <a:off x="-1876708" y="6164599"/>
            <a:ext cx="5810817" cy="5810817"/>
          </a:xfrm>
          <a:custGeom>
            <a:rect b="b" l="l" r="r" t="t"/>
            <a:pathLst>
              <a:path extrusionOk="0" h="5810817" w="5810817">
                <a:moveTo>
                  <a:pt x="0" y="0"/>
                </a:moveTo>
                <a:lnTo>
                  <a:pt x="5810816" y="0"/>
                </a:lnTo>
                <a:lnTo>
                  <a:pt x="5810816" y="5810816"/>
                </a:lnTo>
                <a:lnTo>
                  <a:pt x="0" y="5810816"/>
                </a:lnTo>
                <a:lnTo>
                  <a:pt x="0" y="0"/>
                </a:lnTo>
                <a:close/>
              </a:path>
            </a:pathLst>
          </a:custGeom>
          <a:blipFill rotWithShape="1">
            <a:blip r:embed="rId5">
              <a:alphaModFix/>
            </a:blip>
            <a:stretch>
              <a:fillRect b="0" l="0" r="0" t="0"/>
            </a:stretch>
          </a:blipFill>
          <a:ln>
            <a:noFill/>
          </a:ln>
        </p:spPr>
      </p:sp>
      <p:sp>
        <p:nvSpPr>
          <p:cNvPr id="107" name="Google Shape;107;p2"/>
          <p:cNvSpPr/>
          <p:nvPr/>
        </p:nvSpPr>
        <p:spPr>
          <a:xfrm>
            <a:off x="-1096412" y="-2664187"/>
            <a:ext cx="6663644" cy="4114800"/>
          </a:xfrm>
          <a:custGeom>
            <a:rect b="b" l="l" r="r" t="t"/>
            <a:pathLst>
              <a:path extrusionOk="0" h="4114800" w="6663644">
                <a:moveTo>
                  <a:pt x="0" y="0"/>
                </a:moveTo>
                <a:lnTo>
                  <a:pt x="6663644" y="0"/>
                </a:lnTo>
                <a:lnTo>
                  <a:pt x="6663644" y="4114800"/>
                </a:lnTo>
                <a:lnTo>
                  <a:pt x="0" y="4114800"/>
                </a:lnTo>
                <a:lnTo>
                  <a:pt x="0" y="0"/>
                </a:lnTo>
                <a:close/>
              </a:path>
            </a:pathLst>
          </a:custGeom>
          <a:blipFill rotWithShape="1">
            <a:blip r:embed="rId6">
              <a:alphaModFix/>
            </a:blip>
            <a:stretch>
              <a:fillRect b="0" l="0" r="0" t="0"/>
            </a:stretch>
          </a:blipFill>
          <a:ln>
            <a:noFill/>
          </a:ln>
        </p:spPr>
      </p:sp>
      <p:sp>
        <p:nvSpPr>
          <p:cNvPr id="108" name="Google Shape;108;p2"/>
          <p:cNvSpPr/>
          <p:nvPr/>
        </p:nvSpPr>
        <p:spPr>
          <a:xfrm>
            <a:off x="14180681" y="-972214"/>
            <a:ext cx="8214637" cy="8229600"/>
          </a:xfrm>
          <a:custGeom>
            <a:rect b="b" l="l" r="r" t="t"/>
            <a:pathLst>
              <a:path extrusionOk="0" h="8229600" w="8214637">
                <a:moveTo>
                  <a:pt x="0" y="0"/>
                </a:moveTo>
                <a:lnTo>
                  <a:pt x="8214638" y="0"/>
                </a:lnTo>
                <a:lnTo>
                  <a:pt x="8214638" y="8229600"/>
                </a:lnTo>
                <a:lnTo>
                  <a:pt x="0" y="8229600"/>
                </a:lnTo>
                <a:lnTo>
                  <a:pt x="0" y="0"/>
                </a:lnTo>
                <a:close/>
              </a:path>
            </a:pathLst>
          </a:custGeom>
          <a:blipFill rotWithShape="1">
            <a:blip r:embed="rId7">
              <a:alphaModFix/>
            </a:blip>
            <a:stretch>
              <a:fillRect b="0" l="0" r="0" t="0"/>
            </a:stretch>
          </a:blipFill>
          <a:ln>
            <a:noFill/>
          </a:ln>
        </p:spPr>
      </p:sp>
      <p:sp>
        <p:nvSpPr>
          <p:cNvPr id="109" name="Google Shape;109;p2"/>
          <p:cNvSpPr/>
          <p:nvPr/>
        </p:nvSpPr>
        <p:spPr>
          <a:xfrm rot="10800000">
            <a:off x="13549217" y="7257386"/>
            <a:ext cx="4891183" cy="3044761"/>
          </a:xfrm>
          <a:custGeom>
            <a:rect b="b" l="l" r="r" t="t"/>
            <a:pathLst>
              <a:path extrusionOk="0" h="3044761" w="4891183">
                <a:moveTo>
                  <a:pt x="4891183" y="3044761"/>
                </a:moveTo>
                <a:lnTo>
                  <a:pt x="0" y="3044761"/>
                </a:lnTo>
                <a:lnTo>
                  <a:pt x="0" y="0"/>
                </a:lnTo>
                <a:lnTo>
                  <a:pt x="4891183" y="0"/>
                </a:lnTo>
                <a:lnTo>
                  <a:pt x="4891183" y="3044761"/>
                </a:lnTo>
                <a:close/>
              </a:path>
            </a:pathLst>
          </a:custGeom>
          <a:blipFill rotWithShape="1">
            <a:blip r:embed="rId8">
              <a:alphaModFix/>
            </a:blip>
            <a:stretch>
              <a:fillRect b="0" l="0" r="0" t="0"/>
            </a:stretch>
          </a:blipFill>
          <a:ln>
            <a:noFill/>
          </a:ln>
        </p:spPr>
      </p:sp>
      <p:sp>
        <p:nvSpPr>
          <p:cNvPr id="110" name="Google Shape;110;p2"/>
          <p:cNvSpPr/>
          <p:nvPr/>
        </p:nvSpPr>
        <p:spPr>
          <a:xfrm>
            <a:off x="-1911355" y="6352814"/>
            <a:ext cx="5810817" cy="5810817"/>
          </a:xfrm>
          <a:custGeom>
            <a:rect b="b" l="l" r="r" t="t"/>
            <a:pathLst>
              <a:path extrusionOk="0" h="5810817" w="5810817">
                <a:moveTo>
                  <a:pt x="0" y="0"/>
                </a:moveTo>
                <a:lnTo>
                  <a:pt x="5810817" y="0"/>
                </a:lnTo>
                <a:lnTo>
                  <a:pt x="5810817" y="5810816"/>
                </a:lnTo>
                <a:lnTo>
                  <a:pt x="0" y="5810816"/>
                </a:lnTo>
                <a:lnTo>
                  <a:pt x="0" y="0"/>
                </a:lnTo>
                <a:close/>
              </a:path>
            </a:pathLst>
          </a:custGeom>
          <a:blipFill rotWithShape="1">
            <a:blip r:embed="rId5">
              <a:alphaModFix/>
            </a:blip>
            <a:stretch>
              <a:fillRect b="0" l="0" r="0" t="0"/>
            </a:stretch>
          </a:blipFill>
          <a:ln>
            <a:noFill/>
          </a:ln>
        </p:spPr>
      </p:sp>
      <p:sp>
        <p:nvSpPr>
          <p:cNvPr id="111" name="Google Shape;111;p2"/>
          <p:cNvSpPr/>
          <p:nvPr/>
        </p:nvSpPr>
        <p:spPr>
          <a:xfrm>
            <a:off x="5007863" y="8909418"/>
            <a:ext cx="7315200" cy="2026456"/>
          </a:xfrm>
          <a:custGeom>
            <a:rect b="b" l="l" r="r" t="t"/>
            <a:pathLst>
              <a:path extrusionOk="0" h="2026456" w="7315200">
                <a:moveTo>
                  <a:pt x="0" y="0"/>
                </a:moveTo>
                <a:lnTo>
                  <a:pt x="7315200" y="0"/>
                </a:lnTo>
                <a:lnTo>
                  <a:pt x="7315200" y="2026456"/>
                </a:lnTo>
                <a:lnTo>
                  <a:pt x="0" y="2026456"/>
                </a:lnTo>
                <a:lnTo>
                  <a:pt x="0" y="0"/>
                </a:lnTo>
                <a:close/>
              </a:path>
            </a:pathLst>
          </a:custGeom>
          <a:blipFill rotWithShape="1">
            <a:blip r:embed="rId9">
              <a:alphaModFix/>
            </a:blip>
            <a:stretch>
              <a:fillRect b="0" l="0" r="0" t="0"/>
            </a:stretch>
          </a:blipFill>
          <a:ln>
            <a:noFill/>
          </a:ln>
        </p:spPr>
      </p:sp>
      <p:sp>
        <p:nvSpPr>
          <p:cNvPr id="112" name="Google Shape;112;p2"/>
          <p:cNvSpPr txBox="1"/>
          <p:nvPr/>
        </p:nvSpPr>
        <p:spPr>
          <a:xfrm>
            <a:off x="2235410" y="2504103"/>
            <a:ext cx="13817181" cy="5789889"/>
          </a:xfrm>
          <a:prstGeom prst="rect">
            <a:avLst/>
          </a:prstGeom>
          <a:noFill/>
          <a:ln>
            <a:noFill/>
          </a:ln>
        </p:spPr>
        <p:txBody>
          <a:bodyPr anchorCtr="0" anchor="t" bIns="0" lIns="0" spcFirstLastPara="1" rIns="0" wrap="square" tIns="0">
            <a:spAutoFit/>
          </a:bodyPr>
          <a:lstStyle/>
          <a:p>
            <a:pPr indent="0" lvl="0" marL="0" marR="0" rtl="0" algn="just">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Klasifikasi merupakan salah satu teknik utama dalam Data Mining dan Machine Learning yang digunakan untuk menentukan kelas atau kategori dari suatu data berdasarkan pola yang dipelajari sebelumnya. Proses klasifikasi bekerja dengan cara mempelajari data historis yang telah memiliki label kelas (data berlabel), kemudian membangun sebuah model yang mampu memprediksi kelas dari data baru yang belum diketahui labelnya.</a:t>
            </a:r>
            <a:endParaRPr/>
          </a:p>
          <a:p>
            <a:pPr indent="0" lvl="0" marL="0" marR="0" rtl="0" algn="just">
              <a:lnSpc>
                <a:spcPct val="161007"/>
              </a:lnSpc>
              <a:spcBef>
                <a:spcPts val="0"/>
              </a:spcBef>
              <a:spcAft>
                <a:spcPts val="0"/>
              </a:spcAft>
              <a:buNone/>
            </a:pPr>
            <a:r>
              <a:t/>
            </a:r>
            <a:endParaRPr b="0" i="0" sz="2403" u="none" cap="none" strike="noStrike">
              <a:solidFill>
                <a:srgbClr val="2F3B69"/>
              </a:solidFill>
              <a:latin typeface="Montserrat"/>
              <a:ea typeface="Montserrat"/>
              <a:cs typeface="Montserrat"/>
              <a:sym typeface="Montserrat"/>
            </a:endParaRPr>
          </a:p>
          <a:p>
            <a:pPr indent="0" lvl="0" marL="0" marR="0" rtl="0" algn="just">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Dengan kata lain, klasifikasi bertujuan untuk menjawab pertanyaan: data ini termasuk ke dalam kategori apa? Proses ini bersifat prediktif dan sangat bergantung pada pola hubungan antara atribut data dan kelas target.</a:t>
            </a:r>
            <a:endParaRPr/>
          </a:p>
          <a:p>
            <a:pPr indent="0" lvl="0" marL="0" marR="0" rtl="0" algn="just">
              <a:lnSpc>
                <a:spcPct val="161007"/>
              </a:lnSpc>
              <a:spcBef>
                <a:spcPts val="0"/>
              </a:spcBef>
              <a:spcAft>
                <a:spcPts val="0"/>
              </a:spcAft>
              <a:buNone/>
            </a:pPr>
            <a:r>
              <a:t/>
            </a:r>
            <a:endParaRPr b="0" i="0" sz="2403" u="none" cap="none" strike="noStrike">
              <a:solidFill>
                <a:srgbClr val="2F3B69"/>
              </a:solidFill>
              <a:latin typeface="Montserrat"/>
              <a:ea typeface="Montserrat"/>
              <a:cs typeface="Montserrat"/>
              <a:sym typeface="Montserrat"/>
            </a:endParaRPr>
          </a:p>
          <a:p>
            <a:pPr indent="0" lvl="1" marL="0" marR="0" rtl="0" algn="just">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Dalam konteks pembelajaran mesin, klasifikasi termasuk ke dalam supervised learning, karena proses pelatihannya menggunakan data yang telah diketahui hasil atau kelasnya.</a:t>
            </a:r>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118" name="Google Shape;118;p3"/>
          <p:cNvGrpSpPr/>
          <p:nvPr/>
        </p:nvGrpSpPr>
        <p:grpSpPr>
          <a:xfrm>
            <a:off x="-30623" y="-180826"/>
            <a:ext cx="18318623" cy="10592324"/>
            <a:chOff x="0" y="-47625"/>
            <a:chExt cx="4824658" cy="2789748"/>
          </a:xfrm>
        </p:grpSpPr>
        <p:sp>
          <p:nvSpPr>
            <p:cNvPr id="119" name="Google Shape;119;p3"/>
            <p:cNvSpPr/>
            <p:nvPr/>
          </p:nvSpPr>
          <p:spPr>
            <a:xfrm>
              <a:off x="0" y="0"/>
              <a:ext cx="4824658" cy="2742123"/>
            </a:xfrm>
            <a:custGeom>
              <a:rect b="b" l="l" r="r" t="t"/>
              <a:pathLst>
                <a:path extrusionOk="0" h="2742123" w="4824658">
                  <a:moveTo>
                    <a:pt x="0" y="0"/>
                  </a:moveTo>
                  <a:lnTo>
                    <a:pt x="4824658" y="0"/>
                  </a:lnTo>
                  <a:lnTo>
                    <a:pt x="4824658" y="2742123"/>
                  </a:lnTo>
                  <a:lnTo>
                    <a:pt x="0" y="2742123"/>
                  </a:lnTo>
                  <a:close/>
                </a:path>
              </a:pathLst>
            </a:custGeom>
            <a:solidFill>
              <a:srgbClr val="FAFAFF"/>
            </a:solidFill>
            <a:ln>
              <a:noFill/>
            </a:ln>
          </p:spPr>
        </p:sp>
        <p:sp>
          <p:nvSpPr>
            <p:cNvPr id="120" name="Google Shape;120;p3"/>
            <p:cNvSpPr txBox="1"/>
            <p:nvPr/>
          </p:nvSpPr>
          <p:spPr>
            <a:xfrm>
              <a:off x="0" y="-47625"/>
              <a:ext cx="4824658" cy="278974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1" name="Google Shape;121;p3"/>
          <p:cNvSpPr/>
          <p:nvPr/>
        </p:nvSpPr>
        <p:spPr>
          <a:xfrm>
            <a:off x="11762666" y="2473730"/>
            <a:ext cx="7820850" cy="6051383"/>
          </a:xfrm>
          <a:custGeom>
            <a:rect b="b" l="l" r="r" t="t"/>
            <a:pathLst>
              <a:path extrusionOk="0" h="6051383" w="7820850">
                <a:moveTo>
                  <a:pt x="0" y="0"/>
                </a:moveTo>
                <a:lnTo>
                  <a:pt x="7820850" y="0"/>
                </a:lnTo>
                <a:lnTo>
                  <a:pt x="7820850" y="6051382"/>
                </a:lnTo>
                <a:lnTo>
                  <a:pt x="0" y="6051382"/>
                </a:lnTo>
                <a:lnTo>
                  <a:pt x="0" y="0"/>
                </a:lnTo>
                <a:close/>
              </a:path>
            </a:pathLst>
          </a:custGeom>
          <a:blipFill rotWithShape="1">
            <a:blip r:embed="rId4">
              <a:alphaModFix/>
            </a:blip>
            <a:stretch>
              <a:fillRect b="0" l="0" r="0" t="0"/>
            </a:stretch>
          </a:blipFill>
          <a:ln>
            <a:noFill/>
          </a:ln>
        </p:spPr>
      </p:sp>
      <p:sp>
        <p:nvSpPr>
          <p:cNvPr id="122" name="Google Shape;122;p3"/>
          <p:cNvSpPr/>
          <p:nvPr/>
        </p:nvSpPr>
        <p:spPr>
          <a:xfrm>
            <a:off x="11221661" y="-1914833"/>
            <a:ext cx="8902861" cy="5746392"/>
          </a:xfrm>
          <a:custGeom>
            <a:rect b="b" l="l" r="r" t="t"/>
            <a:pathLst>
              <a:path extrusionOk="0" h="5746392" w="8902861">
                <a:moveTo>
                  <a:pt x="0" y="0"/>
                </a:moveTo>
                <a:lnTo>
                  <a:pt x="8902861" y="0"/>
                </a:lnTo>
                <a:lnTo>
                  <a:pt x="8902861" y="5746392"/>
                </a:lnTo>
                <a:lnTo>
                  <a:pt x="0" y="5746392"/>
                </a:lnTo>
                <a:lnTo>
                  <a:pt x="0" y="0"/>
                </a:lnTo>
                <a:close/>
              </a:path>
            </a:pathLst>
          </a:custGeom>
          <a:blipFill rotWithShape="1">
            <a:blip r:embed="rId5">
              <a:alphaModFix/>
            </a:blip>
            <a:stretch>
              <a:fillRect b="0" l="0" r="0" t="0"/>
            </a:stretch>
          </a:blipFill>
          <a:ln>
            <a:noFill/>
          </a:ln>
        </p:spPr>
      </p:sp>
      <p:sp>
        <p:nvSpPr>
          <p:cNvPr id="123" name="Google Shape;123;p3"/>
          <p:cNvSpPr/>
          <p:nvPr/>
        </p:nvSpPr>
        <p:spPr>
          <a:xfrm>
            <a:off x="-1495994" y="8525112"/>
            <a:ext cx="10364200" cy="4070304"/>
          </a:xfrm>
          <a:custGeom>
            <a:rect b="b" l="l" r="r" t="t"/>
            <a:pathLst>
              <a:path extrusionOk="0" h="4070304" w="10364200">
                <a:moveTo>
                  <a:pt x="0" y="0"/>
                </a:moveTo>
                <a:lnTo>
                  <a:pt x="10364200" y="0"/>
                </a:lnTo>
                <a:lnTo>
                  <a:pt x="10364200" y="4070304"/>
                </a:lnTo>
                <a:lnTo>
                  <a:pt x="0" y="4070304"/>
                </a:lnTo>
                <a:lnTo>
                  <a:pt x="0" y="0"/>
                </a:lnTo>
                <a:close/>
              </a:path>
            </a:pathLst>
          </a:custGeom>
          <a:blipFill rotWithShape="1">
            <a:blip r:embed="rId6">
              <a:alphaModFix/>
            </a:blip>
            <a:stretch>
              <a:fillRect b="0" l="0" r="0" t="0"/>
            </a:stretch>
          </a:blipFill>
          <a:ln>
            <a:noFill/>
          </a:ln>
        </p:spPr>
      </p:sp>
      <p:sp>
        <p:nvSpPr>
          <p:cNvPr id="124" name="Google Shape;124;p3"/>
          <p:cNvSpPr/>
          <p:nvPr/>
        </p:nvSpPr>
        <p:spPr>
          <a:xfrm>
            <a:off x="-2412729" y="-2717395"/>
            <a:ext cx="4825458" cy="4114800"/>
          </a:xfrm>
          <a:custGeom>
            <a:rect b="b" l="l" r="r" t="t"/>
            <a:pathLst>
              <a:path extrusionOk="0" h="4114800" w="4825458">
                <a:moveTo>
                  <a:pt x="0" y="0"/>
                </a:moveTo>
                <a:lnTo>
                  <a:pt x="4825458" y="0"/>
                </a:lnTo>
                <a:lnTo>
                  <a:pt x="4825458" y="4114800"/>
                </a:lnTo>
                <a:lnTo>
                  <a:pt x="0" y="4114800"/>
                </a:lnTo>
                <a:lnTo>
                  <a:pt x="0" y="0"/>
                </a:lnTo>
                <a:close/>
              </a:path>
            </a:pathLst>
          </a:custGeom>
          <a:blipFill rotWithShape="1">
            <a:blip r:embed="rId7">
              <a:alphaModFix/>
            </a:blip>
            <a:stretch>
              <a:fillRect b="0" l="0" r="0" t="0"/>
            </a:stretch>
          </a:blipFill>
          <a:ln>
            <a:noFill/>
          </a:ln>
        </p:spPr>
      </p:sp>
      <p:sp>
        <p:nvSpPr>
          <p:cNvPr id="125" name="Google Shape;125;p3"/>
          <p:cNvSpPr/>
          <p:nvPr/>
        </p:nvSpPr>
        <p:spPr>
          <a:xfrm>
            <a:off x="13730749" y="9022254"/>
            <a:ext cx="6663644" cy="4114800"/>
          </a:xfrm>
          <a:custGeom>
            <a:rect b="b" l="l" r="r" t="t"/>
            <a:pathLst>
              <a:path extrusionOk="0" h="4114800" w="6663644">
                <a:moveTo>
                  <a:pt x="0" y="0"/>
                </a:moveTo>
                <a:lnTo>
                  <a:pt x="6663643" y="0"/>
                </a:lnTo>
                <a:lnTo>
                  <a:pt x="6663643" y="4114800"/>
                </a:lnTo>
                <a:lnTo>
                  <a:pt x="0" y="4114800"/>
                </a:lnTo>
                <a:lnTo>
                  <a:pt x="0" y="0"/>
                </a:lnTo>
                <a:close/>
              </a:path>
            </a:pathLst>
          </a:custGeom>
          <a:blipFill rotWithShape="1">
            <a:blip r:embed="rId8">
              <a:alphaModFix/>
            </a:blip>
            <a:stretch>
              <a:fillRect b="0" l="0" r="0" t="0"/>
            </a:stretch>
          </a:blipFill>
          <a:ln>
            <a:noFill/>
          </a:ln>
        </p:spPr>
      </p:sp>
      <p:sp>
        <p:nvSpPr>
          <p:cNvPr id="126" name="Google Shape;126;p3"/>
          <p:cNvSpPr txBox="1"/>
          <p:nvPr/>
        </p:nvSpPr>
        <p:spPr>
          <a:xfrm>
            <a:off x="1028700" y="2388005"/>
            <a:ext cx="10601200" cy="6761439"/>
          </a:xfrm>
          <a:prstGeom prst="rect">
            <a:avLst/>
          </a:prstGeom>
          <a:noFill/>
          <a:ln>
            <a:noFill/>
          </a:ln>
        </p:spPr>
        <p:txBody>
          <a:bodyPr anchorCtr="0" anchor="t" bIns="0" lIns="0" spcFirstLastPara="1" rIns="0" wrap="square" tIns="0">
            <a:spAutoFit/>
          </a:bodyPr>
          <a:lstStyle/>
          <a:p>
            <a:pPr indent="0" lvl="0" marL="0" marR="0" rtl="0" algn="l">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Beberapa karakteristik utama dari klasifikasi adalah sebagai berikut.</a:t>
            </a:r>
            <a:endParaRPr/>
          </a:p>
          <a:p>
            <a:pPr indent="-259428" lvl="1" marL="518856" marR="0" rtl="0" algn="l">
              <a:lnSpc>
                <a:spcPct val="161007"/>
              </a:lnSpc>
              <a:spcBef>
                <a:spcPts val="0"/>
              </a:spcBef>
              <a:spcAft>
                <a:spcPts val="0"/>
              </a:spcAft>
              <a:buClr>
                <a:srgbClr val="2F3B69"/>
              </a:buClr>
              <a:buSzPts val="2403"/>
              <a:buFont typeface="Arial"/>
              <a:buChar char="•"/>
            </a:pPr>
            <a:r>
              <a:rPr b="0" i="0" lang="en-US" sz="2403" u="none" cap="none" strike="noStrike">
                <a:solidFill>
                  <a:srgbClr val="2F3B69"/>
                </a:solidFill>
                <a:latin typeface="Montserrat"/>
                <a:ea typeface="Montserrat"/>
                <a:cs typeface="Montserrat"/>
                <a:sym typeface="Montserrat"/>
              </a:rPr>
              <a:t>Pertama, klasifikasi menggunakan data latih (training data) yang memiliki label kelas.</a:t>
            </a:r>
            <a:endParaRPr/>
          </a:p>
          <a:p>
            <a:pPr indent="-259428" lvl="1" marL="518856" marR="0" rtl="0" algn="l">
              <a:lnSpc>
                <a:spcPct val="161007"/>
              </a:lnSpc>
              <a:spcBef>
                <a:spcPts val="0"/>
              </a:spcBef>
              <a:spcAft>
                <a:spcPts val="0"/>
              </a:spcAft>
              <a:buClr>
                <a:srgbClr val="2F3B69"/>
              </a:buClr>
              <a:buSzPts val="2403"/>
              <a:buFont typeface="Arial"/>
              <a:buChar char="•"/>
            </a:pPr>
            <a:r>
              <a:rPr b="0" i="0" lang="en-US" sz="2403" u="none" cap="none" strike="noStrike">
                <a:solidFill>
                  <a:srgbClr val="2F3B69"/>
                </a:solidFill>
                <a:latin typeface="Montserrat"/>
                <a:ea typeface="Montserrat"/>
                <a:cs typeface="Montserrat"/>
                <a:sym typeface="Montserrat"/>
              </a:rPr>
              <a:t>Kedua, hasil akhir dari klasifikasi berupa kategori atau kelas diskrit, seperti “Ya/Tidak”, “Lulus/Tidak Lulus”, atau “Spam/Non-Spam”.</a:t>
            </a:r>
            <a:endParaRPr/>
          </a:p>
          <a:p>
            <a:pPr indent="-259428" lvl="1" marL="518856" marR="0" rtl="0" algn="l">
              <a:lnSpc>
                <a:spcPct val="161007"/>
              </a:lnSpc>
              <a:spcBef>
                <a:spcPts val="0"/>
              </a:spcBef>
              <a:spcAft>
                <a:spcPts val="0"/>
              </a:spcAft>
              <a:buClr>
                <a:srgbClr val="2F3B69"/>
              </a:buClr>
              <a:buSzPts val="2403"/>
              <a:buFont typeface="Arial"/>
              <a:buChar char="•"/>
            </a:pPr>
            <a:r>
              <a:rPr b="0" i="0" lang="en-US" sz="2403" u="none" cap="none" strike="noStrike">
                <a:solidFill>
                  <a:srgbClr val="2F3B69"/>
                </a:solidFill>
                <a:latin typeface="Montserrat"/>
                <a:ea typeface="Montserrat"/>
                <a:cs typeface="Montserrat"/>
                <a:sym typeface="Montserrat"/>
              </a:rPr>
              <a:t>Ketiga, model klasifikasi dibangun untuk digunakan dalam proses prediksi data baru.</a:t>
            </a:r>
            <a:endParaRPr/>
          </a:p>
          <a:p>
            <a:pPr indent="-259428" lvl="1" marL="518856" marR="0" rtl="0" algn="l">
              <a:lnSpc>
                <a:spcPct val="161007"/>
              </a:lnSpc>
              <a:spcBef>
                <a:spcPts val="0"/>
              </a:spcBef>
              <a:spcAft>
                <a:spcPts val="0"/>
              </a:spcAft>
              <a:buClr>
                <a:srgbClr val="2F3B69"/>
              </a:buClr>
              <a:buSzPts val="2403"/>
              <a:buFont typeface="Arial"/>
              <a:buChar char="•"/>
            </a:pPr>
            <a:r>
              <a:rPr b="0" i="0" lang="en-US" sz="2403" u="none" cap="none" strike="noStrike">
                <a:solidFill>
                  <a:srgbClr val="2F3B69"/>
                </a:solidFill>
                <a:latin typeface="Montserrat"/>
                <a:ea typeface="Montserrat"/>
                <a:cs typeface="Montserrat"/>
                <a:sym typeface="Montserrat"/>
              </a:rPr>
              <a:t>Keempat, performa klasifikasi dapat diukur menggunakan metrik evaluasi tertentu, seperti akurasi dan kesalahan prediksi.</a:t>
            </a:r>
            <a:endParaRPr/>
          </a:p>
          <a:p>
            <a:pPr indent="0" lvl="0" marL="0" marR="0" rtl="0" algn="l">
              <a:lnSpc>
                <a:spcPct val="161007"/>
              </a:lnSpc>
              <a:spcBef>
                <a:spcPts val="0"/>
              </a:spcBef>
              <a:spcAft>
                <a:spcPts val="0"/>
              </a:spcAft>
              <a:buNone/>
            </a:pPr>
            <a:r>
              <a:t/>
            </a:r>
            <a:endParaRPr b="0" i="0" sz="2403" u="none" cap="none" strike="noStrike">
              <a:solidFill>
                <a:srgbClr val="2F3B69"/>
              </a:solidFill>
              <a:latin typeface="Montserrat"/>
              <a:ea typeface="Montserrat"/>
              <a:cs typeface="Montserrat"/>
              <a:sym typeface="Montserrat"/>
            </a:endParaRPr>
          </a:p>
          <a:p>
            <a:pPr indent="0" lvl="0" marL="0" marR="0" rtl="0" algn="l">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Karakteristik ini membedakan klasifikasi dari teknik Data Mining lainnya, seperti clustering yang tidak menggunakan label kelas.</a:t>
            </a:r>
            <a:endParaRPr/>
          </a:p>
          <a:p>
            <a:pPr indent="0" lvl="0" marL="0" marR="0" rtl="0" algn="l">
              <a:lnSpc>
                <a:spcPct val="161007"/>
              </a:lnSpc>
              <a:spcBef>
                <a:spcPts val="0"/>
              </a:spcBef>
              <a:spcAft>
                <a:spcPts val="0"/>
              </a:spcAft>
              <a:buNone/>
            </a:pPr>
            <a:r>
              <a:t/>
            </a:r>
            <a:endParaRPr b="0" i="0" sz="2403" u="none" cap="none" strike="noStrike">
              <a:solidFill>
                <a:srgbClr val="2F3B69"/>
              </a:solidFill>
              <a:latin typeface="Montserrat"/>
              <a:ea typeface="Montserrat"/>
              <a:cs typeface="Montserrat"/>
              <a:sym typeface="Montserrat"/>
            </a:endParaRPr>
          </a:p>
        </p:txBody>
      </p:sp>
      <p:sp>
        <p:nvSpPr>
          <p:cNvPr id="127" name="Google Shape;127;p3"/>
          <p:cNvSpPr txBox="1"/>
          <p:nvPr/>
        </p:nvSpPr>
        <p:spPr>
          <a:xfrm>
            <a:off x="1028700" y="1570322"/>
            <a:ext cx="8430780" cy="61341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600" u="none" cap="none" strike="noStrike">
                <a:solidFill>
                  <a:srgbClr val="2F3B69"/>
                </a:solidFill>
                <a:latin typeface="Montserrat"/>
                <a:ea typeface="Montserrat"/>
                <a:cs typeface="Montserrat"/>
                <a:sym typeface="Montserrat"/>
              </a:rPr>
              <a:t>KARAKTERISTIK KLASIFIKASI</a:t>
            </a:r>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sp>
        <p:nvSpPr>
          <p:cNvPr id="133" name="Google Shape;133;p4"/>
          <p:cNvSpPr/>
          <p:nvPr/>
        </p:nvSpPr>
        <p:spPr>
          <a:xfrm>
            <a:off x="-3728655" y="-3113850"/>
            <a:ext cx="8902861" cy="5746392"/>
          </a:xfrm>
          <a:custGeom>
            <a:rect b="b" l="l" r="r" t="t"/>
            <a:pathLst>
              <a:path extrusionOk="0" h="5746392" w="8902861">
                <a:moveTo>
                  <a:pt x="0" y="0"/>
                </a:moveTo>
                <a:lnTo>
                  <a:pt x="8902861" y="0"/>
                </a:lnTo>
                <a:lnTo>
                  <a:pt x="8902861" y="5746392"/>
                </a:lnTo>
                <a:lnTo>
                  <a:pt x="0" y="5746392"/>
                </a:lnTo>
                <a:lnTo>
                  <a:pt x="0" y="0"/>
                </a:lnTo>
                <a:close/>
              </a:path>
            </a:pathLst>
          </a:custGeom>
          <a:blipFill rotWithShape="1">
            <a:blip r:embed="rId4">
              <a:alphaModFix/>
            </a:blip>
            <a:stretch>
              <a:fillRect b="0" l="0" r="0" t="0"/>
            </a:stretch>
          </a:blipFill>
          <a:ln>
            <a:noFill/>
          </a:ln>
        </p:spPr>
      </p:sp>
      <p:sp>
        <p:nvSpPr>
          <p:cNvPr id="134" name="Google Shape;134;p4"/>
          <p:cNvSpPr/>
          <p:nvPr/>
        </p:nvSpPr>
        <p:spPr>
          <a:xfrm>
            <a:off x="-228792" y="2953082"/>
            <a:ext cx="7232714" cy="5551108"/>
          </a:xfrm>
          <a:custGeom>
            <a:rect b="b" l="l" r="r" t="t"/>
            <a:pathLst>
              <a:path extrusionOk="0" h="5551108" w="7232714">
                <a:moveTo>
                  <a:pt x="0" y="0"/>
                </a:moveTo>
                <a:lnTo>
                  <a:pt x="7232715" y="0"/>
                </a:lnTo>
                <a:lnTo>
                  <a:pt x="7232715" y="5551108"/>
                </a:lnTo>
                <a:lnTo>
                  <a:pt x="0" y="5551108"/>
                </a:lnTo>
                <a:lnTo>
                  <a:pt x="0" y="0"/>
                </a:lnTo>
                <a:close/>
              </a:path>
            </a:pathLst>
          </a:custGeom>
          <a:blipFill rotWithShape="1">
            <a:blip r:embed="rId5">
              <a:alphaModFix/>
            </a:blip>
            <a:stretch>
              <a:fillRect b="0" l="0" r="0" t="0"/>
            </a:stretch>
          </a:blipFill>
          <a:ln>
            <a:noFill/>
          </a:ln>
        </p:spPr>
      </p:sp>
      <p:sp>
        <p:nvSpPr>
          <p:cNvPr id="135" name="Google Shape;135;p4"/>
          <p:cNvSpPr/>
          <p:nvPr/>
        </p:nvSpPr>
        <p:spPr>
          <a:xfrm>
            <a:off x="14556509" y="9506624"/>
            <a:ext cx="5947625" cy="2076262"/>
          </a:xfrm>
          <a:custGeom>
            <a:rect b="b" l="l" r="r" t="t"/>
            <a:pathLst>
              <a:path extrusionOk="0" h="2076262" w="5947625">
                <a:moveTo>
                  <a:pt x="0" y="0"/>
                </a:moveTo>
                <a:lnTo>
                  <a:pt x="5947626" y="0"/>
                </a:lnTo>
                <a:lnTo>
                  <a:pt x="5947626" y="2076262"/>
                </a:lnTo>
                <a:lnTo>
                  <a:pt x="0" y="2076262"/>
                </a:lnTo>
                <a:lnTo>
                  <a:pt x="0" y="0"/>
                </a:lnTo>
                <a:close/>
              </a:path>
            </a:pathLst>
          </a:custGeom>
          <a:blipFill rotWithShape="1">
            <a:blip r:embed="rId6">
              <a:alphaModFix/>
            </a:blip>
            <a:stretch>
              <a:fillRect b="0" l="0" r="0" t="0"/>
            </a:stretch>
          </a:blipFill>
          <a:ln>
            <a:noFill/>
          </a:ln>
        </p:spPr>
      </p:sp>
      <p:sp>
        <p:nvSpPr>
          <p:cNvPr id="136" name="Google Shape;136;p4"/>
          <p:cNvSpPr/>
          <p:nvPr/>
        </p:nvSpPr>
        <p:spPr>
          <a:xfrm>
            <a:off x="16638900" y="-958763"/>
            <a:ext cx="2151512" cy="2792775"/>
          </a:xfrm>
          <a:custGeom>
            <a:rect b="b" l="l" r="r" t="t"/>
            <a:pathLst>
              <a:path extrusionOk="0" h="2792775" w="2151512">
                <a:moveTo>
                  <a:pt x="0" y="0"/>
                </a:moveTo>
                <a:lnTo>
                  <a:pt x="2151512" y="0"/>
                </a:lnTo>
                <a:lnTo>
                  <a:pt x="2151512" y="2792775"/>
                </a:lnTo>
                <a:lnTo>
                  <a:pt x="0" y="2792775"/>
                </a:lnTo>
                <a:lnTo>
                  <a:pt x="0" y="0"/>
                </a:lnTo>
                <a:close/>
              </a:path>
            </a:pathLst>
          </a:custGeom>
          <a:blipFill rotWithShape="1">
            <a:blip r:embed="rId7">
              <a:alphaModFix/>
            </a:blip>
            <a:stretch>
              <a:fillRect b="0" l="0" r="0" t="0"/>
            </a:stretch>
          </a:blipFill>
          <a:ln>
            <a:noFill/>
          </a:ln>
        </p:spPr>
      </p:sp>
      <p:grpSp>
        <p:nvGrpSpPr>
          <p:cNvPr id="137" name="Google Shape;137;p4"/>
          <p:cNvGrpSpPr/>
          <p:nvPr/>
        </p:nvGrpSpPr>
        <p:grpSpPr>
          <a:xfrm>
            <a:off x="-1525482" y="9448016"/>
            <a:ext cx="8261414" cy="838984"/>
            <a:chOff x="0" y="-47625"/>
            <a:chExt cx="2175846" cy="220967"/>
          </a:xfrm>
        </p:grpSpPr>
        <p:sp>
          <p:nvSpPr>
            <p:cNvPr id="138" name="Google Shape;138;p4"/>
            <p:cNvSpPr/>
            <p:nvPr/>
          </p:nvSpPr>
          <p:spPr>
            <a:xfrm>
              <a:off x="0" y="0"/>
              <a:ext cx="2175846" cy="173342"/>
            </a:xfrm>
            <a:custGeom>
              <a:rect b="b" l="l" r="r" t="t"/>
              <a:pathLst>
                <a:path extrusionOk="0" h="173342" w="2175846">
                  <a:moveTo>
                    <a:pt x="0" y="0"/>
                  </a:moveTo>
                  <a:lnTo>
                    <a:pt x="2175846" y="0"/>
                  </a:lnTo>
                  <a:lnTo>
                    <a:pt x="2175846" y="173342"/>
                  </a:lnTo>
                  <a:lnTo>
                    <a:pt x="0" y="173342"/>
                  </a:lnTo>
                  <a:close/>
                </a:path>
              </a:pathLst>
            </a:custGeom>
            <a:solidFill>
              <a:srgbClr val="2F3B69"/>
            </a:solidFill>
            <a:ln>
              <a:noFill/>
            </a:ln>
          </p:spPr>
        </p:sp>
        <p:sp>
          <p:nvSpPr>
            <p:cNvPr id="139" name="Google Shape;139;p4"/>
            <p:cNvSpPr txBox="1"/>
            <p:nvPr/>
          </p:nvSpPr>
          <p:spPr>
            <a:xfrm>
              <a:off x="0" y="-47625"/>
              <a:ext cx="2175846" cy="220967"/>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0" name="Google Shape;140;p4"/>
          <p:cNvSpPr txBox="1"/>
          <p:nvPr/>
        </p:nvSpPr>
        <p:spPr>
          <a:xfrm>
            <a:off x="7489292" y="1896489"/>
            <a:ext cx="8965822" cy="60642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500" u="none" cap="none" strike="noStrike">
                <a:solidFill>
                  <a:srgbClr val="2F3B69"/>
                </a:solidFill>
                <a:latin typeface="Montserrat"/>
                <a:ea typeface="Montserrat"/>
                <a:cs typeface="Montserrat"/>
                <a:sym typeface="Montserrat"/>
              </a:rPr>
              <a:t>TUJUAN DAN MANFAAT KLASIFIKASI</a:t>
            </a:r>
            <a:endParaRPr/>
          </a:p>
        </p:txBody>
      </p:sp>
      <p:sp>
        <p:nvSpPr>
          <p:cNvPr id="141" name="Google Shape;141;p4"/>
          <p:cNvSpPr txBox="1"/>
          <p:nvPr/>
        </p:nvSpPr>
        <p:spPr>
          <a:xfrm>
            <a:off x="7489292" y="2914982"/>
            <a:ext cx="9018289" cy="5425440"/>
          </a:xfrm>
          <a:prstGeom prst="rect">
            <a:avLst/>
          </a:prstGeom>
          <a:noFill/>
          <a:ln>
            <a:noFill/>
          </a:ln>
        </p:spPr>
        <p:txBody>
          <a:bodyPr anchorCtr="0" anchor="t" bIns="0" lIns="0" spcFirstLastPara="1" rIns="0" wrap="square" tIns="0">
            <a:spAutoFit/>
          </a:bodyPr>
          <a:lstStyle/>
          <a:p>
            <a:pPr indent="0" lvl="0" marL="0" marR="0" rtl="0" algn="just">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Tujuan utama klasifikasi adalah membantu pengambilan keputusan berdasarkan pola data. Dengan model klasifikasi, sistem dapat melakukan prediksi secara otomatis, konsisten, dan efisien.</a:t>
            </a:r>
            <a:endParaRPr/>
          </a:p>
          <a:p>
            <a:pPr indent="0" lvl="0" marL="0" marR="0" rtl="0" algn="just">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a:p>
            <a:pPr indent="0" lvl="0" marL="0" marR="0" rtl="0" algn="just">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Manfaat klasifikasi antara lain meningkatkan kecepatan analisis data, mengurangi kesalahan keputusan manual, serta membantu organisasi dalam memahami pola perilaku atau kondisi tertentu berdasarkan data historis.</a:t>
            </a:r>
            <a:endParaRPr/>
          </a:p>
          <a:p>
            <a:pPr indent="0" lvl="0" marL="0" marR="0" rtl="0" algn="just">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a:p>
            <a:pPr indent="0" lvl="0" marL="0" marR="0" rtl="0" algn="just">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Dalam dunia akademik dan industri, klasifikasi banyak digunakan sebagai dasar sistem pendukung keputusan (Decision Support System)</a:t>
            </a:r>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147" name="Google Shape;147;p5"/>
          <p:cNvGrpSpPr/>
          <p:nvPr/>
        </p:nvGrpSpPr>
        <p:grpSpPr>
          <a:xfrm>
            <a:off x="12018409" y="-180826"/>
            <a:ext cx="6197128" cy="10467826"/>
            <a:chOff x="0" y="-47625"/>
            <a:chExt cx="1632165" cy="2756958"/>
          </a:xfrm>
        </p:grpSpPr>
        <p:sp>
          <p:nvSpPr>
            <p:cNvPr id="148" name="Google Shape;148;p5"/>
            <p:cNvSpPr/>
            <p:nvPr/>
          </p:nvSpPr>
          <p:spPr>
            <a:xfrm>
              <a:off x="0" y="0"/>
              <a:ext cx="1632165" cy="2709333"/>
            </a:xfrm>
            <a:custGeom>
              <a:rect b="b" l="l" r="r" t="t"/>
              <a:pathLst>
                <a:path extrusionOk="0" h="2709333" w="1632165">
                  <a:moveTo>
                    <a:pt x="0" y="0"/>
                  </a:moveTo>
                  <a:lnTo>
                    <a:pt x="1632165" y="0"/>
                  </a:lnTo>
                  <a:lnTo>
                    <a:pt x="1632165" y="2709333"/>
                  </a:lnTo>
                  <a:lnTo>
                    <a:pt x="0" y="2709333"/>
                  </a:lnTo>
                  <a:close/>
                </a:path>
              </a:pathLst>
            </a:custGeom>
            <a:solidFill>
              <a:srgbClr val="FAFAFF"/>
            </a:solidFill>
            <a:ln>
              <a:noFill/>
            </a:ln>
          </p:spPr>
        </p:sp>
        <p:sp>
          <p:nvSpPr>
            <p:cNvPr id="149" name="Google Shape;149;p5"/>
            <p:cNvSpPr txBox="1"/>
            <p:nvPr/>
          </p:nvSpPr>
          <p:spPr>
            <a:xfrm>
              <a:off x="0" y="-47625"/>
              <a:ext cx="1632165"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0" name="Google Shape;150;p5"/>
          <p:cNvSpPr/>
          <p:nvPr/>
        </p:nvSpPr>
        <p:spPr>
          <a:xfrm>
            <a:off x="10866681" y="1740004"/>
            <a:ext cx="7820093" cy="7292237"/>
          </a:xfrm>
          <a:custGeom>
            <a:rect b="b" l="l" r="r" t="t"/>
            <a:pathLst>
              <a:path extrusionOk="0" h="7292237" w="7820093">
                <a:moveTo>
                  <a:pt x="0" y="0"/>
                </a:moveTo>
                <a:lnTo>
                  <a:pt x="7820094" y="0"/>
                </a:lnTo>
                <a:lnTo>
                  <a:pt x="7820094" y="7292237"/>
                </a:lnTo>
                <a:lnTo>
                  <a:pt x="0" y="7292237"/>
                </a:lnTo>
                <a:lnTo>
                  <a:pt x="0" y="0"/>
                </a:lnTo>
                <a:close/>
              </a:path>
            </a:pathLst>
          </a:custGeom>
          <a:blipFill rotWithShape="1">
            <a:blip r:embed="rId4">
              <a:alphaModFix/>
            </a:blip>
            <a:stretch>
              <a:fillRect b="0" l="0" r="0" t="0"/>
            </a:stretch>
          </a:blipFill>
          <a:ln>
            <a:noFill/>
          </a:ln>
        </p:spPr>
      </p:sp>
      <p:sp>
        <p:nvSpPr>
          <p:cNvPr id="151" name="Google Shape;151;p5"/>
          <p:cNvSpPr txBox="1"/>
          <p:nvPr/>
        </p:nvSpPr>
        <p:spPr>
          <a:xfrm>
            <a:off x="1490965" y="2762609"/>
            <a:ext cx="8391943" cy="114490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4000" u="none" cap="none" strike="noStrike">
                <a:solidFill>
                  <a:srgbClr val="2F3B69"/>
                </a:solidFill>
                <a:latin typeface="Montserrat"/>
                <a:ea typeface="Montserrat"/>
                <a:cs typeface="Montserrat"/>
                <a:sym typeface="Montserrat"/>
              </a:rPr>
              <a:t>POSISI KLASIFIKASI DALAM PROSES DATA MINING</a:t>
            </a:r>
            <a:endParaRPr/>
          </a:p>
        </p:txBody>
      </p:sp>
      <p:sp>
        <p:nvSpPr>
          <p:cNvPr id="152" name="Google Shape;152;p5"/>
          <p:cNvSpPr txBox="1"/>
          <p:nvPr/>
        </p:nvSpPr>
        <p:spPr>
          <a:xfrm>
            <a:off x="1490965" y="4360729"/>
            <a:ext cx="9375716" cy="2825750"/>
          </a:xfrm>
          <a:prstGeom prst="rect">
            <a:avLst/>
          </a:prstGeom>
          <a:noFill/>
          <a:ln>
            <a:noFill/>
          </a:ln>
        </p:spPr>
        <p:txBody>
          <a:bodyPr anchorCtr="0" anchor="t" bIns="0" lIns="0" spcFirstLastPara="1" rIns="0" wrap="square" tIns="0">
            <a:spAutoFit/>
          </a:bodyPr>
          <a:lstStyle/>
          <a:p>
            <a:pPr indent="0" lvl="0" marL="0" marR="0" rtl="0" algn="l">
              <a:lnSpc>
                <a:spcPct val="151020"/>
              </a:lnSpc>
              <a:spcBef>
                <a:spcPts val="0"/>
              </a:spcBef>
              <a:spcAft>
                <a:spcPts val="0"/>
              </a:spcAft>
              <a:buNone/>
            </a:pPr>
            <a:r>
              <a:rPr b="0" i="0" lang="en-US" sz="2499" u="none" cap="none" strike="noStrike">
                <a:solidFill>
                  <a:srgbClr val="162651"/>
                </a:solidFill>
                <a:latin typeface="Montserrat"/>
                <a:ea typeface="Montserrat"/>
                <a:cs typeface="Montserrat"/>
                <a:sym typeface="Montserrat"/>
              </a:rPr>
              <a:t>Dalam alur Data Mining, klasifikasi biasanya dilakukan setelah tahap preprocessing data. Data yang telah dibersihkan, ditransformasi, dan dipilih atributnya akan digunakan untuk membangun model klasifikasi. Model ini kemudian diuji dan dievaluasi sebelum diterapkan pada data nyata.</a:t>
            </a:r>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158" name="Google Shape;158;p6"/>
          <p:cNvGrpSpPr/>
          <p:nvPr/>
        </p:nvGrpSpPr>
        <p:grpSpPr>
          <a:xfrm>
            <a:off x="-30623" y="-180826"/>
            <a:ext cx="18318623" cy="10592324"/>
            <a:chOff x="0" y="-47625"/>
            <a:chExt cx="4824658" cy="2789748"/>
          </a:xfrm>
        </p:grpSpPr>
        <p:sp>
          <p:nvSpPr>
            <p:cNvPr id="159" name="Google Shape;159;p6"/>
            <p:cNvSpPr/>
            <p:nvPr/>
          </p:nvSpPr>
          <p:spPr>
            <a:xfrm>
              <a:off x="0" y="0"/>
              <a:ext cx="4824658" cy="2742123"/>
            </a:xfrm>
            <a:custGeom>
              <a:rect b="b" l="l" r="r" t="t"/>
              <a:pathLst>
                <a:path extrusionOk="0" h="2742123" w="4824658">
                  <a:moveTo>
                    <a:pt x="0" y="0"/>
                  </a:moveTo>
                  <a:lnTo>
                    <a:pt x="4824658" y="0"/>
                  </a:lnTo>
                  <a:lnTo>
                    <a:pt x="4824658" y="2742123"/>
                  </a:lnTo>
                  <a:lnTo>
                    <a:pt x="0" y="2742123"/>
                  </a:lnTo>
                  <a:close/>
                </a:path>
              </a:pathLst>
            </a:custGeom>
            <a:solidFill>
              <a:srgbClr val="FAFAFF"/>
            </a:solidFill>
            <a:ln>
              <a:noFill/>
            </a:ln>
          </p:spPr>
        </p:sp>
        <p:sp>
          <p:nvSpPr>
            <p:cNvPr id="160" name="Google Shape;160;p6"/>
            <p:cNvSpPr txBox="1"/>
            <p:nvPr/>
          </p:nvSpPr>
          <p:spPr>
            <a:xfrm>
              <a:off x="0" y="-47625"/>
              <a:ext cx="4824658" cy="278974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1" name="Google Shape;161;p6"/>
          <p:cNvSpPr/>
          <p:nvPr/>
        </p:nvSpPr>
        <p:spPr>
          <a:xfrm>
            <a:off x="11762666" y="2473730"/>
            <a:ext cx="7820850" cy="6051383"/>
          </a:xfrm>
          <a:custGeom>
            <a:rect b="b" l="l" r="r" t="t"/>
            <a:pathLst>
              <a:path extrusionOk="0" h="6051383" w="7820850">
                <a:moveTo>
                  <a:pt x="0" y="0"/>
                </a:moveTo>
                <a:lnTo>
                  <a:pt x="7820850" y="0"/>
                </a:lnTo>
                <a:lnTo>
                  <a:pt x="7820850" y="6051382"/>
                </a:lnTo>
                <a:lnTo>
                  <a:pt x="0" y="6051382"/>
                </a:lnTo>
                <a:lnTo>
                  <a:pt x="0" y="0"/>
                </a:lnTo>
                <a:close/>
              </a:path>
            </a:pathLst>
          </a:custGeom>
          <a:blipFill rotWithShape="1">
            <a:blip r:embed="rId4">
              <a:alphaModFix/>
            </a:blip>
            <a:stretch>
              <a:fillRect b="0" l="0" r="0" t="0"/>
            </a:stretch>
          </a:blipFill>
          <a:ln>
            <a:noFill/>
          </a:ln>
        </p:spPr>
      </p:sp>
      <p:sp>
        <p:nvSpPr>
          <p:cNvPr id="162" name="Google Shape;162;p6"/>
          <p:cNvSpPr/>
          <p:nvPr/>
        </p:nvSpPr>
        <p:spPr>
          <a:xfrm>
            <a:off x="11221661" y="-1914833"/>
            <a:ext cx="8902861" cy="5746392"/>
          </a:xfrm>
          <a:custGeom>
            <a:rect b="b" l="l" r="r" t="t"/>
            <a:pathLst>
              <a:path extrusionOk="0" h="5746392" w="8902861">
                <a:moveTo>
                  <a:pt x="0" y="0"/>
                </a:moveTo>
                <a:lnTo>
                  <a:pt x="8902861" y="0"/>
                </a:lnTo>
                <a:lnTo>
                  <a:pt x="8902861" y="5746392"/>
                </a:lnTo>
                <a:lnTo>
                  <a:pt x="0" y="5746392"/>
                </a:lnTo>
                <a:lnTo>
                  <a:pt x="0" y="0"/>
                </a:lnTo>
                <a:close/>
              </a:path>
            </a:pathLst>
          </a:custGeom>
          <a:blipFill rotWithShape="1">
            <a:blip r:embed="rId5">
              <a:alphaModFix/>
            </a:blip>
            <a:stretch>
              <a:fillRect b="0" l="0" r="0" t="0"/>
            </a:stretch>
          </a:blipFill>
          <a:ln>
            <a:noFill/>
          </a:ln>
        </p:spPr>
      </p:sp>
      <p:sp>
        <p:nvSpPr>
          <p:cNvPr id="163" name="Google Shape;163;p6"/>
          <p:cNvSpPr/>
          <p:nvPr/>
        </p:nvSpPr>
        <p:spPr>
          <a:xfrm>
            <a:off x="-1495994" y="8525112"/>
            <a:ext cx="10364200" cy="4070304"/>
          </a:xfrm>
          <a:custGeom>
            <a:rect b="b" l="l" r="r" t="t"/>
            <a:pathLst>
              <a:path extrusionOk="0" h="4070304" w="10364200">
                <a:moveTo>
                  <a:pt x="0" y="0"/>
                </a:moveTo>
                <a:lnTo>
                  <a:pt x="10364200" y="0"/>
                </a:lnTo>
                <a:lnTo>
                  <a:pt x="10364200" y="4070304"/>
                </a:lnTo>
                <a:lnTo>
                  <a:pt x="0" y="4070304"/>
                </a:lnTo>
                <a:lnTo>
                  <a:pt x="0" y="0"/>
                </a:lnTo>
                <a:close/>
              </a:path>
            </a:pathLst>
          </a:custGeom>
          <a:blipFill rotWithShape="1">
            <a:blip r:embed="rId6">
              <a:alphaModFix/>
            </a:blip>
            <a:stretch>
              <a:fillRect b="0" l="0" r="0" t="0"/>
            </a:stretch>
          </a:blipFill>
          <a:ln>
            <a:noFill/>
          </a:ln>
        </p:spPr>
      </p:sp>
      <p:sp>
        <p:nvSpPr>
          <p:cNvPr id="164" name="Google Shape;164;p6"/>
          <p:cNvSpPr/>
          <p:nvPr/>
        </p:nvSpPr>
        <p:spPr>
          <a:xfrm>
            <a:off x="-2412729" y="-2717395"/>
            <a:ext cx="4825458" cy="4114800"/>
          </a:xfrm>
          <a:custGeom>
            <a:rect b="b" l="l" r="r" t="t"/>
            <a:pathLst>
              <a:path extrusionOk="0" h="4114800" w="4825458">
                <a:moveTo>
                  <a:pt x="0" y="0"/>
                </a:moveTo>
                <a:lnTo>
                  <a:pt x="4825458" y="0"/>
                </a:lnTo>
                <a:lnTo>
                  <a:pt x="4825458" y="4114800"/>
                </a:lnTo>
                <a:lnTo>
                  <a:pt x="0" y="4114800"/>
                </a:lnTo>
                <a:lnTo>
                  <a:pt x="0" y="0"/>
                </a:lnTo>
                <a:close/>
              </a:path>
            </a:pathLst>
          </a:custGeom>
          <a:blipFill rotWithShape="1">
            <a:blip r:embed="rId7">
              <a:alphaModFix/>
            </a:blip>
            <a:stretch>
              <a:fillRect b="0" l="0" r="0" t="0"/>
            </a:stretch>
          </a:blipFill>
          <a:ln>
            <a:noFill/>
          </a:ln>
        </p:spPr>
      </p:sp>
      <p:sp>
        <p:nvSpPr>
          <p:cNvPr id="165" name="Google Shape;165;p6"/>
          <p:cNvSpPr/>
          <p:nvPr/>
        </p:nvSpPr>
        <p:spPr>
          <a:xfrm>
            <a:off x="13730749" y="9022254"/>
            <a:ext cx="6663644" cy="4114800"/>
          </a:xfrm>
          <a:custGeom>
            <a:rect b="b" l="l" r="r" t="t"/>
            <a:pathLst>
              <a:path extrusionOk="0" h="4114800" w="6663644">
                <a:moveTo>
                  <a:pt x="0" y="0"/>
                </a:moveTo>
                <a:lnTo>
                  <a:pt x="6663643" y="0"/>
                </a:lnTo>
                <a:lnTo>
                  <a:pt x="6663643" y="4114800"/>
                </a:lnTo>
                <a:lnTo>
                  <a:pt x="0" y="4114800"/>
                </a:lnTo>
                <a:lnTo>
                  <a:pt x="0" y="0"/>
                </a:lnTo>
                <a:close/>
              </a:path>
            </a:pathLst>
          </a:custGeom>
          <a:blipFill rotWithShape="1">
            <a:blip r:embed="rId8">
              <a:alphaModFix/>
            </a:blip>
            <a:stretch>
              <a:fillRect b="0" l="0" r="0" t="0"/>
            </a:stretch>
          </a:blipFill>
          <a:ln>
            <a:noFill/>
          </a:ln>
        </p:spPr>
      </p:sp>
      <p:sp>
        <p:nvSpPr>
          <p:cNvPr id="166" name="Google Shape;166;p6"/>
          <p:cNvSpPr txBox="1"/>
          <p:nvPr/>
        </p:nvSpPr>
        <p:spPr>
          <a:xfrm>
            <a:off x="1028700" y="2578097"/>
            <a:ext cx="10733966" cy="7133803"/>
          </a:xfrm>
          <a:prstGeom prst="rect">
            <a:avLst/>
          </a:prstGeom>
          <a:noFill/>
          <a:ln>
            <a:noFill/>
          </a:ln>
        </p:spPr>
        <p:txBody>
          <a:bodyPr anchorCtr="0" anchor="t" bIns="0" lIns="0" spcFirstLastPara="1" rIns="0" wrap="square" tIns="0">
            <a:spAutoFit/>
          </a:bodyPr>
          <a:lstStyle/>
          <a:p>
            <a:pPr indent="0" lvl="0" marL="0" marR="0" rtl="0" algn="l">
              <a:lnSpc>
                <a:spcPct val="161007"/>
              </a:lnSpc>
              <a:spcBef>
                <a:spcPts val="0"/>
              </a:spcBef>
              <a:spcAft>
                <a:spcPts val="0"/>
              </a:spcAft>
              <a:buNone/>
            </a:pPr>
            <a:r>
              <a:rPr b="0" i="0" lang="en-US" sz="2203" u="none" cap="none" strike="noStrike">
                <a:solidFill>
                  <a:srgbClr val="2F3B69"/>
                </a:solidFill>
                <a:latin typeface="Montserrat"/>
                <a:ea typeface="Montserrat"/>
                <a:cs typeface="Montserrat"/>
                <a:sym typeface="Montserrat"/>
              </a:rPr>
              <a:t>Decision Tree atau pohon keputusan merupakan algoritma klasifikasi yang membentuk model berupa struktur pohon. Setiap simpul internal merepresentasikan atribut, setiap cabang menunjukkan nilai atribut, dan setiap simpul daun merepresentasikan kelas hasil keputusan.</a:t>
            </a:r>
            <a:endParaRPr/>
          </a:p>
          <a:p>
            <a:pPr indent="0" lvl="0" marL="0" marR="0" rtl="0" algn="l">
              <a:lnSpc>
                <a:spcPct val="161007"/>
              </a:lnSpc>
              <a:spcBef>
                <a:spcPts val="0"/>
              </a:spcBef>
              <a:spcAft>
                <a:spcPts val="0"/>
              </a:spcAft>
              <a:buNone/>
            </a:pPr>
            <a:r>
              <a:t/>
            </a:r>
            <a:endParaRPr b="0" i="0" sz="2203" u="none" cap="none" strike="noStrike">
              <a:solidFill>
                <a:srgbClr val="2F3B69"/>
              </a:solidFill>
              <a:latin typeface="Montserrat"/>
              <a:ea typeface="Montserrat"/>
              <a:cs typeface="Montserrat"/>
              <a:sym typeface="Montserrat"/>
            </a:endParaRPr>
          </a:p>
          <a:p>
            <a:pPr indent="0" lvl="0" marL="0" marR="0" rtl="0" algn="l">
              <a:lnSpc>
                <a:spcPct val="161007"/>
              </a:lnSpc>
              <a:spcBef>
                <a:spcPts val="0"/>
              </a:spcBef>
              <a:spcAft>
                <a:spcPts val="0"/>
              </a:spcAft>
              <a:buNone/>
            </a:pPr>
            <a:r>
              <a:rPr b="0" i="0" lang="en-US" sz="2203" u="none" cap="none" strike="noStrike">
                <a:solidFill>
                  <a:srgbClr val="2F3B69"/>
                </a:solidFill>
                <a:latin typeface="Montserrat"/>
                <a:ea typeface="Montserrat"/>
                <a:cs typeface="Montserrat"/>
                <a:sym typeface="Montserrat"/>
              </a:rPr>
              <a:t>Cara kerja Decision Tree menyerupai proses pengambilan keputusan manusia, yaitu dengan mengajukan pertanyaan secara bertahap hingga diperoleh keputusan akhir. Algoritma ini memilih atribut terbaik sebagai pemisah data berdasarkan kriteria tertentu sehingga data dapat dikelompokkan ke dalam kelas yang lebih homogen.</a:t>
            </a:r>
            <a:endParaRPr/>
          </a:p>
          <a:p>
            <a:pPr indent="0" lvl="0" marL="0" marR="0" rtl="0" algn="l">
              <a:lnSpc>
                <a:spcPct val="161007"/>
              </a:lnSpc>
              <a:spcBef>
                <a:spcPts val="0"/>
              </a:spcBef>
              <a:spcAft>
                <a:spcPts val="0"/>
              </a:spcAft>
              <a:buNone/>
            </a:pPr>
            <a:r>
              <a:t/>
            </a:r>
            <a:endParaRPr b="0" i="0" sz="2203" u="none" cap="none" strike="noStrike">
              <a:solidFill>
                <a:srgbClr val="2F3B69"/>
              </a:solidFill>
              <a:latin typeface="Montserrat"/>
              <a:ea typeface="Montserrat"/>
              <a:cs typeface="Montserrat"/>
              <a:sym typeface="Montserrat"/>
            </a:endParaRPr>
          </a:p>
          <a:p>
            <a:pPr indent="0" lvl="0" marL="0" marR="0" rtl="0" algn="l">
              <a:lnSpc>
                <a:spcPct val="161007"/>
              </a:lnSpc>
              <a:spcBef>
                <a:spcPts val="0"/>
              </a:spcBef>
              <a:spcAft>
                <a:spcPts val="0"/>
              </a:spcAft>
              <a:buNone/>
            </a:pPr>
            <a:r>
              <a:rPr b="0" i="0" lang="en-US" sz="2203" u="none" cap="none" strike="noStrike">
                <a:solidFill>
                  <a:srgbClr val="2F3B69"/>
                </a:solidFill>
                <a:latin typeface="Montserrat"/>
                <a:ea typeface="Montserrat"/>
                <a:cs typeface="Montserrat"/>
                <a:sym typeface="Montserrat"/>
              </a:rPr>
              <a:t>Decision Tree memiliki keunggulan utama pada kemudahan interpretasi dan visualisasi. Model yang dihasilkan relatif mudah dipahami, bahkan oleh pengguna non-teknis. Oleh karena itu, algoritma ini sering digunakan dalam sistem pendukung keputusan.</a:t>
            </a:r>
            <a:endParaRPr/>
          </a:p>
          <a:p>
            <a:pPr indent="0" lvl="0" marL="0" marR="0" rtl="0" algn="l">
              <a:lnSpc>
                <a:spcPct val="161007"/>
              </a:lnSpc>
              <a:spcBef>
                <a:spcPts val="0"/>
              </a:spcBef>
              <a:spcAft>
                <a:spcPts val="0"/>
              </a:spcAft>
              <a:buNone/>
            </a:pPr>
            <a:r>
              <a:t/>
            </a:r>
            <a:endParaRPr b="0" i="0" sz="2203" u="none" cap="none" strike="noStrike">
              <a:solidFill>
                <a:srgbClr val="2F3B69"/>
              </a:solidFill>
              <a:latin typeface="Montserrat"/>
              <a:ea typeface="Montserrat"/>
              <a:cs typeface="Montserrat"/>
              <a:sym typeface="Montserrat"/>
            </a:endParaRPr>
          </a:p>
        </p:txBody>
      </p:sp>
      <p:sp>
        <p:nvSpPr>
          <p:cNvPr id="167" name="Google Shape;167;p6"/>
          <p:cNvSpPr txBox="1"/>
          <p:nvPr/>
        </p:nvSpPr>
        <p:spPr>
          <a:xfrm>
            <a:off x="1028700" y="1615648"/>
            <a:ext cx="8722148" cy="858082"/>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1" i="0" lang="en-US" sz="5020" u="none" cap="none" strike="noStrike">
                <a:solidFill>
                  <a:srgbClr val="2F3B69"/>
                </a:solidFill>
                <a:latin typeface="Montserrat"/>
                <a:ea typeface="Montserrat"/>
                <a:cs typeface="Montserrat"/>
                <a:sym typeface="Montserrat"/>
              </a:rPr>
              <a:t>DECISION TREE</a:t>
            </a:r>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173" name="Google Shape;173;p7"/>
          <p:cNvGrpSpPr/>
          <p:nvPr/>
        </p:nvGrpSpPr>
        <p:grpSpPr>
          <a:xfrm>
            <a:off x="-30623" y="-180826"/>
            <a:ext cx="18318623" cy="10592324"/>
            <a:chOff x="0" y="-47625"/>
            <a:chExt cx="4824658" cy="2789748"/>
          </a:xfrm>
        </p:grpSpPr>
        <p:sp>
          <p:nvSpPr>
            <p:cNvPr id="174" name="Google Shape;174;p7"/>
            <p:cNvSpPr/>
            <p:nvPr/>
          </p:nvSpPr>
          <p:spPr>
            <a:xfrm>
              <a:off x="0" y="0"/>
              <a:ext cx="4824658" cy="2742123"/>
            </a:xfrm>
            <a:custGeom>
              <a:rect b="b" l="l" r="r" t="t"/>
              <a:pathLst>
                <a:path extrusionOk="0" h="2742123" w="4824658">
                  <a:moveTo>
                    <a:pt x="0" y="0"/>
                  </a:moveTo>
                  <a:lnTo>
                    <a:pt x="4824658" y="0"/>
                  </a:lnTo>
                  <a:lnTo>
                    <a:pt x="4824658" y="2742123"/>
                  </a:lnTo>
                  <a:lnTo>
                    <a:pt x="0" y="2742123"/>
                  </a:lnTo>
                  <a:close/>
                </a:path>
              </a:pathLst>
            </a:custGeom>
            <a:solidFill>
              <a:srgbClr val="FAFAFF"/>
            </a:solidFill>
            <a:ln>
              <a:noFill/>
            </a:ln>
          </p:spPr>
        </p:sp>
        <p:sp>
          <p:nvSpPr>
            <p:cNvPr id="175" name="Google Shape;175;p7"/>
            <p:cNvSpPr txBox="1"/>
            <p:nvPr/>
          </p:nvSpPr>
          <p:spPr>
            <a:xfrm>
              <a:off x="0" y="-47625"/>
              <a:ext cx="4824658" cy="278974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6" name="Google Shape;176;p7"/>
          <p:cNvSpPr/>
          <p:nvPr/>
        </p:nvSpPr>
        <p:spPr>
          <a:xfrm>
            <a:off x="11221661" y="-1914833"/>
            <a:ext cx="8902861" cy="5746392"/>
          </a:xfrm>
          <a:custGeom>
            <a:rect b="b" l="l" r="r" t="t"/>
            <a:pathLst>
              <a:path extrusionOk="0" h="5746392" w="8902861">
                <a:moveTo>
                  <a:pt x="0" y="0"/>
                </a:moveTo>
                <a:lnTo>
                  <a:pt x="8902861" y="0"/>
                </a:lnTo>
                <a:lnTo>
                  <a:pt x="8902861" y="5746392"/>
                </a:lnTo>
                <a:lnTo>
                  <a:pt x="0" y="5746392"/>
                </a:lnTo>
                <a:lnTo>
                  <a:pt x="0" y="0"/>
                </a:lnTo>
                <a:close/>
              </a:path>
            </a:pathLst>
          </a:custGeom>
          <a:blipFill rotWithShape="1">
            <a:blip r:embed="rId4">
              <a:alphaModFix/>
            </a:blip>
            <a:stretch>
              <a:fillRect b="0" l="0" r="0" t="0"/>
            </a:stretch>
          </a:blipFill>
          <a:ln>
            <a:noFill/>
          </a:ln>
        </p:spPr>
      </p:sp>
      <p:sp>
        <p:nvSpPr>
          <p:cNvPr id="177" name="Google Shape;177;p7"/>
          <p:cNvSpPr/>
          <p:nvPr/>
        </p:nvSpPr>
        <p:spPr>
          <a:xfrm>
            <a:off x="-1495994" y="8525112"/>
            <a:ext cx="10364200" cy="4070304"/>
          </a:xfrm>
          <a:custGeom>
            <a:rect b="b" l="l" r="r" t="t"/>
            <a:pathLst>
              <a:path extrusionOk="0" h="4070304" w="10364200">
                <a:moveTo>
                  <a:pt x="0" y="0"/>
                </a:moveTo>
                <a:lnTo>
                  <a:pt x="10364200" y="0"/>
                </a:lnTo>
                <a:lnTo>
                  <a:pt x="10364200" y="4070304"/>
                </a:lnTo>
                <a:lnTo>
                  <a:pt x="0" y="4070304"/>
                </a:lnTo>
                <a:lnTo>
                  <a:pt x="0" y="0"/>
                </a:lnTo>
                <a:close/>
              </a:path>
            </a:pathLst>
          </a:custGeom>
          <a:blipFill rotWithShape="1">
            <a:blip r:embed="rId5">
              <a:alphaModFix/>
            </a:blip>
            <a:stretch>
              <a:fillRect b="0" l="0" r="0" t="0"/>
            </a:stretch>
          </a:blipFill>
          <a:ln>
            <a:noFill/>
          </a:ln>
        </p:spPr>
      </p:sp>
      <p:sp>
        <p:nvSpPr>
          <p:cNvPr id="178" name="Google Shape;178;p7"/>
          <p:cNvSpPr/>
          <p:nvPr/>
        </p:nvSpPr>
        <p:spPr>
          <a:xfrm>
            <a:off x="-2412729" y="-2717395"/>
            <a:ext cx="4825458" cy="4114800"/>
          </a:xfrm>
          <a:custGeom>
            <a:rect b="b" l="l" r="r" t="t"/>
            <a:pathLst>
              <a:path extrusionOk="0" h="4114800" w="4825458">
                <a:moveTo>
                  <a:pt x="0" y="0"/>
                </a:moveTo>
                <a:lnTo>
                  <a:pt x="4825458" y="0"/>
                </a:lnTo>
                <a:lnTo>
                  <a:pt x="4825458" y="4114800"/>
                </a:lnTo>
                <a:lnTo>
                  <a:pt x="0" y="4114800"/>
                </a:lnTo>
                <a:lnTo>
                  <a:pt x="0" y="0"/>
                </a:lnTo>
                <a:close/>
              </a:path>
            </a:pathLst>
          </a:custGeom>
          <a:blipFill rotWithShape="1">
            <a:blip r:embed="rId6">
              <a:alphaModFix/>
            </a:blip>
            <a:stretch>
              <a:fillRect b="0" l="0" r="0" t="0"/>
            </a:stretch>
          </a:blipFill>
          <a:ln>
            <a:noFill/>
          </a:ln>
        </p:spPr>
      </p:sp>
      <p:sp>
        <p:nvSpPr>
          <p:cNvPr id="179" name="Google Shape;179;p7"/>
          <p:cNvSpPr/>
          <p:nvPr/>
        </p:nvSpPr>
        <p:spPr>
          <a:xfrm>
            <a:off x="13730749" y="9022254"/>
            <a:ext cx="6663644" cy="4114800"/>
          </a:xfrm>
          <a:custGeom>
            <a:rect b="b" l="l" r="r" t="t"/>
            <a:pathLst>
              <a:path extrusionOk="0" h="4114800" w="6663644">
                <a:moveTo>
                  <a:pt x="0" y="0"/>
                </a:moveTo>
                <a:lnTo>
                  <a:pt x="6663643" y="0"/>
                </a:lnTo>
                <a:lnTo>
                  <a:pt x="6663643" y="4114800"/>
                </a:lnTo>
                <a:lnTo>
                  <a:pt x="0" y="4114800"/>
                </a:lnTo>
                <a:lnTo>
                  <a:pt x="0" y="0"/>
                </a:lnTo>
                <a:close/>
              </a:path>
            </a:pathLst>
          </a:custGeom>
          <a:blipFill rotWithShape="1">
            <a:blip r:embed="rId7">
              <a:alphaModFix/>
            </a:blip>
            <a:stretch>
              <a:fillRect b="0" l="0" r="0" t="0"/>
            </a:stretch>
          </a:blipFill>
          <a:ln>
            <a:noFill/>
          </a:ln>
        </p:spPr>
      </p:sp>
      <p:sp>
        <p:nvSpPr>
          <p:cNvPr id="180" name="Google Shape;180;p7"/>
          <p:cNvSpPr/>
          <p:nvPr/>
        </p:nvSpPr>
        <p:spPr>
          <a:xfrm>
            <a:off x="10698232" y="1028700"/>
            <a:ext cx="8178165" cy="8229600"/>
          </a:xfrm>
          <a:custGeom>
            <a:rect b="b" l="l" r="r" t="t"/>
            <a:pathLst>
              <a:path extrusionOk="0" h="8229600" w="8178165">
                <a:moveTo>
                  <a:pt x="0" y="0"/>
                </a:moveTo>
                <a:lnTo>
                  <a:pt x="8178165" y="0"/>
                </a:lnTo>
                <a:lnTo>
                  <a:pt x="8178165" y="8229600"/>
                </a:lnTo>
                <a:lnTo>
                  <a:pt x="0" y="8229600"/>
                </a:lnTo>
                <a:lnTo>
                  <a:pt x="0" y="0"/>
                </a:lnTo>
                <a:close/>
              </a:path>
            </a:pathLst>
          </a:custGeom>
          <a:blipFill rotWithShape="1">
            <a:blip r:embed="rId8">
              <a:alphaModFix/>
            </a:blip>
            <a:stretch>
              <a:fillRect b="0" l="0" r="0" t="0"/>
            </a:stretch>
          </a:blipFill>
          <a:ln>
            <a:noFill/>
          </a:ln>
        </p:spPr>
      </p:sp>
      <p:sp>
        <p:nvSpPr>
          <p:cNvPr id="181" name="Google Shape;181;p7"/>
          <p:cNvSpPr txBox="1"/>
          <p:nvPr/>
        </p:nvSpPr>
        <p:spPr>
          <a:xfrm>
            <a:off x="1028700" y="3736309"/>
            <a:ext cx="8580029" cy="4674575"/>
          </a:xfrm>
          <a:prstGeom prst="rect">
            <a:avLst/>
          </a:prstGeom>
          <a:noFill/>
          <a:ln>
            <a:noFill/>
          </a:ln>
        </p:spPr>
        <p:txBody>
          <a:bodyPr anchorCtr="0" anchor="t" bIns="0" lIns="0" spcFirstLastPara="1" rIns="0" wrap="square" tIns="0">
            <a:spAutoFit/>
          </a:bodyPr>
          <a:lstStyle/>
          <a:p>
            <a:pPr indent="0" lvl="0" marL="0" marR="0" rtl="0" algn="l">
              <a:lnSpc>
                <a:spcPct val="161006"/>
              </a:lnSpc>
              <a:spcBef>
                <a:spcPts val="0"/>
              </a:spcBef>
              <a:spcAft>
                <a:spcPts val="0"/>
              </a:spcAft>
              <a:buNone/>
            </a:pPr>
            <a:r>
              <a:rPr b="0" i="0" lang="en-US" sz="2603" u="none" cap="none" strike="noStrike">
                <a:solidFill>
                  <a:srgbClr val="2F3B69"/>
                </a:solidFill>
                <a:latin typeface="Montserrat"/>
                <a:ea typeface="Montserrat"/>
                <a:cs typeface="Montserrat"/>
                <a:sym typeface="Montserrat"/>
              </a:rPr>
              <a:t>Salah satu contoh penerapan Decision Tree yang paling umum adalah penentuan kelayakan pemberian kredit oleh bank. Dalam kasus ini, data historis nasabah digunakan sebagai data latih, dengan atribut seperti pendapatan bulanan, status pekerjaan, jumlah tanggungan, dan riwayat kredit. Kelas targetnya adalah “Layak” atau “Tidak Layak” menerima kredit.</a:t>
            </a:r>
            <a:endParaRPr/>
          </a:p>
          <a:p>
            <a:pPr indent="0" lvl="0" marL="0" marR="0" rtl="0" algn="l">
              <a:lnSpc>
                <a:spcPct val="161006"/>
              </a:lnSpc>
              <a:spcBef>
                <a:spcPts val="0"/>
              </a:spcBef>
              <a:spcAft>
                <a:spcPts val="0"/>
              </a:spcAft>
              <a:buNone/>
            </a:pPr>
            <a:r>
              <a:t/>
            </a:r>
            <a:endParaRPr b="0" i="0" sz="2603" u="none" cap="none" strike="noStrike">
              <a:solidFill>
                <a:srgbClr val="2F3B69"/>
              </a:solidFill>
              <a:latin typeface="Montserrat"/>
              <a:ea typeface="Montserrat"/>
              <a:cs typeface="Montserrat"/>
              <a:sym typeface="Montserrat"/>
            </a:endParaRPr>
          </a:p>
        </p:txBody>
      </p:sp>
      <p:sp>
        <p:nvSpPr>
          <p:cNvPr id="182" name="Google Shape;182;p7"/>
          <p:cNvSpPr txBox="1"/>
          <p:nvPr/>
        </p:nvSpPr>
        <p:spPr>
          <a:xfrm>
            <a:off x="1028700" y="1615648"/>
            <a:ext cx="8722148" cy="1748443"/>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1" i="0" lang="en-US" sz="5020" u="none" cap="none" strike="noStrike">
                <a:solidFill>
                  <a:srgbClr val="2F3B69"/>
                </a:solidFill>
                <a:latin typeface="Montserrat"/>
                <a:ea typeface="Montserrat"/>
                <a:cs typeface="Montserrat"/>
                <a:sym typeface="Montserrat"/>
              </a:rPr>
              <a:t>CONTOH KASUS NYATA DECISION TREE</a:t>
            </a:r>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188" name="Google Shape;188;p8"/>
          <p:cNvGrpSpPr/>
          <p:nvPr/>
        </p:nvGrpSpPr>
        <p:grpSpPr>
          <a:xfrm>
            <a:off x="4283122" y="-180826"/>
            <a:ext cx="13932415" cy="10467826"/>
            <a:chOff x="0" y="-47625"/>
            <a:chExt cx="3669443" cy="2756958"/>
          </a:xfrm>
        </p:grpSpPr>
        <p:sp>
          <p:nvSpPr>
            <p:cNvPr id="189" name="Google Shape;189;p8"/>
            <p:cNvSpPr/>
            <p:nvPr/>
          </p:nvSpPr>
          <p:spPr>
            <a:xfrm>
              <a:off x="0" y="0"/>
              <a:ext cx="3669443" cy="2709333"/>
            </a:xfrm>
            <a:custGeom>
              <a:rect b="b" l="l" r="r" t="t"/>
              <a:pathLst>
                <a:path extrusionOk="0" h="2709333" w="3669443">
                  <a:moveTo>
                    <a:pt x="0" y="0"/>
                  </a:moveTo>
                  <a:lnTo>
                    <a:pt x="3669443" y="0"/>
                  </a:lnTo>
                  <a:lnTo>
                    <a:pt x="3669443" y="2709333"/>
                  </a:lnTo>
                  <a:lnTo>
                    <a:pt x="0" y="2709333"/>
                  </a:lnTo>
                  <a:close/>
                </a:path>
              </a:pathLst>
            </a:custGeom>
            <a:solidFill>
              <a:srgbClr val="FAFAFF"/>
            </a:solidFill>
            <a:ln>
              <a:noFill/>
            </a:ln>
          </p:spPr>
        </p:sp>
        <p:sp>
          <p:nvSpPr>
            <p:cNvPr id="190" name="Google Shape;190;p8"/>
            <p:cNvSpPr txBox="1"/>
            <p:nvPr/>
          </p:nvSpPr>
          <p:spPr>
            <a:xfrm>
              <a:off x="0" y="-47625"/>
              <a:ext cx="366944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1" name="Google Shape;191;p8"/>
          <p:cNvSpPr/>
          <p:nvPr/>
        </p:nvSpPr>
        <p:spPr>
          <a:xfrm>
            <a:off x="14285487" y="9258300"/>
            <a:ext cx="5947625" cy="2076262"/>
          </a:xfrm>
          <a:custGeom>
            <a:rect b="b" l="l" r="r" t="t"/>
            <a:pathLst>
              <a:path extrusionOk="0" h="2076262" w="5947625">
                <a:moveTo>
                  <a:pt x="0" y="0"/>
                </a:moveTo>
                <a:lnTo>
                  <a:pt x="5947626" y="0"/>
                </a:lnTo>
                <a:lnTo>
                  <a:pt x="5947626" y="2076262"/>
                </a:lnTo>
                <a:lnTo>
                  <a:pt x="0" y="2076262"/>
                </a:lnTo>
                <a:lnTo>
                  <a:pt x="0" y="0"/>
                </a:lnTo>
                <a:close/>
              </a:path>
            </a:pathLst>
          </a:custGeom>
          <a:blipFill rotWithShape="1">
            <a:blip r:embed="rId4">
              <a:alphaModFix/>
            </a:blip>
            <a:stretch>
              <a:fillRect b="0" l="0" r="0" t="0"/>
            </a:stretch>
          </a:blipFill>
          <a:ln>
            <a:noFill/>
          </a:ln>
        </p:spPr>
      </p:sp>
      <p:sp>
        <p:nvSpPr>
          <p:cNvPr id="192" name="Google Shape;192;p8"/>
          <p:cNvSpPr/>
          <p:nvPr/>
        </p:nvSpPr>
        <p:spPr>
          <a:xfrm>
            <a:off x="-417002" y="2214893"/>
            <a:ext cx="7351506" cy="6221212"/>
          </a:xfrm>
          <a:custGeom>
            <a:rect b="b" l="l" r="r" t="t"/>
            <a:pathLst>
              <a:path extrusionOk="0" h="6221212" w="7351506">
                <a:moveTo>
                  <a:pt x="0" y="0"/>
                </a:moveTo>
                <a:lnTo>
                  <a:pt x="7351507" y="0"/>
                </a:lnTo>
                <a:lnTo>
                  <a:pt x="7351507" y="6221212"/>
                </a:lnTo>
                <a:lnTo>
                  <a:pt x="0" y="6221212"/>
                </a:lnTo>
                <a:lnTo>
                  <a:pt x="0" y="0"/>
                </a:lnTo>
                <a:close/>
              </a:path>
            </a:pathLst>
          </a:custGeom>
          <a:blipFill rotWithShape="1">
            <a:blip r:embed="rId5">
              <a:alphaModFix/>
            </a:blip>
            <a:stretch>
              <a:fillRect b="0" l="0" r="0" t="0"/>
            </a:stretch>
          </a:blipFill>
          <a:ln>
            <a:noFill/>
          </a:ln>
        </p:spPr>
      </p:sp>
      <p:sp>
        <p:nvSpPr>
          <p:cNvPr id="193" name="Google Shape;193;p8"/>
          <p:cNvSpPr txBox="1"/>
          <p:nvPr/>
        </p:nvSpPr>
        <p:spPr>
          <a:xfrm>
            <a:off x="4561323" y="780323"/>
            <a:ext cx="12439320" cy="81153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None/>
            </a:pPr>
            <a:r>
              <a:rPr b="1" i="0" lang="en-US" sz="4800" u="none" cap="none" strike="noStrike">
                <a:solidFill>
                  <a:srgbClr val="2F3B69"/>
                </a:solidFill>
                <a:latin typeface="Montserrat"/>
                <a:ea typeface="Montserrat"/>
                <a:cs typeface="Montserrat"/>
                <a:sym typeface="Montserrat"/>
              </a:rPr>
              <a:t>K-NEAREST NEIGHBOR (KNN)</a:t>
            </a:r>
            <a:endParaRPr/>
          </a:p>
        </p:txBody>
      </p:sp>
      <p:sp>
        <p:nvSpPr>
          <p:cNvPr id="194" name="Google Shape;194;p8"/>
          <p:cNvSpPr/>
          <p:nvPr/>
        </p:nvSpPr>
        <p:spPr>
          <a:xfrm>
            <a:off x="-2223542" y="-1199095"/>
            <a:ext cx="6784865" cy="4130287"/>
          </a:xfrm>
          <a:custGeom>
            <a:rect b="b" l="l" r="r" t="t"/>
            <a:pathLst>
              <a:path extrusionOk="0" h="4130287" w="6784865">
                <a:moveTo>
                  <a:pt x="0" y="0"/>
                </a:moveTo>
                <a:lnTo>
                  <a:pt x="6784865" y="0"/>
                </a:lnTo>
                <a:lnTo>
                  <a:pt x="6784865" y="4130286"/>
                </a:lnTo>
                <a:lnTo>
                  <a:pt x="0" y="4130286"/>
                </a:lnTo>
                <a:lnTo>
                  <a:pt x="0" y="0"/>
                </a:lnTo>
                <a:close/>
              </a:path>
            </a:pathLst>
          </a:custGeom>
          <a:blipFill rotWithShape="1">
            <a:blip r:embed="rId6">
              <a:alphaModFix/>
            </a:blip>
            <a:stretch>
              <a:fillRect b="0" l="0" r="0" t="0"/>
            </a:stretch>
          </a:blipFill>
          <a:ln>
            <a:noFill/>
          </a:ln>
        </p:spPr>
      </p:sp>
      <p:grpSp>
        <p:nvGrpSpPr>
          <p:cNvPr id="195" name="Google Shape;195;p8"/>
          <p:cNvGrpSpPr/>
          <p:nvPr/>
        </p:nvGrpSpPr>
        <p:grpSpPr>
          <a:xfrm>
            <a:off x="17259300" y="-704151"/>
            <a:ext cx="1028700" cy="4031759"/>
            <a:chOff x="0" y="-47625"/>
            <a:chExt cx="270933" cy="1061862"/>
          </a:xfrm>
        </p:grpSpPr>
        <p:sp>
          <p:nvSpPr>
            <p:cNvPr id="196" name="Google Shape;196;p8"/>
            <p:cNvSpPr/>
            <p:nvPr/>
          </p:nvSpPr>
          <p:spPr>
            <a:xfrm>
              <a:off x="0" y="0"/>
              <a:ext cx="270933" cy="1014237"/>
            </a:xfrm>
            <a:custGeom>
              <a:rect b="b" l="l" r="r" t="t"/>
              <a:pathLst>
                <a:path extrusionOk="0" h="1014237" w="270933">
                  <a:moveTo>
                    <a:pt x="0" y="0"/>
                  </a:moveTo>
                  <a:lnTo>
                    <a:pt x="270933" y="0"/>
                  </a:lnTo>
                  <a:lnTo>
                    <a:pt x="270933" y="1014237"/>
                  </a:lnTo>
                  <a:lnTo>
                    <a:pt x="0" y="1014237"/>
                  </a:lnTo>
                  <a:close/>
                </a:path>
              </a:pathLst>
            </a:custGeom>
            <a:solidFill>
              <a:srgbClr val="3E829A"/>
            </a:solidFill>
            <a:ln>
              <a:noFill/>
            </a:ln>
          </p:spPr>
        </p:sp>
        <p:sp>
          <p:nvSpPr>
            <p:cNvPr id="197" name="Google Shape;197;p8"/>
            <p:cNvSpPr txBox="1"/>
            <p:nvPr/>
          </p:nvSpPr>
          <p:spPr>
            <a:xfrm>
              <a:off x="0" y="-47625"/>
              <a:ext cx="270933" cy="1061862"/>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8" name="Google Shape;198;p8"/>
          <p:cNvGrpSpPr/>
          <p:nvPr/>
        </p:nvGrpSpPr>
        <p:grpSpPr>
          <a:xfrm>
            <a:off x="0" y="9601384"/>
            <a:ext cx="5157214" cy="685616"/>
            <a:chOff x="0" y="-47625"/>
            <a:chExt cx="1358279" cy="180574"/>
          </a:xfrm>
        </p:grpSpPr>
        <p:sp>
          <p:nvSpPr>
            <p:cNvPr id="199" name="Google Shape;199;p8"/>
            <p:cNvSpPr/>
            <p:nvPr/>
          </p:nvSpPr>
          <p:spPr>
            <a:xfrm>
              <a:off x="0" y="0"/>
              <a:ext cx="1358279" cy="132949"/>
            </a:xfrm>
            <a:custGeom>
              <a:rect b="b" l="l" r="r" t="t"/>
              <a:pathLst>
                <a:path extrusionOk="0" h="132949" w="1358279">
                  <a:moveTo>
                    <a:pt x="0" y="0"/>
                  </a:moveTo>
                  <a:lnTo>
                    <a:pt x="1358279" y="0"/>
                  </a:lnTo>
                  <a:lnTo>
                    <a:pt x="1358279" y="132949"/>
                  </a:lnTo>
                  <a:lnTo>
                    <a:pt x="0" y="132949"/>
                  </a:lnTo>
                  <a:close/>
                </a:path>
              </a:pathLst>
            </a:custGeom>
            <a:solidFill>
              <a:srgbClr val="3E829A"/>
            </a:solidFill>
            <a:ln>
              <a:noFill/>
            </a:ln>
          </p:spPr>
        </p:sp>
        <p:sp>
          <p:nvSpPr>
            <p:cNvPr id="200" name="Google Shape;200;p8"/>
            <p:cNvSpPr txBox="1"/>
            <p:nvPr/>
          </p:nvSpPr>
          <p:spPr>
            <a:xfrm>
              <a:off x="0" y="-47625"/>
              <a:ext cx="1358279" cy="180574"/>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1" name="Google Shape;201;p8"/>
          <p:cNvGrpSpPr/>
          <p:nvPr/>
        </p:nvGrpSpPr>
        <p:grpSpPr>
          <a:xfrm>
            <a:off x="6934505" y="1876204"/>
            <a:ext cx="9704395" cy="7236919"/>
            <a:chOff x="0" y="-47625"/>
            <a:chExt cx="2555890" cy="1906020"/>
          </a:xfrm>
        </p:grpSpPr>
        <p:sp>
          <p:nvSpPr>
            <p:cNvPr id="202" name="Google Shape;202;p8"/>
            <p:cNvSpPr/>
            <p:nvPr/>
          </p:nvSpPr>
          <p:spPr>
            <a:xfrm>
              <a:off x="0" y="0"/>
              <a:ext cx="2555890" cy="1858395"/>
            </a:xfrm>
            <a:custGeom>
              <a:rect b="b" l="l" r="r" t="t"/>
              <a:pathLst>
                <a:path extrusionOk="0" h="1858395" w="2555890">
                  <a:moveTo>
                    <a:pt x="40687" y="0"/>
                  </a:moveTo>
                  <a:lnTo>
                    <a:pt x="2515204" y="0"/>
                  </a:lnTo>
                  <a:cubicBezTo>
                    <a:pt x="2525994" y="0"/>
                    <a:pt x="2536343" y="4287"/>
                    <a:pt x="2543973" y="11917"/>
                  </a:cubicBezTo>
                  <a:cubicBezTo>
                    <a:pt x="2551604" y="19547"/>
                    <a:pt x="2555890" y="29896"/>
                    <a:pt x="2555890" y="40687"/>
                  </a:cubicBezTo>
                  <a:lnTo>
                    <a:pt x="2555890" y="1817708"/>
                  </a:lnTo>
                  <a:cubicBezTo>
                    <a:pt x="2555890" y="1840179"/>
                    <a:pt x="2537674" y="1858395"/>
                    <a:pt x="2515204" y="1858395"/>
                  </a:cubicBezTo>
                  <a:lnTo>
                    <a:pt x="40687" y="1858395"/>
                  </a:lnTo>
                  <a:cubicBezTo>
                    <a:pt x="18216" y="1858395"/>
                    <a:pt x="0" y="1840179"/>
                    <a:pt x="0" y="1817708"/>
                  </a:cubicBezTo>
                  <a:lnTo>
                    <a:pt x="0" y="40687"/>
                  </a:lnTo>
                  <a:cubicBezTo>
                    <a:pt x="0" y="18216"/>
                    <a:pt x="18216" y="0"/>
                    <a:pt x="40687" y="0"/>
                  </a:cubicBezTo>
                  <a:close/>
                </a:path>
              </a:pathLst>
            </a:custGeom>
            <a:solidFill>
              <a:srgbClr val="0836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txBox="1"/>
            <p:nvPr/>
          </p:nvSpPr>
          <p:spPr>
            <a:xfrm>
              <a:off x="0" y="-47625"/>
              <a:ext cx="2555890" cy="1906020"/>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4" name="Google Shape;204;p8"/>
          <p:cNvSpPr txBox="1"/>
          <p:nvPr/>
        </p:nvSpPr>
        <p:spPr>
          <a:xfrm>
            <a:off x="7466849" y="2272238"/>
            <a:ext cx="8657040" cy="662114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200" u="none" cap="none" strike="noStrike">
                <a:solidFill>
                  <a:srgbClr val="FFFFFF"/>
                </a:solidFill>
                <a:latin typeface="Montserrat"/>
                <a:ea typeface="Montserrat"/>
                <a:cs typeface="Montserrat"/>
                <a:sym typeface="Montserrat"/>
              </a:rPr>
              <a:t>K-Nearest Neighbor adalah algoritma klasifikasi berbasis kedekatan atau kemiripan data. Algoritma ini tidak membangun model secara eksplisit, melainkan menyimpan seluruh data latih dan melakukan klasifikasi ketika terdapat data baru.</a:t>
            </a:r>
            <a:endParaRPr/>
          </a:p>
          <a:p>
            <a:pPr indent="0" lvl="0" marL="0" marR="0" rtl="0" algn="just">
              <a:lnSpc>
                <a:spcPct val="140000"/>
              </a:lnSpc>
              <a:spcBef>
                <a:spcPts val="0"/>
              </a:spcBef>
              <a:spcAft>
                <a:spcPts val="0"/>
              </a:spcAft>
              <a:buNone/>
            </a:pPr>
            <a:r>
              <a:t/>
            </a:r>
            <a:endParaRPr b="0" i="0" sz="2200" u="none" cap="none" strike="noStrike">
              <a:solidFill>
                <a:srgbClr val="FFFFFF"/>
              </a:solidFill>
              <a:latin typeface="Montserrat"/>
              <a:ea typeface="Montserrat"/>
              <a:cs typeface="Montserrat"/>
              <a:sym typeface="Montserrat"/>
            </a:endParaRPr>
          </a:p>
          <a:p>
            <a:pPr indent="0" lvl="0" marL="0" marR="0" rtl="0" algn="just">
              <a:lnSpc>
                <a:spcPct val="140000"/>
              </a:lnSpc>
              <a:spcBef>
                <a:spcPts val="0"/>
              </a:spcBef>
              <a:spcAft>
                <a:spcPts val="0"/>
              </a:spcAft>
              <a:buNone/>
            </a:pPr>
            <a:r>
              <a:rPr b="0" i="0" lang="en-US" sz="2200" u="none" cap="none" strike="noStrike">
                <a:solidFill>
                  <a:srgbClr val="FFFFFF"/>
                </a:solidFill>
                <a:latin typeface="Montserrat"/>
                <a:ea typeface="Montserrat"/>
                <a:cs typeface="Montserrat"/>
                <a:sym typeface="Montserrat"/>
              </a:rPr>
              <a:t>Prinsip kerja KNN adalah menentukan kelas suatu data berdasarkan mayoritas kelas dari sejumlah data terdekatnya. Nilai “K” menyatakan jumlah tetangga terdekat yang digunakan sebagai dasar pengambilan keputusan.</a:t>
            </a:r>
            <a:endParaRPr/>
          </a:p>
          <a:p>
            <a:pPr indent="0" lvl="0" marL="0" marR="0" rtl="0" algn="just">
              <a:lnSpc>
                <a:spcPct val="140000"/>
              </a:lnSpc>
              <a:spcBef>
                <a:spcPts val="0"/>
              </a:spcBef>
              <a:spcAft>
                <a:spcPts val="0"/>
              </a:spcAft>
              <a:buNone/>
            </a:pPr>
            <a:r>
              <a:t/>
            </a:r>
            <a:endParaRPr b="0" i="0" sz="2200" u="none" cap="none" strike="noStrike">
              <a:solidFill>
                <a:srgbClr val="FFFFFF"/>
              </a:solidFill>
              <a:latin typeface="Montserrat"/>
              <a:ea typeface="Montserrat"/>
              <a:cs typeface="Montserrat"/>
              <a:sym typeface="Montserrat"/>
            </a:endParaRPr>
          </a:p>
          <a:p>
            <a:pPr indent="0" lvl="0" marL="0" marR="0" rtl="0" algn="just">
              <a:lnSpc>
                <a:spcPct val="140000"/>
              </a:lnSpc>
              <a:spcBef>
                <a:spcPts val="0"/>
              </a:spcBef>
              <a:spcAft>
                <a:spcPts val="0"/>
              </a:spcAft>
              <a:buNone/>
            </a:pPr>
            <a:r>
              <a:rPr b="0" i="0" lang="en-US" sz="2200" u="none" cap="none" strike="noStrike">
                <a:solidFill>
                  <a:srgbClr val="FFFFFF"/>
                </a:solidFill>
                <a:latin typeface="Montserrat"/>
                <a:ea typeface="Montserrat"/>
                <a:cs typeface="Montserrat"/>
                <a:sym typeface="Montserrat"/>
              </a:rPr>
              <a:t>KNN bersifat intuitif dan mudah dipahami, karena konsepnya didasarkan pada asumsi bahwa data yang mirip cenderung memiliki kelas yang sama. Namun, algoritma ini sangat bergantung pada kualitas data dan skala atribut, serta dapat menjadi kurang efisien jika jumlah data sangat besar.</a:t>
            </a:r>
            <a:endParaRPr/>
          </a:p>
          <a:p>
            <a:pPr indent="0" lvl="0" marL="0" marR="0" rtl="0" algn="just">
              <a:lnSpc>
                <a:spcPct val="140000"/>
              </a:lnSpc>
              <a:spcBef>
                <a:spcPts val="0"/>
              </a:spcBef>
              <a:spcAft>
                <a:spcPts val="0"/>
              </a:spcAft>
              <a:buNone/>
            </a:pPr>
            <a:r>
              <a:t/>
            </a:r>
            <a:endParaRPr b="0" i="0" sz="2200" u="none" cap="none" strike="noStrike">
              <a:solidFill>
                <a:srgbClr val="FFFFFF"/>
              </a:solidFill>
              <a:latin typeface="Montserrat"/>
              <a:ea typeface="Montserrat"/>
              <a:cs typeface="Montserrat"/>
              <a:sym typeface="Montserrat"/>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210" name="Google Shape;210;p9"/>
          <p:cNvGrpSpPr/>
          <p:nvPr/>
        </p:nvGrpSpPr>
        <p:grpSpPr>
          <a:xfrm>
            <a:off x="4283122" y="-180826"/>
            <a:ext cx="13932415" cy="10467826"/>
            <a:chOff x="0" y="-47625"/>
            <a:chExt cx="3669443" cy="2756958"/>
          </a:xfrm>
        </p:grpSpPr>
        <p:sp>
          <p:nvSpPr>
            <p:cNvPr id="211" name="Google Shape;211;p9"/>
            <p:cNvSpPr/>
            <p:nvPr/>
          </p:nvSpPr>
          <p:spPr>
            <a:xfrm>
              <a:off x="0" y="0"/>
              <a:ext cx="3669443" cy="2709333"/>
            </a:xfrm>
            <a:custGeom>
              <a:rect b="b" l="l" r="r" t="t"/>
              <a:pathLst>
                <a:path extrusionOk="0" h="2709333" w="3669443">
                  <a:moveTo>
                    <a:pt x="0" y="0"/>
                  </a:moveTo>
                  <a:lnTo>
                    <a:pt x="3669443" y="0"/>
                  </a:lnTo>
                  <a:lnTo>
                    <a:pt x="3669443" y="2709333"/>
                  </a:lnTo>
                  <a:lnTo>
                    <a:pt x="0" y="2709333"/>
                  </a:lnTo>
                  <a:close/>
                </a:path>
              </a:pathLst>
            </a:custGeom>
            <a:solidFill>
              <a:srgbClr val="FAFAFF"/>
            </a:solidFill>
            <a:ln>
              <a:noFill/>
            </a:ln>
          </p:spPr>
        </p:sp>
        <p:sp>
          <p:nvSpPr>
            <p:cNvPr id="212" name="Google Shape;212;p9"/>
            <p:cNvSpPr txBox="1"/>
            <p:nvPr/>
          </p:nvSpPr>
          <p:spPr>
            <a:xfrm>
              <a:off x="0" y="-47625"/>
              <a:ext cx="366944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3" name="Google Shape;213;p9"/>
          <p:cNvSpPr/>
          <p:nvPr/>
        </p:nvSpPr>
        <p:spPr>
          <a:xfrm>
            <a:off x="-390174" y="3162668"/>
            <a:ext cx="7857023" cy="6619542"/>
          </a:xfrm>
          <a:custGeom>
            <a:rect b="b" l="l" r="r" t="t"/>
            <a:pathLst>
              <a:path extrusionOk="0" h="6619542" w="7857023">
                <a:moveTo>
                  <a:pt x="0" y="0"/>
                </a:moveTo>
                <a:lnTo>
                  <a:pt x="7857023" y="0"/>
                </a:lnTo>
                <a:lnTo>
                  <a:pt x="7857023" y="6619542"/>
                </a:lnTo>
                <a:lnTo>
                  <a:pt x="0" y="6619542"/>
                </a:lnTo>
                <a:lnTo>
                  <a:pt x="0" y="0"/>
                </a:lnTo>
                <a:close/>
              </a:path>
            </a:pathLst>
          </a:custGeom>
          <a:blipFill rotWithShape="1">
            <a:blip r:embed="rId4">
              <a:alphaModFix/>
            </a:blip>
            <a:stretch>
              <a:fillRect b="0" l="0" r="0" t="0"/>
            </a:stretch>
          </a:blipFill>
          <a:ln>
            <a:noFill/>
          </a:ln>
        </p:spPr>
      </p:sp>
      <p:sp>
        <p:nvSpPr>
          <p:cNvPr id="214" name="Google Shape;214;p9"/>
          <p:cNvSpPr/>
          <p:nvPr/>
        </p:nvSpPr>
        <p:spPr>
          <a:xfrm>
            <a:off x="14285487" y="9258300"/>
            <a:ext cx="5947625" cy="2076262"/>
          </a:xfrm>
          <a:custGeom>
            <a:rect b="b" l="l" r="r" t="t"/>
            <a:pathLst>
              <a:path extrusionOk="0" h="2076262" w="5947625">
                <a:moveTo>
                  <a:pt x="0" y="0"/>
                </a:moveTo>
                <a:lnTo>
                  <a:pt x="5947626" y="0"/>
                </a:lnTo>
                <a:lnTo>
                  <a:pt x="5947626" y="2076262"/>
                </a:lnTo>
                <a:lnTo>
                  <a:pt x="0" y="2076262"/>
                </a:lnTo>
                <a:lnTo>
                  <a:pt x="0" y="0"/>
                </a:lnTo>
                <a:close/>
              </a:path>
            </a:pathLst>
          </a:custGeom>
          <a:blipFill rotWithShape="1">
            <a:blip r:embed="rId5">
              <a:alphaModFix/>
            </a:blip>
            <a:stretch>
              <a:fillRect b="0" l="0" r="0" t="0"/>
            </a:stretch>
          </a:blipFill>
          <a:ln>
            <a:noFill/>
          </a:ln>
        </p:spPr>
      </p:sp>
      <p:sp>
        <p:nvSpPr>
          <p:cNvPr id="215" name="Google Shape;215;p9"/>
          <p:cNvSpPr txBox="1"/>
          <p:nvPr/>
        </p:nvSpPr>
        <p:spPr>
          <a:xfrm>
            <a:off x="4283122" y="971550"/>
            <a:ext cx="11562567" cy="52133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100" u="none" cap="none" strike="noStrike">
                <a:solidFill>
                  <a:srgbClr val="2F3B69"/>
                </a:solidFill>
                <a:latin typeface="Montserrat"/>
                <a:ea typeface="Montserrat"/>
                <a:cs typeface="Montserrat"/>
                <a:sym typeface="Montserrat"/>
              </a:rPr>
              <a:t>CONTOH KASUS NYATA K-NEAREST NEIGHBOR (KNN)</a:t>
            </a:r>
            <a:endParaRPr/>
          </a:p>
        </p:txBody>
      </p:sp>
      <p:sp>
        <p:nvSpPr>
          <p:cNvPr id="216" name="Google Shape;216;p9"/>
          <p:cNvSpPr/>
          <p:nvPr/>
        </p:nvSpPr>
        <p:spPr>
          <a:xfrm>
            <a:off x="-2223542" y="-1199095"/>
            <a:ext cx="6784865" cy="4130287"/>
          </a:xfrm>
          <a:custGeom>
            <a:rect b="b" l="l" r="r" t="t"/>
            <a:pathLst>
              <a:path extrusionOk="0" h="4130287" w="6784865">
                <a:moveTo>
                  <a:pt x="0" y="0"/>
                </a:moveTo>
                <a:lnTo>
                  <a:pt x="6784865" y="0"/>
                </a:lnTo>
                <a:lnTo>
                  <a:pt x="6784865" y="4130286"/>
                </a:lnTo>
                <a:lnTo>
                  <a:pt x="0" y="4130286"/>
                </a:lnTo>
                <a:lnTo>
                  <a:pt x="0" y="0"/>
                </a:lnTo>
                <a:close/>
              </a:path>
            </a:pathLst>
          </a:custGeom>
          <a:blipFill rotWithShape="1">
            <a:blip r:embed="rId6">
              <a:alphaModFix/>
            </a:blip>
            <a:stretch>
              <a:fillRect b="0" l="0" r="0" t="0"/>
            </a:stretch>
          </a:blipFill>
          <a:ln>
            <a:noFill/>
          </a:ln>
        </p:spPr>
      </p:sp>
      <p:grpSp>
        <p:nvGrpSpPr>
          <p:cNvPr id="217" name="Google Shape;217;p9"/>
          <p:cNvGrpSpPr/>
          <p:nvPr/>
        </p:nvGrpSpPr>
        <p:grpSpPr>
          <a:xfrm>
            <a:off x="17259300" y="-704151"/>
            <a:ext cx="1028700" cy="4031759"/>
            <a:chOff x="0" y="-47625"/>
            <a:chExt cx="270933" cy="1061862"/>
          </a:xfrm>
        </p:grpSpPr>
        <p:sp>
          <p:nvSpPr>
            <p:cNvPr id="218" name="Google Shape;218;p9"/>
            <p:cNvSpPr/>
            <p:nvPr/>
          </p:nvSpPr>
          <p:spPr>
            <a:xfrm>
              <a:off x="0" y="0"/>
              <a:ext cx="270933" cy="1014237"/>
            </a:xfrm>
            <a:custGeom>
              <a:rect b="b" l="l" r="r" t="t"/>
              <a:pathLst>
                <a:path extrusionOk="0" h="1014237" w="270933">
                  <a:moveTo>
                    <a:pt x="0" y="0"/>
                  </a:moveTo>
                  <a:lnTo>
                    <a:pt x="270933" y="0"/>
                  </a:lnTo>
                  <a:lnTo>
                    <a:pt x="270933" y="1014237"/>
                  </a:lnTo>
                  <a:lnTo>
                    <a:pt x="0" y="1014237"/>
                  </a:lnTo>
                  <a:close/>
                </a:path>
              </a:pathLst>
            </a:custGeom>
            <a:solidFill>
              <a:srgbClr val="3E829A"/>
            </a:solidFill>
            <a:ln>
              <a:noFill/>
            </a:ln>
          </p:spPr>
        </p:sp>
        <p:sp>
          <p:nvSpPr>
            <p:cNvPr id="219" name="Google Shape;219;p9"/>
            <p:cNvSpPr txBox="1"/>
            <p:nvPr/>
          </p:nvSpPr>
          <p:spPr>
            <a:xfrm>
              <a:off x="0" y="-47625"/>
              <a:ext cx="270933" cy="1061862"/>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0" name="Google Shape;220;p9"/>
          <p:cNvGrpSpPr/>
          <p:nvPr/>
        </p:nvGrpSpPr>
        <p:grpSpPr>
          <a:xfrm>
            <a:off x="0" y="9601384"/>
            <a:ext cx="5157214" cy="685616"/>
            <a:chOff x="0" y="-47625"/>
            <a:chExt cx="1358279" cy="180574"/>
          </a:xfrm>
        </p:grpSpPr>
        <p:sp>
          <p:nvSpPr>
            <p:cNvPr id="221" name="Google Shape;221;p9"/>
            <p:cNvSpPr/>
            <p:nvPr/>
          </p:nvSpPr>
          <p:spPr>
            <a:xfrm>
              <a:off x="0" y="0"/>
              <a:ext cx="1358279" cy="132949"/>
            </a:xfrm>
            <a:custGeom>
              <a:rect b="b" l="l" r="r" t="t"/>
              <a:pathLst>
                <a:path extrusionOk="0" h="132949" w="1358279">
                  <a:moveTo>
                    <a:pt x="0" y="0"/>
                  </a:moveTo>
                  <a:lnTo>
                    <a:pt x="1358279" y="0"/>
                  </a:lnTo>
                  <a:lnTo>
                    <a:pt x="1358279" y="132949"/>
                  </a:lnTo>
                  <a:lnTo>
                    <a:pt x="0" y="132949"/>
                  </a:lnTo>
                  <a:close/>
                </a:path>
              </a:pathLst>
            </a:custGeom>
            <a:solidFill>
              <a:srgbClr val="3E829A"/>
            </a:solidFill>
            <a:ln>
              <a:noFill/>
            </a:ln>
          </p:spPr>
        </p:sp>
        <p:sp>
          <p:nvSpPr>
            <p:cNvPr id="222" name="Google Shape;222;p9"/>
            <p:cNvSpPr txBox="1"/>
            <p:nvPr/>
          </p:nvSpPr>
          <p:spPr>
            <a:xfrm>
              <a:off x="0" y="-47625"/>
              <a:ext cx="1358279" cy="180574"/>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3" name="Google Shape;223;p9"/>
          <p:cNvGrpSpPr/>
          <p:nvPr/>
        </p:nvGrpSpPr>
        <p:grpSpPr>
          <a:xfrm>
            <a:off x="6934505" y="1876204"/>
            <a:ext cx="9704395" cy="7236919"/>
            <a:chOff x="0" y="-47625"/>
            <a:chExt cx="2555890" cy="1906020"/>
          </a:xfrm>
        </p:grpSpPr>
        <p:sp>
          <p:nvSpPr>
            <p:cNvPr id="224" name="Google Shape;224;p9"/>
            <p:cNvSpPr/>
            <p:nvPr/>
          </p:nvSpPr>
          <p:spPr>
            <a:xfrm>
              <a:off x="0" y="0"/>
              <a:ext cx="2555890" cy="1858395"/>
            </a:xfrm>
            <a:custGeom>
              <a:rect b="b" l="l" r="r" t="t"/>
              <a:pathLst>
                <a:path extrusionOk="0" h="1858395" w="2555890">
                  <a:moveTo>
                    <a:pt x="40687" y="0"/>
                  </a:moveTo>
                  <a:lnTo>
                    <a:pt x="2515204" y="0"/>
                  </a:lnTo>
                  <a:cubicBezTo>
                    <a:pt x="2525994" y="0"/>
                    <a:pt x="2536343" y="4287"/>
                    <a:pt x="2543973" y="11917"/>
                  </a:cubicBezTo>
                  <a:cubicBezTo>
                    <a:pt x="2551604" y="19547"/>
                    <a:pt x="2555890" y="29896"/>
                    <a:pt x="2555890" y="40687"/>
                  </a:cubicBezTo>
                  <a:lnTo>
                    <a:pt x="2555890" y="1817708"/>
                  </a:lnTo>
                  <a:cubicBezTo>
                    <a:pt x="2555890" y="1840179"/>
                    <a:pt x="2537674" y="1858395"/>
                    <a:pt x="2515204" y="1858395"/>
                  </a:cubicBezTo>
                  <a:lnTo>
                    <a:pt x="40687" y="1858395"/>
                  </a:lnTo>
                  <a:cubicBezTo>
                    <a:pt x="18216" y="1858395"/>
                    <a:pt x="0" y="1840179"/>
                    <a:pt x="0" y="1817708"/>
                  </a:cubicBezTo>
                  <a:lnTo>
                    <a:pt x="0" y="40687"/>
                  </a:lnTo>
                  <a:cubicBezTo>
                    <a:pt x="0" y="18216"/>
                    <a:pt x="18216" y="0"/>
                    <a:pt x="40687" y="0"/>
                  </a:cubicBezTo>
                  <a:close/>
                </a:path>
              </a:pathLst>
            </a:custGeom>
            <a:solidFill>
              <a:srgbClr val="0836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txBox="1"/>
            <p:nvPr/>
          </p:nvSpPr>
          <p:spPr>
            <a:xfrm>
              <a:off x="0" y="-47625"/>
              <a:ext cx="2555890" cy="1906020"/>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6" name="Google Shape;226;p9"/>
          <p:cNvSpPr txBox="1"/>
          <p:nvPr/>
        </p:nvSpPr>
        <p:spPr>
          <a:xfrm>
            <a:off x="7466849" y="2272238"/>
            <a:ext cx="8657040" cy="623062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200" u="none" cap="none" strike="noStrike">
                <a:solidFill>
                  <a:srgbClr val="FFFFFF"/>
                </a:solidFill>
                <a:latin typeface="Montserrat"/>
                <a:ea typeface="Montserrat"/>
                <a:cs typeface="Montserrat"/>
                <a:sym typeface="Montserrat"/>
              </a:rPr>
              <a:t>KNN sering digunakan dalam sistem rekomendasi sederhana, misalnya pada penentuan preferensi pelanggan di toko online. Data latih berupa riwayat pelanggan lama, dengan atribut seperti usia, jenis kelamin, frekuensi belanja, dan kategori produk yang sering dibeli. Kelas targetnya dapat berupa kategori minat pelanggan.</a:t>
            </a:r>
            <a:endParaRPr/>
          </a:p>
          <a:p>
            <a:pPr indent="0" lvl="0" marL="0" marR="0" rtl="0" algn="just">
              <a:lnSpc>
                <a:spcPct val="140000"/>
              </a:lnSpc>
              <a:spcBef>
                <a:spcPts val="0"/>
              </a:spcBef>
              <a:spcAft>
                <a:spcPts val="0"/>
              </a:spcAft>
              <a:buNone/>
            </a:pPr>
            <a:r>
              <a:t/>
            </a:r>
            <a:endParaRPr b="0" i="0" sz="2200" u="none" cap="none" strike="noStrike">
              <a:solidFill>
                <a:srgbClr val="FFFFFF"/>
              </a:solidFill>
              <a:latin typeface="Montserrat"/>
              <a:ea typeface="Montserrat"/>
              <a:cs typeface="Montserrat"/>
              <a:sym typeface="Montserrat"/>
            </a:endParaRPr>
          </a:p>
          <a:p>
            <a:pPr indent="0" lvl="0" marL="0" marR="0" rtl="0" algn="just">
              <a:lnSpc>
                <a:spcPct val="140000"/>
              </a:lnSpc>
              <a:spcBef>
                <a:spcPts val="0"/>
              </a:spcBef>
              <a:spcAft>
                <a:spcPts val="0"/>
              </a:spcAft>
              <a:buNone/>
            </a:pPr>
            <a:r>
              <a:rPr b="0" i="0" lang="en-US" sz="2200" u="none" cap="none" strike="noStrike">
                <a:solidFill>
                  <a:srgbClr val="FFFFFF"/>
                </a:solidFill>
                <a:latin typeface="Montserrat"/>
                <a:ea typeface="Montserrat"/>
                <a:cs typeface="Montserrat"/>
                <a:sym typeface="Montserrat"/>
              </a:rPr>
              <a:t>Ketika terdapat pelanggan baru, sistem akan mencari sejumlah pelanggan lama yang paling mirip berdasarkan atribut tersebut. Jika mayoritas pelanggan terdekat memiliki minat pada kategori tertentu, maka pelanggan baru akan diklasifikasikan ke kategori yang sama. Kasus ini menunjukkan bahwa KNN bekerja berdasarkan prinsip kemiripan, bukan berdasarkan model yang dibangun sebelumnya.</a:t>
            </a:r>
            <a:endParaRPr/>
          </a:p>
          <a:p>
            <a:pPr indent="0" lvl="0" marL="0" marR="0" rtl="0" algn="just">
              <a:lnSpc>
                <a:spcPct val="140000"/>
              </a:lnSpc>
              <a:spcBef>
                <a:spcPts val="0"/>
              </a:spcBef>
              <a:spcAft>
                <a:spcPts val="0"/>
              </a:spcAft>
              <a:buNone/>
            </a:pPr>
            <a:r>
              <a:t/>
            </a:r>
            <a:endParaRPr b="0" i="0" sz="2200" u="none" cap="none" strike="noStrike">
              <a:solidFill>
                <a:srgbClr val="FFFFFF"/>
              </a:solidFill>
              <a:latin typeface="Montserrat"/>
              <a:ea typeface="Montserrat"/>
              <a:cs typeface="Montserrat"/>
              <a:sym typeface="Montserrat"/>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sp>
        <p:nvSpPr>
          <p:cNvPr id="232" name="Google Shape;232;p10"/>
          <p:cNvSpPr/>
          <p:nvPr/>
        </p:nvSpPr>
        <p:spPr>
          <a:xfrm>
            <a:off x="-2815285" y="-1634682"/>
            <a:ext cx="8151606" cy="4962290"/>
          </a:xfrm>
          <a:custGeom>
            <a:rect b="b" l="l" r="r" t="t"/>
            <a:pathLst>
              <a:path extrusionOk="0" h="4962290" w="8151606">
                <a:moveTo>
                  <a:pt x="0" y="0"/>
                </a:moveTo>
                <a:lnTo>
                  <a:pt x="8151606" y="0"/>
                </a:lnTo>
                <a:lnTo>
                  <a:pt x="8151606" y="4962290"/>
                </a:lnTo>
                <a:lnTo>
                  <a:pt x="0" y="4962290"/>
                </a:lnTo>
                <a:lnTo>
                  <a:pt x="0" y="0"/>
                </a:lnTo>
                <a:close/>
              </a:path>
            </a:pathLst>
          </a:custGeom>
          <a:blipFill rotWithShape="1">
            <a:blip r:embed="rId4">
              <a:alphaModFix/>
            </a:blip>
            <a:stretch>
              <a:fillRect b="0" l="0" r="0" t="0"/>
            </a:stretch>
          </a:blipFill>
          <a:ln>
            <a:noFill/>
          </a:ln>
        </p:spPr>
      </p:sp>
      <p:grpSp>
        <p:nvGrpSpPr>
          <p:cNvPr id="233" name="Google Shape;233;p10"/>
          <p:cNvGrpSpPr/>
          <p:nvPr/>
        </p:nvGrpSpPr>
        <p:grpSpPr>
          <a:xfrm>
            <a:off x="12585917" y="-180826"/>
            <a:ext cx="5629620" cy="10467826"/>
            <a:chOff x="0" y="-47625"/>
            <a:chExt cx="1482698" cy="2756958"/>
          </a:xfrm>
        </p:grpSpPr>
        <p:sp>
          <p:nvSpPr>
            <p:cNvPr id="234" name="Google Shape;234;p10"/>
            <p:cNvSpPr/>
            <p:nvPr/>
          </p:nvSpPr>
          <p:spPr>
            <a:xfrm>
              <a:off x="0" y="0"/>
              <a:ext cx="1482698" cy="2709333"/>
            </a:xfrm>
            <a:custGeom>
              <a:rect b="b" l="l" r="r" t="t"/>
              <a:pathLst>
                <a:path extrusionOk="0" h="2709333" w="1482698">
                  <a:moveTo>
                    <a:pt x="0" y="0"/>
                  </a:moveTo>
                  <a:lnTo>
                    <a:pt x="1482698" y="0"/>
                  </a:lnTo>
                  <a:lnTo>
                    <a:pt x="1482698" y="2709333"/>
                  </a:lnTo>
                  <a:lnTo>
                    <a:pt x="0" y="2709333"/>
                  </a:lnTo>
                  <a:close/>
                </a:path>
              </a:pathLst>
            </a:custGeom>
            <a:solidFill>
              <a:srgbClr val="FAFAFF"/>
            </a:solidFill>
            <a:ln>
              <a:noFill/>
            </a:ln>
          </p:spPr>
        </p:sp>
        <p:sp>
          <p:nvSpPr>
            <p:cNvPr id="235" name="Google Shape;235;p10"/>
            <p:cNvSpPr txBox="1"/>
            <p:nvPr/>
          </p:nvSpPr>
          <p:spPr>
            <a:xfrm>
              <a:off x="0" y="-47625"/>
              <a:ext cx="148269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6" name="Google Shape;236;p10"/>
          <p:cNvSpPr/>
          <p:nvPr/>
        </p:nvSpPr>
        <p:spPr>
          <a:xfrm>
            <a:off x="14026831" y="8668637"/>
            <a:ext cx="5947625" cy="2076262"/>
          </a:xfrm>
          <a:custGeom>
            <a:rect b="b" l="l" r="r" t="t"/>
            <a:pathLst>
              <a:path extrusionOk="0" h="2076262" w="5947625">
                <a:moveTo>
                  <a:pt x="0" y="0"/>
                </a:moveTo>
                <a:lnTo>
                  <a:pt x="5947625" y="0"/>
                </a:lnTo>
                <a:lnTo>
                  <a:pt x="5947625" y="2076262"/>
                </a:lnTo>
                <a:lnTo>
                  <a:pt x="0" y="2076262"/>
                </a:lnTo>
                <a:lnTo>
                  <a:pt x="0" y="0"/>
                </a:lnTo>
                <a:close/>
              </a:path>
            </a:pathLst>
          </a:custGeom>
          <a:blipFill rotWithShape="1">
            <a:blip r:embed="rId5">
              <a:alphaModFix/>
            </a:blip>
            <a:stretch>
              <a:fillRect b="0" l="0" r="0" t="0"/>
            </a:stretch>
          </a:blipFill>
          <a:ln>
            <a:noFill/>
          </a:ln>
        </p:spPr>
      </p:sp>
      <p:grpSp>
        <p:nvGrpSpPr>
          <p:cNvPr id="237" name="Google Shape;237;p10"/>
          <p:cNvGrpSpPr/>
          <p:nvPr/>
        </p:nvGrpSpPr>
        <p:grpSpPr>
          <a:xfrm>
            <a:off x="17259300" y="-704151"/>
            <a:ext cx="1028700" cy="4031759"/>
            <a:chOff x="0" y="-47625"/>
            <a:chExt cx="270933" cy="1061862"/>
          </a:xfrm>
        </p:grpSpPr>
        <p:sp>
          <p:nvSpPr>
            <p:cNvPr id="238" name="Google Shape;238;p10"/>
            <p:cNvSpPr/>
            <p:nvPr/>
          </p:nvSpPr>
          <p:spPr>
            <a:xfrm>
              <a:off x="0" y="0"/>
              <a:ext cx="270933" cy="1014237"/>
            </a:xfrm>
            <a:custGeom>
              <a:rect b="b" l="l" r="r" t="t"/>
              <a:pathLst>
                <a:path extrusionOk="0" h="1014237" w="270933">
                  <a:moveTo>
                    <a:pt x="0" y="0"/>
                  </a:moveTo>
                  <a:lnTo>
                    <a:pt x="270933" y="0"/>
                  </a:lnTo>
                  <a:lnTo>
                    <a:pt x="270933" y="1014237"/>
                  </a:lnTo>
                  <a:lnTo>
                    <a:pt x="0" y="1014237"/>
                  </a:lnTo>
                  <a:close/>
                </a:path>
              </a:pathLst>
            </a:custGeom>
            <a:solidFill>
              <a:srgbClr val="3E829A"/>
            </a:solidFill>
            <a:ln>
              <a:noFill/>
            </a:ln>
          </p:spPr>
        </p:sp>
        <p:sp>
          <p:nvSpPr>
            <p:cNvPr id="239" name="Google Shape;239;p10"/>
            <p:cNvSpPr txBox="1"/>
            <p:nvPr/>
          </p:nvSpPr>
          <p:spPr>
            <a:xfrm>
              <a:off x="0" y="-47625"/>
              <a:ext cx="270933" cy="1061862"/>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0" name="Google Shape;240;p10"/>
          <p:cNvGrpSpPr/>
          <p:nvPr/>
        </p:nvGrpSpPr>
        <p:grpSpPr>
          <a:xfrm>
            <a:off x="0" y="9601384"/>
            <a:ext cx="4585172" cy="685616"/>
            <a:chOff x="0" y="-47625"/>
            <a:chExt cx="1207617" cy="180574"/>
          </a:xfrm>
        </p:grpSpPr>
        <p:sp>
          <p:nvSpPr>
            <p:cNvPr id="241" name="Google Shape;241;p10"/>
            <p:cNvSpPr/>
            <p:nvPr/>
          </p:nvSpPr>
          <p:spPr>
            <a:xfrm>
              <a:off x="0" y="0"/>
              <a:ext cx="1207617" cy="132949"/>
            </a:xfrm>
            <a:custGeom>
              <a:rect b="b" l="l" r="r" t="t"/>
              <a:pathLst>
                <a:path extrusionOk="0" h="132949" w="1207617">
                  <a:moveTo>
                    <a:pt x="0" y="0"/>
                  </a:moveTo>
                  <a:lnTo>
                    <a:pt x="1207617" y="0"/>
                  </a:lnTo>
                  <a:lnTo>
                    <a:pt x="1207617" y="132949"/>
                  </a:lnTo>
                  <a:lnTo>
                    <a:pt x="0" y="132949"/>
                  </a:lnTo>
                  <a:close/>
                </a:path>
              </a:pathLst>
            </a:custGeom>
            <a:solidFill>
              <a:srgbClr val="3E829A"/>
            </a:solidFill>
            <a:ln>
              <a:noFill/>
            </a:ln>
          </p:spPr>
        </p:sp>
        <p:sp>
          <p:nvSpPr>
            <p:cNvPr id="242" name="Google Shape;242;p10"/>
            <p:cNvSpPr txBox="1"/>
            <p:nvPr/>
          </p:nvSpPr>
          <p:spPr>
            <a:xfrm>
              <a:off x="0" y="-47625"/>
              <a:ext cx="1207617" cy="180574"/>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3" name="Google Shape;243;p10"/>
          <p:cNvSpPr/>
          <p:nvPr/>
        </p:nvSpPr>
        <p:spPr>
          <a:xfrm flipH="1">
            <a:off x="-1682577" y="2626720"/>
            <a:ext cx="8524795" cy="6631580"/>
          </a:xfrm>
          <a:custGeom>
            <a:rect b="b" l="l" r="r" t="t"/>
            <a:pathLst>
              <a:path extrusionOk="0" h="6631580" w="8524795">
                <a:moveTo>
                  <a:pt x="8524795" y="0"/>
                </a:moveTo>
                <a:lnTo>
                  <a:pt x="0" y="0"/>
                </a:lnTo>
                <a:lnTo>
                  <a:pt x="0" y="6631580"/>
                </a:lnTo>
                <a:lnTo>
                  <a:pt x="8524795" y="6631580"/>
                </a:lnTo>
                <a:lnTo>
                  <a:pt x="8524795" y="0"/>
                </a:lnTo>
                <a:close/>
              </a:path>
            </a:pathLst>
          </a:custGeom>
          <a:blipFill rotWithShape="1">
            <a:blip r:embed="rId6">
              <a:alphaModFix/>
            </a:blip>
            <a:stretch>
              <a:fillRect b="0" l="0" r="0" t="0"/>
            </a:stretch>
          </a:blipFill>
          <a:ln>
            <a:noFill/>
          </a:ln>
        </p:spPr>
      </p:sp>
      <p:sp>
        <p:nvSpPr>
          <p:cNvPr id="244" name="Google Shape;244;p10"/>
          <p:cNvSpPr txBox="1"/>
          <p:nvPr/>
        </p:nvSpPr>
        <p:spPr>
          <a:xfrm>
            <a:off x="7192494" y="1440242"/>
            <a:ext cx="8951317" cy="753999"/>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5200" u="none" cap="none" strike="noStrike">
                <a:solidFill>
                  <a:srgbClr val="2F3B69"/>
                </a:solidFill>
                <a:latin typeface="Montserrat"/>
                <a:ea typeface="Montserrat"/>
                <a:cs typeface="Montserrat"/>
                <a:sym typeface="Montserrat"/>
              </a:rPr>
              <a:t>NAIVE BAYES</a:t>
            </a:r>
            <a:endParaRPr/>
          </a:p>
        </p:txBody>
      </p:sp>
      <p:sp>
        <p:nvSpPr>
          <p:cNvPr id="245" name="Google Shape;245;p10"/>
          <p:cNvSpPr txBox="1"/>
          <p:nvPr/>
        </p:nvSpPr>
        <p:spPr>
          <a:xfrm>
            <a:off x="7192494" y="2691338"/>
            <a:ext cx="9287393" cy="7101840"/>
          </a:xfrm>
          <a:prstGeom prst="rect">
            <a:avLst/>
          </a:prstGeom>
          <a:noFill/>
          <a:ln>
            <a:noFill/>
          </a:ln>
        </p:spPr>
        <p:txBody>
          <a:bodyPr anchorCtr="0" anchor="t" bIns="0" lIns="0" spcFirstLastPara="1" rIns="0" wrap="square" tIns="0">
            <a:spAutoFit/>
          </a:bodyPr>
          <a:lstStyle/>
          <a:p>
            <a:pPr indent="0" lvl="0" marL="0" marR="0" rtl="0" algn="just">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Naive Bayes merupakan algoritma klasifikasi yang didasarkan pada teori probabilitas, khususnya Teorema Bayes. Algoritma ini menghitung probabilitas suatu data termasuk ke dalam kelas tertentu berdasarkan atribut-atribut yang dimilikinya.</a:t>
            </a:r>
            <a:endParaRPr/>
          </a:p>
          <a:p>
            <a:pPr indent="0" lvl="0" marL="0" marR="0" rtl="0" algn="just">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a:p>
            <a:pPr indent="0" lvl="0" marL="0" marR="0" rtl="0" algn="just">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Disebut “naive” karena algoritma ini mengasumsikan bahwa setiap atribut bersifat independen satu sama lain. Meskipun asumsi ini sering kali tidak sepenuhnya sesuai dengan kondisi nyata, Naive Bayes tetap menunjukkan performa yang baik pada banyak kasus.</a:t>
            </a:r>
            <a:endParaRPr/>
          </a:p>
          <a:p>
            <a:pPr indent="0" lvl="0" marL="0" marR="0" rtl="0" algn="just">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a:p>
            <a:pPr indent="0" lvl="0" marL="0" marR="0" rtl="0" algn="just">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Naive Bayes dikenal sebagai algoritma yang sederhana, cepat, dan efisien, terutama untuk data berukuran besar dan data berbasis teks, seperti klasifikasi email spam atau analisis sentimen.</a:t>
            </a:r>
            <a:endParaRPr/>
          </a:p>
          <a:p>
            <a:pPr indent="0" lvl="0" marL="0" marR="0" rtl="0" algn="just">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sp>
        <p:nvSpPr>
          <p:cNvPr id="251" name="Google Shape;251;p11"/>
          <p:cNvSpPr/>
          <p:nvPr/>
        </p:nvSpPr>
        <p:spPr>
          <a:xfrm>
            <a:off x="-2815285" y="-1634682"/>
            <a:ext cx="8151606" cy="4962290"/>
          </a:xfrm>
          <a:custGeom>
            <a:rect b="b" l="l" r="r" t="t"/>
            <a:pathLst>
              <a:path extrusionOk="0" h="4962290" w="8151606">
                <a:moveTo>
                  <a:pt x="0" y="0"/>
                </a:moveTo>
                <a:lnTo>
                  <a:pt x="8151606" y="0"/>
                </a:lnTo>
                <a:lnTo>
                  <a:pt x="8151606" y="4962290"/>
                </a:lnTo>
                <a:lnTo>
                  <a:pt x="0" y="4962290"/>
                </a:lnTo>
                <a:lnTo>
                  <a:pt x="0" y="0"/>
                </a:lnTo>
                <a:close/>
              </a:path>
            </a:pathLst>
          </a:custGeom>
          <a:blipFill rotWithShape="1">
            <a:blip r:embed="rId4">
              <a:alphaModFix/>
            </a:blip>
            <a:stretch>
              <a:fillRect b="0" l="0" r="0" t="0"/>
            </a:stretch>
          </a:blipFill>
          <a:ln>
            <a:noFill/>
          </a:ln>
        </p:spPr>
      </p:sp>
      <p:grpSp>
        <p:nvGrpSpPr>
          <p:cNvPr id="252" name="Google Shape;252;p11"/>
          <p:cNvGrpSpPr/>
          <p:nvPr/>
        </p:nvGrpSpPr>
        <p:grpSpPr>
          <a:xfrm>
            <a:off x="12585917" y="-180826"/>
            <a:ext cx="5629620" cy="10467826"/>
            <a:chOff x="0" y="-47625"/>
            <a:chExt cx="1482698" cy="2756958"/>
          </a:xfrm>
        </p:grpSpPr>
        <p:sp>
          <p:nvSpPr>
            <p:cNvPr id="253" name="Google Shape;253;p11"/>
            <p:cNvSpPr/>
            <p:nvPr/>
          </p:nvSpPr>
          <p:spPr>
            <a:xfrm>
              <a:off x="0" y="0"/>
              <a:ext cx="1482698" cy="2709333"/>
            </a:xfrm>
            <a:custGeom>
              <a:rect b="b" l="l" r="r" t="t"/>
              <a:pathLst>
                <a:path extrusionOk="0" h="2709333" w="1482698">
                  <a:moveTo>
                    <a:pt x="0" y="0"/>
                  </a:moveTo>
                  <a:lnTo>
                    <a:pt x="1482698" y="0"/>
                  </a:lnTo>
                  <a:lnTo>
                    <a:pt x="1482698" y="2709333"/>
                  </a:lnTo>
                  <a:lnTo>
                    <a:pt x="0" y="2709333"/>
                  </a:lnTo>
                  <a:close/>
                </a:path>
              </a:pathLst>
            </a:custGeom>
            <a:solidFill>
              <a:srgbClr val="FAFAFF"/>
            </a:solidFill>
            <a:ln>
              <a:noFill/>
            </a:ln>
          </p:spPr>
        </p:sp>
        <p:sp>
          <p:nvSpPr>
            <p:cNvPr id="254" name="Google Shape;254;p11"/>
            <p:cNvSpPr txBox="1"/>
            <p:nvPr/>
          </p:nvSpPr>
          <p:spPr>
            <a:xfrm>
              <a:off x="0" y="-47625"/>
              <a:ext cx="148269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5" name="Google Shape;255;p11"/>
          <p:cNvSpPr/>
          <p:nvPr/>
        </p:nvSpPr>
        <p:spPr>
          <a:xfrm>
            <a:off x="14026831" y="8668637"/>
            <a:ext cx="5947625" cy="2076262"/>
          </a:xfrm>
          <a:custGeom>
            <a:rect b="b" l="l" r="r" t="t"/>
            <a:pathLst>
              <a:path extrusionOk="0" h="2076262" w="5947625">
                <a:moveTo>
                  <a:pt x="0" y="0"/>
                </a:moveTo>
                <a:lnTo>
                  <a:pt x="5947625" y="0"/>
                </a:lnTo>
                <a:lnTo>
                  <a:pt x="5947625" y="2076262"/>
                </a:lnTo>
                <a:lnTo>
                  <a:pt x="0" y="2076262"/>
                </a:lnTo>
                <a:lnTo>
                  <a:pt x="0" y="0"/>
                </a:lnTo>
                <a:close/>
              </a:path>
            </a:pathLst>
          </a:custGeom>
          <a:blipFill rotWithShape="1">
            <a:blip r:embed="rId5">
              <a:alphaModFix/>
            </a:blip>
            <a:stretch>
              <a:fillRect b="0" l="0" r="0" t="0"/>
            </a:stretch>
          </a:blipFill>
          <a:ln>
            <a:noFill/>
          </a:ln>
        </p:spPr>
      </p:sp>
      <p:grpSp>
        <p:nvGrpSpPr>
          <p:cNvPr id="256" name="Google Shape;256;p11"/>
          <p:cNvGrpSpPr/>
          <p:nvPr/>
        </p:nvGrpSpPr>
        <p:grpSpPr>
          <a:xfrm>
            <a:off x="17259300" y="-704151"/>
            <a:ext cx="1028700" cy="4031759"/>
            <a:chOff x="0" y="-47625"/>
            <a:chExt cx="270933" cy="1061862"/>
          </a:xfrm>
        </p:grpSpPr>
        <p:sp>
          <p:nvSpPr>
            <p:cNvPr id="257" name="Google Shape;257;p11"/>
            <p:cNvSpPr/>
            <p:nvPr/>
          </p:nvSpPr>
          <p:spPr>
            <a:xfrm>
              <a:off x="0" y="0"/>
              <a:ext cx="270933" cy="1014237"/>
            </a:xfrm>
            <a:custGeom>
              <a:rect b="b" l="l" r="r" t="t"/>
              <a:pathLst>
                <a:path extrusionOk="0" h="1014237" w="270933">
                  <a:moveTo>
                    <a:pt x="0" y="0"/>
                  </a:moveTo>
                  <a:lnTo>
                    <a:pt x="270933" y="0"/>
                  </a:lnTo>
                  <a:lnTo>
                    <a:pt x="270933" y="1014237"/>
                  </a:lnTo>
                  <a:lnTo>
                    <a:pt x="0" y="1014237"/>
                  </a:lnTo>
                  <a:close/>
                </a:path>
              </a:pathLst>
            </a:custGeom>
            <a:solidFill>
              <a:srgbClr val="3E829A"/>
            </a:solidFill>
            <a:ln>
              <a:noFill/>
            </a:ln>
          </p:spPr>
        </p:sp>
        <p:sp>
          <p:nvSpPr>
            <p:cNvPr id="258" name="Google Shape;258;p11"/>
            <p:cNvSpPr txBox="1"/>
            <p:nvPr/>
          </p:nvSpPr>
          <p:spPr>
            <a:xfrm>
              <a:off x="0" y="-47625"/>
              <a:ext cx="270933" cy="1061862"/>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9" name="Google Shape;259;p11"/>
          <p:cNvGrpSpPr/>
          <p:nvPr/>
        </p:nvGrpSpPr>
        <p:grpSpPr>
          <a:xfrm>
            <a:off x="0" y="9601384"/>
            <a:ext cx="4585172" cy="685616"/>
            <a:chOff x="0" y="-47625"/>
            <a:chExt cx="1207617" cy="180574"/>
          </a:xfrm>
        </p:grpSpPr>
        <p:sp>
          <p:nvSpPr>
            <p:cNvPr id="260" name="Google Shape;260;p11"/>
            <p:cNvSpPr/>
            <p:nvPr/>
          </p:nvSpPr>
          <p:spPr>
            <a:xfrm>
              <a:off x="0" y="0"/>
              <a:ext cx="1207617" cy="132949"/>
            </a:xfrm>
            <a:custGeom>
              <a:rect b="b" l="l" r="r" t="t"/>
              <a:pathLst>
                <a:path extrusionOk="0" h="132949" w="1207617">
                  <a:moveTo>
                    <a:pt x="0" y="0"/>
                  </a:moveTo>
                  <a:lnTo>
                    <a:pt x="1207617" y="0"/>
                  </a:lnTo>
                  <a:lnTo>
                    <a:pt x="1207617" y="132949"/>
                  </a:lnTo>
                  <a:lnTo>
                    <a:pt x="0" y="132949"/>
                  </a:lnTo>
                  <a:close/>
                </a:path>
              </a:pathLst>
            </a:custGeom>
            <a:solidFill>
              <a:srgbClr val="3E829A"/>
            </a:solidFill>
            <a:ln>
              <a:noFill/>
            </a:ln>
          </p:spPr>
        </p:sp>
        <p:sp>
          <p:nvSpPr>
            <p:cNvPr id="261" name="Google Shape;261;p11"/>
            <p:cNvSpPr txBox="1"/>
            <p:nvPr/>
          </p:nvSpPr>
          <p:spPr>
            <a:xfrm>
              <a:off x="0" y="-47625"/>
              <a:ext cx="1207617" cy="180574"/>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2" name="Google Shape;262;p11"/>
          <p:cNvSpPr/>
          <p:nvPr/>
        </p:nvSpPr>
        <p:spPr>
          <a:xfrm>
            <a:off x="-613986" y="2946716"/>
            <a:ext cx="7395841" cy="5306516"/>
          </a:xfrm>
          <a:custGeom>
            <a:rect b="b" l="l" r="r" t="t"/>
            <a:pathLst>
              <a:path extrusionOk="0" h="5306516" w="7395841">
                <a:moveTo>
                  <a:pt x="0" y="0"/>
                </a:moveTo>
                <a:lnTo>
                  <a:pt x="7395841" y="0"/>
                </a:lnTo>
                <a:lnTo>
                  <a:pt x="7395841" y="5306515"/>
                </a:lnTo>
                <a:lnTo>
                  <a:pt x="0" y="5306515"/>
                </a:lnTo>
                <a:lnTo>
                  <a:pt x="0" y="0"/>
                </a:lnTo>
                <a:close/>
              </a:path>
            </a:pathLst>
          </a:custGeom>
          <a:blipFill rotWithShape="1">
            <a:blip r:embed="rId6">
              <a:alphaModFix/>
            </a:blip>
            <a:stretch>
              <a:fillRect b="0" l="0" r="0" t="0"/>
            </a:stretch>
          </a:blipFill>
          <a:ln>
            <a:noFill/>
          </a:ln>
        </p:spPr>
      </p:sp>
      <p:sp>
        <p:nvSpPr>
          <p:cNvPr id="263" name="Google Shape;263;p11"/>
          <p:cNvSpPr txBox="1"/>
          <p:nvPr/>
        </p:nvSpPr>
        <p:spPr>
          <a:xfrm>
            <a:off x="7192494" y="1440242"/>
            <a:ext cx="8951317" cy="150647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5200" u="none" cap="none" strike="noStrike">
                <a:solidFill>
                  <a:srgbClr val="2F3B69"/>
                </a:solidFill>
                <a:latin typeface="Montserrat"/>
                <a:ea typeface="Montserrat"/>
                <a:cs typeface="Montserrat"/>
                <a:sym typeface="Montserrat"/>
              </a:rPr>
              <a:t>CONTOH KASUS NAIVE BAYES</a:t>
            </a:r>
            <a:endParaRPr/>
          </a:p>
        </p:txBody>
      </p:sp>
      <p:sp>
        <p:nvSpPr>
          <p:cNvPr id="264" name="Google Shape;264;p11"/>
          <p:cNvSpPr txBox="1"/>
          <p:nvPr/>
        </p:nvSpPr>
        <p:spPr>
          <a:xfrm>
            <a:off x="7192494" y="3243197"/>
            <a:ext cx="9287393" cy="5844540"/>
          </a:xfrm>
          <a:prstGeom prst="rect">
            <a:avLst/>
          </a:prstGeom>
          <a:noFill/>
          <a:ln>
            <a:noFill/>
          </a:ln>
        </p:spPr>
        <p:txBody>
          <a:bodyPr anchorCtr="0" anchor="t" bIns="0" lIns="0" spcFirstLastPara="1" rIns="0" wrap="square" tIns="0">
            <a:spAutoFit/>
          </a:bodyPr>
          <a:lstStyle/>
          <a:p>
            <a:pPr indent="0" lvl="0" marL="0" marR="0" rtl="0" algn="just">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Naive Bayes sangat populer dalam klasifikasi email spam dan non-spam. Pada kasus ini, data latih berupa kumpulan email yang telah diberi label “Spam” atau “Non-Spam”. Atribut yang digunakan biasanya berupa kata-kata yang muncul dalam email tersebut.</a:t>
            </a:r>
            <a:endParaRPr/>
          </a:p>
          <a:p>
            <a:pPr indent="0" lvl="0" marL="0" marR="0" rtl="0" algn="just">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a:p>
            <a:pPr indent="0" lvl="0" marL="0" marR="0" rtl="0" algn="just">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Algoritma Naive Bayes akan menghitung probabilitas sebuah email termasuk kategori spam berdasarkan kemunculan kata-kata tertentu, dengan asumsi bahwa setiap kata bersifat independen. Meskipun asumsi tersebut sederhana, algoritma ini terbukti efektif dan efisien untuk klasifikasi teks dalam jumlah besar, sehingga banyak digunakan pada sistem email modern.</a:t>
            </a:r>
            <a:endParaRPr/>
          </a:p>
          <a:p>
            <a:pPr indent="0" lvl="0" marL="0" marR="0" rtl="0" algn="just">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270" name="Google Shape;270;p12"/>
          <p:cNvGrpSpPr/>
          <p:nvPr/>
        </p:nvGrpSpPr>
        <p:grpSpPr>
          <a:xfrm>
            <a:off x="12018409" y="-180826"/>
            <a:ext cx="6197128" cy="10467826"/>
            <a:chOff x="0" y="-47625"/>
            <a:chExt cx="1632165" cy="2756958"/>
          </a:xfrm>
        </p:grpSpPr>
        <p:sp>
          <p:nvSpPr>
            <p:cNvPr id="271" name="Google Shape;271;p12"/>
            <p:cNvSpPr/>
            <p:nvPr/>
          </p:nvSpPr>
          <p:spPr>
            <a:xfrm>
              <a:off x="0" y="0"/>
              <a:ext cx="1632165" cy="2709333"/>
            </a:xfrm>
            <a:custGeom>
              <a:rect b="b" l="l" r="r" t="t"/>
              <a:pathLst>
                <a:path extrusionOk="0" h="2709333" w="1632165">
                  <a:moveTo>
                    <a:pt x="0" y="0"/>
                  </a:moveTo>
                  <a:lnTo>
                    <a:pt x="1632165" y="0"/>
                  </a:lnTo>
                  <a:lnTo>
                    <a:pt x="1632165" y="2709333"/>
                  </a:lnTo>
                  <a:lnTo>
                    <a:pt x="0" y="2709333"/>
                  </a:lnTo>
                  <a:close/>
                </a:path>
              </a:pathLst>
            </a:custGeom>
            <a:solidFill>
              <a:srgbClr val="FAFAFF"/>
            </a:solidFill>
            <a:ln>
              <a:noFill/>
            </a:ln>
          </p:spPr>
        </p:sp>
        <p:sp>
          <p:nvSpPr>
            <p:cNvPr id="272" name="Google Shape;272;p12"/>
            <p:cNvSpPr txBox="1"/>
            <p:nvPr/>
          </p:nvSpPr>
          <p:spPr>
            <a:xfrm>
              <a:off x="0" y="-47625"/>
              <a:ext cx="1632165"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3" name="Google Shape;273;p12"/>
          <p:cNvSpPr/>
          <p:nvPr/>
        </p:nvSpPr>
        <p:spPr>
          <a:xfrm>
            <a:off x="10866681" y="1740004"/>
            <a:ext cx="7820093" cy="7292237"/>
          </a:xfrm>
          <a:custGeom>
            <a:rect b="b" l="l" r="r" t="t"/>
            <a:pathLst>
              <a:path extrusionOk="0" h="7292237" w="7820093">
                <a:moveTo>
                  <a:pt x="0" y="0"/>
                </a:moveTo>
                <a:lnTo>
                  <a:pt x="7820094" y="0"/>
                </a:lnTo>
                <a:lnTo>
                  <a:pt x="7820094" y="7292237"/>
                </a:lnTo>
                <a:lnTo>
                  <a:pt x="0" y="7292237"/>
                </a:lnTo>
                <a:lnTo>
                  <a:pt x="0" y="0"/>
                </a:lnTo>
                <a:close/>
              </a:path>
            </a:pathLst>
          </a:custGeom>
          <a:blipFill rotWithShape="1">
            <a:blip r:embed="rId4">
              <a:alphaModFix/>
            </a:blip>
            <a:stretch>
              <a:fillRect b="0" l="0" r="0" t="0"/>
            </a:stretch>
          </a:blipFill>
          <a:ln>
            <a:noFill/>
          </a:ln>
        </p:spPr>
      </p:sp>
      <p:sp>
        <p:nvSpPr>
          <p:cNvPr id="274" name="Google Shape;274;p12"/>
          <p:cNvSpPr txBox="1"/>
          <p:nvPr/>
        </p:nvSpPr>
        <p:spPr>
          <a:xfrm>
            <a:off x="1490965" y="1281359"/>
            <a:ext cx="8838680" cy="1623822"/>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5600" u="none" cap="none" strike="noStrike">
                <a:solidFill>
                  <a:srgbClr val="2F3B69"/>
                </a:solidFill>
                <a:latin typeface="Montserrat"/>
                <a:ea typeface="Montserrat"/>
                <a:cs typeface="Montserrat"/>
                <a:sym typeface="Montserrat"/>
              </a:rPr>
              <a:t>RINGKASAN KONTEKSTUAL KASUS</a:t>
            </a:r>
            <a:endParaRPr/>
          </a:p>
        </p:txBody>
      </p:sp>
      <p:sp>
        <p:nvSpPr>
          <p:cNvPr id="275" name="Google Shape;275;p12"/>
          <p:cNvSpPr txBox="1"/>
          <p:nvPr/>
        </p:nvSpPr>
        <p:spPr>
          <a:xfrm>
            <a:off x="1490965" y="3181977"/>
            <a:ext cx="9375716" cy="5683250"/>
          </a:xfrm>
          <a:prstGeom prst="rect">
            <a:avLst/>
          </a:prstGeom>
          <a:noFill/>
          <a:ln>
            <a:noFill/>
          </a:ln>
        </p:spPr>
        <p:txBody>
          <a:bodyPr anchorCtr="0" anchor="t" bIns="0" lIns="0" spcFirstLastPara="1" rIns="0" wrap="square" tIns="0">
            <a:spAutoFit/>
          </a:bodyPr>
          <a:lstStyle/>
          <a:p>
            <a:pPr indent="0" lvl="0" marL="0" marR="0" rtl="0" algn="l">
              <a:lnSpc>
                <a:spcPct val="151020"/>
              </a:lnSpc>
              <a:spcBef>
                <a:spcPts val="0"/>
              </a:spcBef>
              <a:spcAft>
                <a:spcPts val="0"/>
              </a:spcAft>
              <a:buNone/>
            </a:pPr>
            <a:r>
              <a:rPr b="0" i="0" lang="en-US" sz="2499" u="none" cap="none" strike="noStrike">
                <a:solidFill>
                  <a:srgbClr val="162651"/>
                </a:solidFill>
                <a:latin typeface="Montserrat"/>
                <a:ea typeface="Montserrat"/>
                <a:cs typeface="Montserrat"/>
                <a:sym typeface="Montserrat"/>
              </a:rPr>
              <a:t>Dari ketiga contoh tersebut dapat disimpulkan bahwa Decision Tree cocok digunakan ketika transparansi keputusan menjadi prioritas.</a:t>
            </a:r>
            <a:endParaRPr/>
          </a:p>
          <a:p>
            <a:pPr indent="0" lvl="0" marL="0" marR="0" rtl="0" algn="l">
              <a:lnSpc>
                <a:spcPct val="151020"/>
              </a:lnSpc>
              <a:spcBef>
                <a:spcPts val="0"/>
              </a:spcBef>
              <a:spcAft>
                <a:spcPts val="0"/>
              </a:spcAft>
              <a:buNone/>
            </a:pPr>
            <a:r>
              <a:t/>
            </a:r>
            <a:endParaRPr b="0" i="0" sz="2499" u="none" cap="none" strike="noStrike">
              <a:solidFill>
                <a:srgbClr val="162651"/>
              </a:solidFill>
              <a:latin typeface="Montserrat"/>
              <a:ea typeface="Montserrat"/>
              <a:cs typeface="Montserrat"/>
              <a:sym typeface="Montserrat"/>
            </a:endParaRPr>
          </a:p>
          <a:p>
            <a:pPr indent="0" lvl="0" marL="0" marR="0" rtl="0" algn="l">
              <a:lnSpc>
                <a:spcPct val="151020"/>
              </a:lnSpc>
              <a:spcBef>
                <a:spcPts val="0"/>
              </a:spcBef>
              <a:spcAft>
                <a:spcPts val="0"/>
              </a:spcAft>
              <a:buNone/>
            </a:pPr>
            <a:r>
              <a:rPr b="0" i="0" lang="en-US" sz="2499" u="none" cap="none" strike="noStrike">
                <a:solidFill>
                  <a:srgbClr val="162651"/>
                </a:solidFill>
                <a:latin typeface="Montserrat"/>
                <a:ea typeface="Montserrat"/>
                <a:cs typeface="Montserrat"/>
                <a:sym typeface="Montserrat"/>
              </a:rPr>
              <a:t>KNN sesuai untuk kasus berbasis kemiripan data dengan struktur sederhana.</a:t>
            </a:r>
            <a:endParaRPr/>
          </a:p>
          <a:p>
            <a:pPr indent="0" lvl="0" marL="0" marR="0" rtl="0" algn="l">
              <a:lnSpc>
                <a:spcPct val="151020"/>
              </a:lnSpc>
              <a:spcBef>
                <a:spcPts val="0"/>
              </a:spcBef>
              <a:spcAft>
                <a:spcPts val="0"/>
              </a:spcAft>
              <a:buNone/>
            </a:pPr>
            <a:r>
              <a:t/>
            </a:r>
            <a:endParaRPr b="0" i="0" sz="2499" u="none" cap="none" strike="noStrike">
              <a:solidFill>
                <a:srgbClr val="162651"/>
              </a:solidFill>
              <a:latin typeface="Montserrat"/>
              <a:ea typeface="Montserrat"/>
              <a:cs typeface="Montserrat"/>
              <a:sym typeface="Montserrat"/>
            </a:endParaRPr>
          </a:p>
          <a:p>
            <a:pPr indent="0" lvl="0" marL="0" marR="0" rtl="0" algn="l">
              <a:lnSpc>
                <a:spcPct val="151020"/>
              </a:lnSpc>
              <a:spcBef>
                <a:spcPts val="0"/>
              </a:spcBef>
              <a:spcAft>
                <a:spcPts val="0"/>
              </a:spcAft>
              <a:buNone/>
            </a:pPr>
            <a:r>
              <a:rPr b="0" i="0" lang="en-US" sz="2499" u="none" cap="none" strike="noStrike">
                <a:solidFill>
                  <a:srgbClr val="162651"/>
                </a:solidFill>
                <a:latin typeface="Montserrat"/>
                <a:ea typeface="Montserrat"/>
                <a:cs typeface="Montserrat"/>
                <a:sym typeface="Montserrat"/>
              </a:rPr>
              <a:t>Naive Bayes sangat efektif untuk data teks dan data berukuran besar yang memerlukan kecepatan pemrosesan tinggi.</a:t>
            </a:r>
            <a:endParaRPr/>
          </a:p>
          <a:p>
            <a:pPr indent="0" lvl="0" marL="0" marR="0" rtl="0" algn="l">
              <a:lnSpc>
                <a:spcPct val="151020"/>
              </a:lnSpc>
              <a:spcBef>
                <a:spcPts val="0"/>
              </a:spcBef>
              <a:spcAft>
                <a:spcPts val="0"/>
              </a:spcAft>
              <a:buNone/>
            </a:pPr>
            <a:r>
              <a:t/>
            </a:r>
            <a:endParaRPr b="0" i="0" sz="2499" u="none" cap="none" strike="noStrike">
              <a:solidFill>
                <a:srgbClr val="162651"/>
              </a:solidFill>
              <a:latin typeface="Montserrat"/>
              <a:ea typeface="Montserrat"/>
              <a:cs typeface="Montserrat"/>
              <a:sym typeface="Montserrat"/>
            </a:endParaRPr>
          </a:p>
          <a:p>
            <a:pPr indent="0" lvl="0" marL="0" marR="0" rtl="0" algn="l">
              <a:lnSpc>
                <a:spcPct val="151020"/>
              </a:lnSpc>
              <a:spcBef>
                <a:spcPts val="0"/>
              </a:spcBef>
              <a:spcAft>
                <a:spcPts val="0"/>
              </a:spcAft>
              <a:buNone/>
            </a:pPr>
            <a:r>
              <a:t/>
            </a:r>
            <a:endParaRPr b="0" i="0" sz="2499" u="none" cap="none" strike="noStrike">
              <a:solidFill>
                <a:srgbClr val="162651"/>
              </a:solidFill>
              <a:latin typeface="Montserrat"/>
              <a:ea typeface="Montserrat"/>
              <a:cs typeface="Montserrat"/>
              <a:sym typeface="Montserrat"/>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sp>
        <p:nvSpPr>
          <p:cNvPr id="281" name="Google Shape;281;p13"/>
          <p:cNvSpPr/>
          <p:nvPr/>
        </p:nvSpPr>
        <p:spPr>
          <a:xfrm>
            <a:off x="732366" y="787725"/>
            <a:ext cx="16526934" cy="8893240"/>
          </a:xfrm>
          <a:custGeom>
            <a:rect b="b" l="l" r="r" t="t"/>
            <a:pathLst>
              <a:path extrusionOk="0" h="8893240" w="16526934">
                <a:moveTo>
                  <a:pt x="0" y="0"/>
                </a:moveTo>
                <a:lnTo>
                  <a:pt x="16526934" y="0"/>
                </a:lnTo>
                <a:lnTo>
                  <a:pt x="16526934" y="8893239"/>
                </a:lnTo>
                <a:lnTo>
                  <a:pt x="0" y="8893239"/>
                </a:lnTo>
                <a:lnTo>
                  <a:pt x="0" y="0"/>
                </a:lnTo>
                <a:close/>
              </a:path>
            </a:pathLst>
          </a:custGeom>
          <a:blipFill rotWithShape="1">
            <a:blip r:embed="rId4">
              <a:alphaModFix/>
            </a:blip>
            <a:stretch>
              <a:fillRect b="-11385" l="-7032" r="-12023" t="-13071"/>
            </a:stretch>
          </a:blipFill>
          <a:ln>
            <a:noFill/>
          </a:ln>
        </p:spPr>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287" name="Google Shape;287;p14"/>
          <p:cNvGrpSpPr/>
          <p:nvPr/>
        </p:nvGrpSpPr>
        <p:grpSpPr>
          <a:xfrm>
            <a:off x="-30623" y="-180826"/>
            <a:ext cx="18318623" cy="10592324"/>
            <a:chOff x="0" y="-47625"/>
            <a:chExt cx="4824658" cy="2789748"/>
          </a:xfrm>
        </p:grpSpPr>
        <p:sp>
          <p:nvSpPr>
            <p:cNvPr id="288" name="Google Shape;288;p14"/>
            <p:cNvSpPr/>
            <p:nvPr/>
          </p:nvSpPr>
          <p:spPr>
            <a:xfrm>
              <a:off x="0" y="0"/>
              <a:ext cx="4824658" cy="2742123"/>
            </a:xfrm>
            <a:custGeom>
              <a:rect b="b" l="l" r="r" t="t"/>
              <a:pathLst>
                <a:path extrusionOk="0" h="2742123" w="4824658">
                  <a:moveTo>
                    <a:pt x="0" y="0"/>
                  </a:moveTo>
                  <a:lnTo>
                    <a:pt x="4824658" y="0"/>
                  </a:lnTo>
                  <a:lnTo>
                    <a:pt x="4824658" y="2742123"/>
                  </a:lnTo>
                  <a:lnTo>
                    <a:pt x="0" y="2742123"/>
                  </a:lnTo>
                  <a:close/>
                </a:path>
              </a:pathLst>
            </a:custGeom>
            <a:solidFill>
              <a:srgbClr val="FAFAFF"/>
            </a:solidFill>
            <a:ln>
              <a:noFill/>
            </a:ln>
          </p:spPr>
        </p:sp>
        <p:sp>
          <p:nvSpPr>
            <p:cNvPr id="289" name="Google Shape;289;p14"/>
            <p:cNvSpPr txBox="1"/>
            <p:nvPr/>
          </p:nvSpPr>
          <p:spPr>
            <a:xfrm>
              <a:off x="0" y="-47625"/>
              <a:ext cx="4824658" cy="278974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0" name="Google Shape;290;p14"/>
          <p:cNvSpPr/>
          <p:nvPr/>
        </p:nvSpPr>
        <p:spPr>
          <a:xfrm>
            <a:off x="11762666" y="2473730"/>
            <a:ext cx="7820850" cy="6051383"/>
          </a:xfrm>
          <a:custGeom>
            <a:rect b="b" l="l" r="r" t="t"/>
            <a:pathLst>
              <a:path extrusionOk="0" h="6051383" w="7820850">
                <a:moveTo>
                  <a:pt x="0" y="0"/>
                </a:moveTo>
                <a:lnTo>
                  <a:pt x="7820850" y="0"/>
                </a:lnTo>
                <a:lnTo>
                  <a:pt x="7820850" y="6051382"/>
                </a:lnTo>
                <a:lnTo>
                  <a:pt x="0" y="6051382"/>
                </a:lnTo>
                <a:lnTo>
                  <a:pt x="0" y="0"/>
                </a:lnTo>
                <a:close/>
              </a:path>
            </a:pathLst>
          </a:custGeom>
          <a:blipFill rotWithShape="1">
            <a:blip r:embed="rId4">
              <a:alphaModFix/>
            </a:blip>
            <a:stretch>
              <a:fillRect b="0" l="0" r="0" t="0"/>
            </a:stretch>
          </a:blipFill>
          <a:ln>
            <a:noFill/>
          </a:ln>
        </p:spPr>
      </p:sp>
      <p:sp>
        <p:nvSpPr>
          <p:cNvPr id="291" name="Google Shape;291;p14"/>
          <p:cNvSpPr/>
          <p:nvPr/>
        </p:nvSpPr>
        <p:spPr>
          <a:xfrm>
            <a:off x="11221661" y="-1914833"/>
            <a:ext cx="8902861" cy="5746392"/>
          </a:xfrm>
          <a:custGeom>
            <a:rect b="b" l="l" r="r" t="t"/>
            <a:pathLst>
              <a:path extrusionOk="0" h="5746392" w="8902861">
                <a:moveTo>
                  <a:pt x="0" y="0"/>
                </a:moveTo>
                <a:lnTo>
                  <a:pt x="8902861" y="0"/>
                </a:lnTo>
                <a:lnTo>
                  <a:pt x="8902861" y="5746392"/>
                </a:lnTo>
                <a:lnTo>
                  <a:pt x="0" y="5746392"/>
                </a:lnTo>
                <a:lnTo>
                  <a:pt x="0" y="0"/>
                </a:lnTo>
                <a:close/>
              </a:path>
            </a:pathLst>
          </a:custGeom>
          <a:blipFill rotWithShape="1">
            <a:blip r:embed="rId5">
              <a:alphaModFix/>
            </a:blip>
            <a:stretch>
              <a:fillRect b="0" l="0" r="0" t="0"/>
            </a:stretch>
          </a:blipFill>
          <a:ln>
            <a:noFill/>
          </a:ln>
        </p:spPr>
      </p:sp>
      <p:sp>
        <p:nvSpPr>
          <p:cNvPr id="292" name="Google Shape;292;p14"/>
          <p:cNvSpPr/>
          <p:nvPr/>
        </p:nvSpPr>
        <p:spPr>
          <a:xfrm>
            <a:off x="-1495994" y="8525112"/>
            <a:ext cx="10364200" cy="4070304"/>
          </a:xfrm>
          <a:custGeom>
            <a:rect b="b" l="l" r="r" t="t"/>
            <a:pathLst>
              <a:path extrusionOk="0" h="4070304" w="10364200">
                <a:moveTo>
                  <a:pt x="0" y="0"/>
                </a:moveTo>
                <a:lnTo>
                  <a:pt x="10364200" y="0"/>
                </a:lnTo>
                <a:lnTo>
                  <a:pt x="10364200" y="4070304"/>
                </a:lnTo>
                <a:lnTo>
                  <a:pt x="0" y="4070304"/>
                </a:lnTo>
                <a:lnTo>
                  <a:pt x="0" y="0"/>
                </a:lnTo>
                <a:close/>
              </a:path>
            </a:pathLst>
          </a:custGeom>
          <a:blipFill rotWithShape="1">
            <a:blip r:embed="rId6">
              <a:alphaModFix/>
            </a:blip>
            <a:stretch>
              <a:fillRect b="0" l="0" r="0" t="0"/>
            </a:stretch>
          </a:blipFill>
          <a:ln>
            <a:noFill/>
          </a:ln>
        </p:spPr>
      </p:sp>
      <p:sp>
        <p:nvSpPr>
          <p:cNvPr id="293" name="Google Shape;293;p14"/>
          <p:cNvSpPr/>
          <p:nvPr/>
        </p:nvSpPr>
        <p:spPr>
          <a:xfrm>
            <a:off x="-2412729" y="-2717395"/>
            <a:ext cx="4825458" cy="4114800"/>
          </a:xfrm>
          <a:custGeom>
            <a:rect b="b" l="l" r="r" t="t"/>
            <a:pathLst>
              <a:path extrusionOk="0" h="4114800" w="4825458">
                <a:moveTo>
                  <a:pt x="0" y="0"/>
                </a:moveTo>
                <a:lnTo>
                  <a:pt x="4825458" y="0"/>
                </a:lnTo>
                <a:lnTo>
                  <a:pt x="4825458" y="4114800"/>
                </a:lnTo>
                <a:lnTo>
                  <a:pt x="0" y="4114800"/>
                </a:lnTo>
                <a:lnTo>
                  <a:pt x="0" y="0"/>
                </a:lnTo>
                <a:close/>
              </a:path>
            </a:pathLst>
          </a:custGeom>
          <a:blipFill rotWithShape="1">
            <a:blip r:embed="rId7">
              <a:alphaModFix/>
            </a:blip>
            <a:stretch>
              <a:fillRect b="0" l="0" r="0" t="0"/>
            </a:stretch>
          </a:blipFill>
          <a:ln>
            <a:noFill/>
          </a:ln>
        </p:spPr>
      </p:sp>
      <p:sp>
        <p:nvSpPr>
          <p:cNvPr id="294" name="Google Shape;294;p14"/>
          <p:cNvSpPr/>
          <p:nvPr/>
        </p:nvSpPr>
        <p:spPr>
          <a:xfrm>
            <a:off x="13730749" y="9022254"/>
            <a:ext cx="6663644" cy="4114800"/>
          </a:xfrm>
          <a:custGeom>
            <a:rect b="b" l="l" r="r" t="t"/>
            <a:pathLst>
              <a:path extrusionOk="0" h="4114800" w="6663644">
                <a:moveTo>
                  <a:pt x="0" y="0"/>
                </a:moveTo>
                <a:lnTo>
                  <a:pt x="6663643" y="0"/>
                </a:lnTo>
                <a:lnTo>
                  <a:pt x="6663643" y="4114800"/>
                </a:lnTo>
                <a:lnTo>
                  <a:pt x="0" y="4114800"/>
                </a:lnTo>
                <a:lnTo>
                  <a:pt x="0" y="0"/>
                </a:lnTo>
                <a:close/>
              </a:path>
            </a:pathLst>
          </a:custGeom>
          <a:blipFill rotWithShape="1">
            <a:blip r:embed="rId8">
              <a:alphaModFix/>
            </a:blip>
            <a:stretch>
              <a:fillRect b="0" l="0" r="0" t="0"/>
            </a:stretch>
          </a:blipFill>
          <a:ln>
            <a:noFill/>
          </a:ln>
        </p:spPr>
      </p:sp>
      <p:sp>
        <p:nvSpPr>
          <p:cNvPr id="295" name="Google Shape;295;p14"/>
          <p:cNvSpPr txBox="1"/>
          <p:nvPr/>
        </p:nvSpPr>
        <p:spPr>
          <a:xfrm>
            <a:off x="1028700" y="4009557"/>
            <a:ext cx="9699801" cy="4332564"/>
          </a:xfrm>
          <a:prstGeom prst="rect">
            <a:avLst/>
          </a:prstGeom>
          <a:noFill/>
          <a:ln>
            <a:noFill/>
          </a:ln>
        </p:spPr>
        <p:txBody>
          <a:bodyPr anchorCtr="0" anchor="t" bIns="0" lIns="0" spcFirstLastPara="1" rIns="0" wrap="square" tIns="0">
            <a:spAutoFit/>
          </a:bodyPr>
          <a:lstStyle/>
          <a:p>
            <a:pPr indent="0" lvl="0" marL="0" marR="0" rtl="0" algn="l">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Pada contoh ini, kita akan menggunakan dataset kecil yang berisi informasi mahasiswa berupa kehadiran dan nilai tugas, dengan kelas target Lulus atau Tidak Lulus.</a:t>
            </a:r>
            <a:endParaRPr/>
          </a:p>
          <a:p>
            <a:pPr indent="0" lvl="0" marL="0" marR="0" rtl="0" algn="l">
              <a:lnSpc>
                <a:spcPct val="161007"/>
              </a:lnSpc>
              <a:spcBef>
                <a:spcPts val="0"/>
              </a:spcBef>
              <a:spcAft>
                <a:spcPts val="0"/>
              </a:spcAft>
              <a:buNone/>
            </a:pPr>
            <a:r>
              <a:t/>
            </a:r>
            <a:endParaRPr b="0" i="0" sz="2403" u="none" cap="none" strike="noStrike">
              <a:solidFill>
                <a:srgbClr val="2F3B69"/>
              </a:solidFill>
              <a:latin typeface="Montserrat"/>
              <a:ea typeface="Montserrat"/>
              <a:cs typeface="Montserrat"/>
              <a:sym typeface="Montserrat"/>
            </a:endParaRPr>
          </a:p>
          <a:p>
            <a:pPr indent="0" lvl="0" marL="0" marR="0" rtl="0" algn="l">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Langkah praktikum meliputi:</a:t>
            </a:r>
            <a:endParaRPr/>
          </a:p>
          <a:p>
            <a:pPr indent="-259428" lvl="1" marL="518856" marR="0" rtl="0" algn="l">
              <a:lnSpc>
                <a:spcPct val="161007"/>
              </a:lnSpc>
              <a:spcBef>
                <a:spcPts val="0"/>
              </a:spcBef>
              <a:spcAft>
                <a:spcPts val="0"/>
              </a:spcAft>
              <a:buClr>
                <a:srgbClr val="2F3B69"/>
              </a:buClr>
              <a:buSzPts val="2403"/>
              <a:buFont typeface="Montserrat"/>
              <a:buAutoNum type="arabicPeriod"/>
            </a:pPr>
            <a:r>
              <a:rPr b="0" i="0" lang="en-US" sz="2403" u="none" cap="none" strike="noStrike">
                <a:solidFill>
                  <a:srgbClr val="2F3B69"/>
                </a:solidFill>
                <a:latin typeface="Montserrat"/>
                <a:ea typeface="Montserrat"/>
                <a:cs typeface="Montserrat"/>
                <a:sym typeface="Montserrat"/>
              </a:rPr>
              <a:t>menyiapkan data,</a:t>
            </a:r>
            <a:endParaRPr/>
          </a:p>
          <a:p>
            <a:pPr indent="-259428" lvl="1" marL="518856" marR="0" rtl="0" algn="l">
              <a:lnSpc>
                <a:spcPct val="161007"/>
              </a:lnSpc>
              <a:spcBef>
                <a:spcPts val="0"/>
              </a:spcBef>
              <a:spcAft>
                <a:spcPts val="0"/>
              </a:spcAft>
              <a:buClr>
                <a:srgbClr val="2F3B69"/>
              </a:buClr>
              <a:buSzPts val="2403"/>
              <a:buFont typeface="Montserrat"/>
              <a:buAutoNum type="arabicPeriod"/>
            </a:pPr>
            <a:r>
              <a:rPr b="0" i="0" lang="en-US" sz="2403" u="none" cap="none" strike="noStrike">
                <a:solidFill>
                  <a:srgbClr val="2F3B69"/>
                </a:solidFill>
                <a:latin typeface="Montserrat"/>
                <a:ea typeface="Montserrat"/>
                <a:cs typeface="Montserrat"/>
                <a:sym typeface="Montserrat"/>
              </a:rPr>
              <a:t>membangun model Decision Tree,</a:t>
            </a:r>
            <a:endParaRPr/>
          </a:p>
          <a:p>
            <a:pPr indent="-259428" lvl="1" marL="518856" marR="0" rtl="0" algn="l">
              <a:lnSpc>
                <a:spcPct val="161007"/>
              </a:lnSpc>
              <a:spcBef>
                <a:spcPts val="0"/>
              </a:spcBef>
              <a:spcAft>
                <a:spcPts val="0"/>
              </a:spcAft>
              <a:buClr>
                <a:srgbClr val="2F3B69"/>
              </a:buClr>
              <a:buSzPts val="2403"/>
              <a:buFont typeface="Montserrat"/>
              <a:buAutoNum type="arabicPeriod"/>
            </a:pPr>
            <a:r>
              <a:rPr b="0" i="0" lang="en-US" sz="2403" u="none" cap="none" strike="noStrike">
                <a:solidFill>
                  <a:srgbClr val="2F3B69"/>
                </a:solidFill>
                <a:latin typeface="Montserrat"/>
                <a:ea typeface="Montserrat"/>
                <a:cs typeface="Montserrat"/>
                <a:sym typeface="Montserrat"/>
              </a:rPr>
              <a:t>melakukan prediksi.</a:t>
            </a:r>
            <a:endParaRPr/>
          </a:p>
          <a:p>
            <a:pPr indent="0" lvl="0" marL="0" marR="0" rtl="0" algn="l">
              <a:lnSpc>
                <a:spcPct val="161007"/>
              </a:lnSpc>
              <a:spcBef>
                <a:spcPts val="0"/>
              </a:spcBef>
              <a:spcAft>
                <a:spcPts val="0"/>
              </a:spcAft>
              <a:buNone/>
            </a:pPr>
            <a:r>
              <a:t/>
            </a:r>
            <a:endParaRPr b="0" i="0" sz="2403" u="none" cap="none" strike="noStrike">
              <a:solidFill>
                <a:srgbClr val="2F3B69"/>
              </a:solidFill>
              <a:latin typeface="Montserrat"/>
              <a:ea typeface="Montserrat"/>
              <a:cs typeface="Montserrat"/>
              <a:sym typeface="Montserrat"/>
            </a:endParaRPr>
          </a:p>
        </p:txBody>
      </p:sp>
      <p:sp>
        <p:nvSpPr>
          <p:cNvPr id="296" name="Google Shape;296;p14"/>
          <p:cNvSpPr txBox="1"/>
          <p:nvPr/>
        </p:nvSpPr>
        <p:spPr>
          <a:xfrm>
            <a:off x="1028700" y="1767372"/>
            <a:ext cx="11273976" cy="18897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600" u="none" cap="none" strike="noStrike">
                <a:solidFill>
                  <a:srgbClr val="2F3B69"/>
                </a:solidFill>
                <a:latin typeface="Montserrat"/>
                <a:ea typeface="Montserrat"/>
                <a:cs typeface="Montserrat"/>
                <a:sym typeface="Montserrat"/>
              </a:rPr>
              <a:t>CONTOH KASUS YANG DIGUNAKAN ADALAH PREDIKSI KELULUSAN MAHASISWA BERDASARKAN DATA SEDERHANA.</a:t>
            </a:r>
            <a:endParaRPr/>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02" name="Google Shape;302;p15"/>
          <p:cNvGrpSpPr/>
          <p:nvPr/>
        </p:nvGrpSpPr>
        <p:grpSpPr>
          <a:xfrm>
            <a:off x="0" y="-180826"/>
            <a:ext cx="18215537" cy="10467826"/>
            <a:chOff x="0" y="-47625"/>
            <a:chExt cx="4797508" cy="2756958"/>
          </a:xfrm>
        </p:grpSpPr>
        <p:sp>
          <p:nvSpPr>
            <p:cNvPr id="303" name="Google Shape;303;p15"/>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04" name="Google Shape;304;p15"/>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5" name="Google Shape;305;p15"/>
          <p:cNvSpPr/>
          <p:nvPr/>
        </p:nvSpPr>
        <p:spPr>
          <a:xfrm>
            <a:off x="1238150" y="1873157"/>
            <a:ext cx="10469936" cy="2291463"/>
          </a:xfrm>
          <a:custGeom>
            <a:rect b="b" l="l" r="r" t="t"/>
            <a:pathLst>
              <a:path extrusionOk="0" h="2291463" w="10469936">
                <a:moveTo>
                  <a:pt x="0" y="0"/>
                </a:moveTo>
                <a:lnTo>
                  <a:pt x="10469936" y="0"/>
                </a:lnTo>
                <a:lnTo>
                  <a:pt x="10469936" y="2291463"/>
                </a:lnTo>
                <a:lnTo>
                  <a:pt x="0" y="2291463"/>
                </a:lnTo>
                <a:lnTo>
                  <a:pt x="0" y="0"/>
                </a:lnTo>
                <a:close/>
              </a:path>
            </a:pathLst>
          </a:custGeom>
          <a:blipFill rotWithShape="1">
            <a:blip r:embed="rId4">
              <a:alphaModFix/>
            </a:blip>
            <a:stretch>
              <a:fillRect b="0" l="0" r="0" t="0"/>
            </a:stretch>
          </a:blipFill>
          <a:ln>
            <a:noFill/>
          </a:ln>
        </p:spPr>
      </p:sp>
      <p:sp>
        <p:nvSpPr>
          <p:cNvPr id="306" name="Google Shape;306;p15"/>
          <p:cNvSpPr/>
          <p:nvPr/>
        </p:nvSpPr>
        <p:spPr>
          <a:xfrm>
            <a:off x="1370107" y="5543550"/>
            <a:ext cx="11591607" cy="4015064"/>
          </a:xfrm>
          <a:custGeom>
            <a:rect b="b" l="l" r="r" t="t"/>
            <a:pathLst>
              <a:path extrusionOk="0" h="4015064" w="11591607">
                <a:moveTo>
                  <a:pt x="0" y="0"/>
                </a:moveTo>
                <a:lnTo>
                  <a:pt x="11591607" y="0"/>
                </a:lnTo>
                <a:lnTo>
                  <a:pt x="11591607" y="4015064"/>
                </a:lnTo>
                <a:lnTo>
                  <a:pt x="0" y="4015064"/>
                </a:lnTo>
                <a:lnTo>
                  <a:pt x="0" y="0"/>
                </a:lnTo>
                <a:close/>
              </a:path>
            </a:pathLst>
          </a:custGeom>
          <a:blipFill rotWithShape="1">
            <a:blip r:embed="rId5">
              <a:alphaModFix/>
            </a:blip>
            <a:stretch>
              <a:fillRect b="0" l="0" r="0" t="0"/>
            </a:stretch>
          </a:blipFill>
          <a:ln>
            <a:noFill/>
          </a:ln>
        </p:spPr>
      </p:sp>
      <p:sp>
        <p:nvSpPr>
          <p:cNvPr id="307" name="Google Shape;307;p15"/>
          <p:cNvSpPr txBox="1"/>
          <p:nvPr/>
        </p:nvSpPr>
        <p:spPr>
          <a:xfrm>
            <a:off x="1370107" y="1232732"/>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Import Library yang Digunakaneriksa Struktur dan Tipe Data</a:t>
            </a:r>
            <a:endParaRPr/>
          </a:p>
        </p:txBody>
      </p:sp>
      <p:sp>
        <p:nvSpPr>
          <p:cNvPr id="308" name="Google Shape;308;p15"/>
          <p:cNvSpPr txBox="1"/>
          <p:nvPr/>
        </p:nvSpPr>
        <p:spPr>
          <a:xfrm>
            <a:off x="1238150" y="4328160"/>
            <a:ext cx="15611596" cy="815340"/>
          </a:xfrm>
          <a:prstGeom prst="rect">
            <a:avLst/>
          </a:prstGeom>
          <a:noFill/>
          <a:ln>
            <a:noFill/>
          </a:ln>
        </p:spPr>
        <p:txBody>
          <a:bodyPr anchorCtr="0" anchor="t" bIns="0" lIns="0" spcFirstLastPara="1" rIns="0" wrap="square" tIns="0">
            <a:spAutoFit/>
          </a:bodyPr>
          <a:lstStyle/>
          <a:p>
            <a:pPr indent="0" lvl="0" marL="0" marR="0" rtl="0" algn="just">
              <a:lnSpc>
                <a:spcPct val="139958"/>
              </a:lnSpc>
              <a:spcBef>
                <a:spcPts val="0"/>
              </a:spcBef>
              <a:spcAft>
                <a:spcPts val="0"/>
              </a:spcAft>
              <a:buNone/>
            </a:pPr>
            <a:r>
              <a:rPr b="0" i="1" lang="en-US" sz="2400" u="none" cap="none" strike="noStrike">
                <a:solidFill>
                  <a:srgbClr val="162651"/>
                </a:solidFill>
                <a:latin typeface="Montserrat"/>
                <a:ea typeface="Montserrat"/>
                <a:cs typeface="Montserrat"/>
                <a:sym typeface="Montserrat"/>
              </a:rPr>
              <a:t>Library pandas digunakan untuk mengelola data, sedangkan DecisionTreeClassifier digunakan untuk membangun model klasifikasi.</a:t>
            </a:r>
            <a:endParaRPr/>
          </a:p>
        </p:txBody>
      </p:sp>
      <p:sp>
        <p:nvSpPr>
          <p:cNvPr id="309" name="Google Shape;309;p15"/>
          <p:cNvSpPr txBox="1"/>
          <p:nvPr/>
        </p:nvSpPr>
        <p:spPr>
          <a:xfrm>
            <a:off x="13205534" y="5505450"/>
            <a:ext cx="4346507" cy="20726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1" lang="en-US" sz="2400" u="none" cap="none" strike="noStrike">
                <a:solidFill>
                  <a:srgbClr val="162651"/>
                </a:solidFill>
                <a:latin typeface="Montserrat"/>
                <a:ea typeface="Montserrat"/>
                <a:cs typeface="Montserrat"/>
                <a:sym typeface="Montserrat"/>
              </a:rPr>
              <a:t>Atribut Kehadiran dan Nilai_Tugas berperan sebagai variabel input, sedangkan Lulus merupakan label kelas.</a:t>
            </a:r>
            <a:endParaRP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15" name="Google Shape;315;p16"/>
          <p:cNvGrpSpPr/>
          <p:nvPr/>
        </p:nvGrpSpPr>
        <p:grpSpPr>
          <a:xfrm>
            <a:off x="0" y="-180826"/>
            <a:ext cx="18215537" cy="10467826"/>
            <a:chOff x="0" y="-47625"/>
            <a:chExt cx="4797508" cy="2756958"/>
          </a:xfrm>
        </p:grpSpPr>
        <p:sp>
          <p:nvSpPr>
            <p:cNvPr id="316" name="Google Shape;316;p16"/>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17" name="Google Shape;317;p16"/>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8" name="Google Shape;318;p16"/>
          <p:cNvSpPr/>
          <p:nvPr/>
        </p:nvSpPr>
        <p:spPr>
          <a:xfrm>
            <a:off x="1238150" y="1913729"/>
            <a:ext cx="9768219" cy="2280904"/>
          </a:xfrm>
          <a:custGeom>
            <a:rect b="b" l="l" r="r" t="t"/>
            <a:pathLst>
              <a:path extrusionOk="0" h="2280904" w="9768219">
                <a:moveTo>
                  <a:pt x="0" y="0"/>
                </a:moveTo>
                <a:lnTo>
                  <a:pt x="9768219" y="0"/>
                </a:lnTo>
                <a:lnTo>
                  <a:pt x="9768219" y="2280904"/>
                </a:lnTo>
                <a:lnTo>
                  <a:pt x="0" y="2280904"/>
                </a:lnTo>
                <a:lnTo>
                  <a:pt x="0" y="0"/>
                </a:lnTo>
                <a:close/>
              </a:path>
            </a:pathLst>
          </a:custGeom>
          <a:blipFill rotWithShape="1">
            <a:blip r:embed="rId4">
              <a:alphaModFix/>
            </a:blip>
            <a:stretch>
              <a:fillRect b="0" l="0" r="0" t="0"/>
            </a:stretch>
          </a:blipFill>
          <a:ln>
            <a:noFill/>
          </a:ln>
        </p:spPr>
      </p:sp>
      <p:sp>
        <p:nvSpPr>
          <p:cNvPr id="319" name="Google Shape;319;p16"/>
          <p:cNvSpPr/>
          <p:nvPr/>
        </p:nvSpPr>
        <p:spPr>
          <a:xfrm>
            <a:off x="1230841" y="5868482"/>
            <a:ext cx="9700141" cy="1996335"/>
          </a:xfrm>
          <a:custGeom>
            <a:rect b="b" l="l" r="r" t="t"/>
            <a:pathLst>
              <a:path extrusionOk="0" h="1996335" w="9700141">
                <a:moveTo>
                  <a:pt x="0" y="0"/>
                </a:moveTo>
                <a:lnTo>
                  <a:pt x="9700141" y="0"/>
                </a:lnTo>
                <a:lnTo>
                  <a:pt x="9700141" y="1996335"/>
                </a:lnTo>
                <a:lnTo>
                  <a:pt x="0" y="1996335"/>
                </a:lnTo>
                <a:lnTo>
                  <a:pt x="0" y="0"/>
                </a:lnTo>
                <a:close/>
              </a:path>
            </a:pathLst>
          </a:custGeom>
          <a:blipFill rotWithShape="1">
            <a:blip r:embed="rId5">
              <a:alphaModFix/>
            </a:blip>
            <a:stretch>
              <a:fillRect b="0" l="0" r="0" t="0"/>
            </a:stretch>
          </a:blipFill>
          <a:ln>
            <a:noFill/>
          </a:ln>
        </p:spPr>
      </p:sp>
      <p:sp>
        <p:nvSpPr>
          <p:cNvPr id="320" name="Google Shape;320;p16"/>
          <p:cNvSpPr txBox="1"/>
          <p:nvPr/>
        </p:nvSpPr>
        <p:spPr>
          <a:xfrm>
            <a:off x="1388926" y="1174929"/>
            <a:ext cx="9617443"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Memisahkan Fitur dan Label</a:t>
            </a:r>
            <a:endParaRPr/>
          </a:p>
        </p:txBody>
      </p:sp>
      <p:sp>
        <p:nvSpPr>
          <p:cNvPr id="321" name="Google Shape;321;p16"/>
          <p:cNvSpPr txBox="1"/>
          <p:nvPr/>
        </p:nvSpPr>
        <p:spPr>
          <a:xfrm>
            <a:off x="11440930" y="1983503"/>
            <a:ext cx="4346507" cy="16535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1" lang="en-US" sz="2400" u="none" cap="none" strike="noStrike">
                <a:solidFill>
                  <a:srgbClr val="162651"/>
                </a:solidFill>
                <a:latin typeface="Montserrat"/>
                <a:ea typeface="Montserrat"/>
                <a:cs typeface="Montserrat"/>
                <a:sym typeface="Montserrat"/>
              </a:rPr>
              <a:t>X berisi data atribut,</a:t>
            </a:r>
            <a:endParaRPr/>
          </a:p>
          <a:p>
            <a:pPr indent="0" lvl="0" marL="0" marR="0" rtl="0" algn="l">
              <a:lnSpc>
                <a:spcPct val="139958"/>
              </a:lnSpc>
              <a:spcBef>
                <a:spcPts val="0"/>
              </a:spcBef>
              <a:spcAft>
                <a:spcPts val="0"/>
              </a:spcAft>
              <a:buNone/>
            </a:pPr>
            <a:r>
              <a:rPr b="0" i="1" lang="en-US" sz="2400" u="none" cap="none" strike="noStrike">
                <a:solidFill>
                  <a:srgbClr val="162651"/>
                </a:solidFill>
                <a:latin typeface="Montserrat"/>
                <a:ea typeface="Montserrat"/>
                <a:cs typeface="Montserrat"/>
                <a:sym typeface="Montserrat"/>
              </a:rPr>
              <a:t>dan y berisi kelas target yang akan dipelajari oleh model.</a:t>
            </a:r>
            <a:endParaRPr/>
          </a:p>
        </p:txBody>
      </p:sp>
      <p:sp>
        <p:nvSpPr>
          <p:cNvPr id="322" name="Google Shape;322;p16"/>
          <p:cNvSpPr txBox="1"/>
          <p:nvPr/>
        </p:nvSpPr>
        <p:spPr>
          <a:xfrm>
            <a:off x="1313538" y="4900295"/>
            <a:ext cx="9617443"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Membangun Model Decision Tree</a:t>
            </a:r>
            <a:endParaRPr/>
          </a:p>
        </p:txBody>
      </p:sp>
      <p:sp>
        <p:nvSpPr>
          <p:cNvPr id="323" name="Google Shape;323;p16"/>
          <p:cNvSpPr txBox="1"/>
          <p:nvPr/>
        </p:nvSpPr>
        <p:spPr>
          <a:xfrm>
            <a:off x="11440930" y="6020829"/>
            <a:ext cx="5186542" cy="16535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1" lang="en-US" sz="2400" u="none" cap="none" strike="noStrike">
                <a:solidFill>
                  <a:srgbClr val="162651"/>
                </a:solidFill>
                <a:latin typeface="Montserrat"/>
                <a:ea typeface="Montserrat"/>
                <a:cs typeface="Montserrat"/>
                <a:sym typeface="Montserrat"/>
              </a:rPr>
              <a:t>Pada tahap ini, model Decision Tree mempelajari pola hubungan antara atribut dan kelas dari data latih.</a:t>
            </a:r>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29" name="Google Shape;329;p17"/>
          <p:cNvGrpSpPr/>
          <p:nvPr/>
        </p:nvGrpSpPr>
        <p:grpSpPr>
          <a:xfrm>
            <a:off x="0" y="-180826"/>
            <a:ext cx="18215537" cy="10467826"/>
            <a:chOff x="0" y="-47625"/>
            <a:chExt cx="4797508" cy="2756958"/>
          </a:xfrm>
        </p:grpSpPr>
        <p:sp>
          <p:nvSpPr>
            <p:cNvPr id="330" name="Google Shape;330;p17"/>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31" name="Google Shape;331;p17"/>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2" name="Google Shape;332;p17"/>
          <p:cNvSpPr/>
          <p:nvPr/>
        </p:nvSpPr>
        <p:spPr>
          <a:xfrm>
            <a:off x="1388926" y="1883526"/>
            <a:ext cx="12953600" cy="3358341"/>
          </a:xfrm>
          <a:custGeom>
            <a:rect b="b" l="l" r="r" t="t"/>
            <a:pathLst>
              <a:path extrusionOk="0" h="3358341" w="12953600">
                <a:moveTo>
                  <a:pt x="0" y="0"/>
                </a:moveTo>
                <a:lnTo>
                  <a:pt x="12953600" y="0"/>
                </a:lnTo>
                <a:lnTo>
                  <a:pt x="12953600" y="3358340"/>
                </a:lnTo>
                <a:lnTo>
                  <a:pt x="0" y="3358340"/>
                </a:lnTo>
                <a:lnTo>
                  <a:pt x="0" y="0"/>
                </a:lnTo>
                <a:close/>
              </a:path>
            </a:pathLst>
          </a:custGeom>
          <a:blipFill rotWithShape="1">
            <a:blip r:embed="rId4">
              <a:alphaModFix/>
            </a:blip>
            <a:stretch>
              <a:fillRect b="0" l="0" r="0" t="0"/>
            </a:stretch>
          </a:blipFill>
          <a:ln>
            <a:noFill/>
          </a:ln>
        </p:spPr>
      </p:sp>
      <p:sp>
        <p:nvSpPr>
          <p:cNvPr id="333" name="Google Shape;333;p17"/>
          <p:cNvSpPr txBox="1"/>
          <p:nvPr/>
        </p:nvSpPr>
        <p:spPr>
          <a:xfrm>
            <a:off x="1388926" y="1174929"/>
            <a:ext cx="9617443"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Melakukan Prediksi Data Baru</a:t>
            </a:r>
            <a:endParaRPr/>
          </a:p>
        </p:txBody>
      </p:sp>
      <p:sp>
        <p:nvSpPr>
          <p:cNvPr id="334" name="Google Shape;334;p17"/>
          <p:cNvSpPr txBox="1"/>
          <p:nvPr/>
        </p:nvSpPr>
        <p:spPr>
          <a:xfrm>
            <a:off x="1388926" y="5470466"/>
            <a:ext cx="9903664" cy="8153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1" lang="en-US" sz="2400" u="none" cap="none" strike="noStrike">
                <a:solidFill>
                  <a:srgbClr val="162651"/>
                </a:solidFill>
                <a:latin typeface="Montserrat"/>
                <a:ea typeface="Montserrat"/>
                <a:cs typeface="Montserrat"/>
                <a:sym typeface="Montserrat"/>
              </a:rPr>
              <a:t>Output dari program ini menunjukkan apakah mahasiswa dengan karakteristik tersebut diprediksi Lulus atau Tidak Lulus.</a:t>
            </a:r>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40" name="Google Shape;340;p18"/>
          <p:cNvGrpSpPr/>
          <p:nvPr/>
        </p:nvGrpSpPr>
        <p:grpSpPr>
          <a:xfrm>
            <a:off x="0" y="-180826"/>
            <a:ext cx="18215537" cy="10467826"/>
            <a:chOff x="0" y="-47625"/>
            <a:chExt cx="4797508" cy="2756958"/>
          </a:xfrm>
        </p:grpSpPr>
        <p:sp>
          <p:nvSpPr>
            <p:cNvPr id="341" name="Google Shape;341;p18"/>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42" name="Google Shape;342;p18"/>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3" name="Google Shape;343;p18"/>
          <p:cNvGrpSpPr/>
          <p:nvPr/>
        </p:nvGrpSpPr>
        <p:grpSpPr>
          <a:xfrm>
            <a:off x="860403" y="993090"/>
            <a:ext cx="9704395" cy="7236919"/>
            <a:chOff x="0" y="-47625"/>
            <a:chExt cx="2555890" cy="1906020"/>
          </a:xfrm>
        </p:grpSpPr>
        <p:sp>
          <p:nvSpPr>
            <p:cNvPr id="344" name="Google Shape;344;p18"/>
            <p:cNvSpPr/>
            <p:nvPr/>
          </p:nvSpPr>
          <p:spPr>
            <a:xfrm>
              <a:off x="0" y="0"/>
              <a:ext cx="2555890" cy="1858395"/>
            </a:xfrm>
            <a:custGeom>
              <a:rect b="b" l="l" r="r" t="t"/>
              <a:pathLst>
                <a:path extrusionOk="0" h="1858395" w="2555890">
                  <a:moveTo>
                    <a:pt x="40687" y="0"/>
                  </a:moveTo>
                  <a:lnTo>
                    <a:pt x="2515204" y="0"/>
                  </a:lnTo>
                  <a:cubicBezTo>
                    <a:pt x="2525994" y="0"/>
                    <a:pt x="2536343" y="4287"/>
                    <a:pt x="2543973" y="11917"/>
                  </a:cubicBezTo>
                  <a:cubicBezTo>
                    <a:pt x="2551604" y="19547"/>
                    <a:pt x="2555890" y="29896"/>
                    <a:pt x="2555890" y="40687"/>
                  </a:cubicBezTo>
                  <a:lnTo>
                    <a:pt x="2555890" y="1817708"/>
                  </a:lnTo>
                  <a:cubicBezTo>
                    <a:pt x="2555890" y="1840179"/>
                    <a:pt x="2537674" y="1858395"/>
                    <a:pt x="2515204" y="1858395"/>
                  </a:cubicBezTo>
                  <a:lnTo>
                    <a:pt x="40687" y="1858395"/>
                  </a:lnTo>
                  <a:cubicBezTo>
                    <a:pt x="18216" y="1858395"/>
                    <a:pt x="0" y="1840179"/>
                    <a:pt x="0" y="1817708"/>
                  </a:cubicBezTo>
                  <a:lnTo>
                    <a:pt x="0" y="40687"/>
                  </a:lnTo>
                  <a:cubicBezTo>
                    <a:pt x="0" y="18216"/>
                    <a:pt x="18216" y="0"/>
                    <a:pt x="40687" y="0"/>
                  </a:cubicBezTo>
                  <a:close/>
                </a:path>
              </a:pathLst>
            </a:custGeom>
            <a:solidFill>
              <a:srgbClr val="0836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8"/>
            <p:cNvSpPr txBox="1"/>
            <p:nvPr/>
          </p:nvSpPr>
          <p:spPr>
            <a:xfrm>
              <a:off x="0" y="-47625"/>
              <a:ext cx="2555890" cy="1906020"/>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6" name="Google Shape;346;p18"/>
          <p:cNvSpPr/>
          <p:nvPr/>
        </p:nvSpPr>
        <p:spPr>
          <a:xfrm>
            <a:off x="7874075" y="4165649"/>
            <a:ext cx="12258280" cy="6343660"/>
          </a:xfrm>
          <a:custGeom>
            <a:rect b="b" l="l" r="r" t="t"/>
            <a:pathLst>
              <a:path extrusionOk="0" h="6343660" w="12258280">
                <a:moveTo>
                  <a:pt x="0" y="0"/>
                </a:moveTo>
                <a:lnTo>
                  <a:pt x="12258280" y="0"/>
                </a:lnTo>
                <a:lnTo>
                  <a:pt x="12258280" y="6343660"/>
                </a:lnTo>
                <a:lnTo>
                  <a:pt x="0" y="6343660"/>
                </a:lnTo>
                <a:lnTo>
                  <a:pt x="0" y="0"/>
                </a:lnTo>
                <a:close/>
              </a:path>
            </a:pathLst>
          </a:custGeom>
          <a:blipFill rotWithShape="1">
            <a:blip r:embed="rId4">
              <a:alphaModFix/>
            </a:blip>
            <a:stretch>
              <a:fillRect b="0" l="0" r="0" t="0"/>
            </a:stretch>
          </a:blipFill>
          <a:ln>
            <a:noFill/>
          </a:ln>
        </p:spPr>
      </p:sp>
      <p:sp>
        <p:nvSpPr>
          <p:cNvPr id="347" name="Google Shape;347;p18"/>
          <p:cNvSpPr/>
          <p:nvPr/>
        </p:nvSpPr>
        <p:spPr>
          <a:xfrm>
            <a:off x="14003215" y="1416563"/>
            <a:ext cx="2432251" cy="2432251"/>
          </a:xfrm>
          <a:custGeom>
            <a:rect b="b" l="l" r="r" t="t"/>
            <a:pathLst>
              <a:path extrusionOk="0" h="2432251" w="2432251">
                <a:moveTo>
                  <a:pt x="0" y="0"/>
                </a:moveTo>
                <a:lnTo>
                  <a:pt x="2432251" y="0"/>
                </a:lnTo>
                <a:lnTo>
                  <a:pt x="2432251" y="2432251"/>
                </a:lnTo>
                <a:lnTo>
                  <a:pt x="0" y="2432251"/>
                </a:lnTo>
                <a:lnTo>
                  <a:pt x="0" y="0"/>
                </a:lnTo>
                <a:close/>
              </a:path>
            </a:pathLst>
          </a:custGeom>
          <a:blipFill rotWithShape="1">
            <a:blip r:embed="rId5">
              <a:alphaModFix/>
            </a:blip>
            <a:stretch>
              <a:fillRect b="0" l="0" r="0" t="0"/>
            </a:stretch>
          </a:blipFill>
          <a:ln>
            <a:noFill/>
          </a:ln>
        </p:spPr>
      </p:sp>
      <p:sp>
        <p:nvSpPr>
          <p:cNvPr id="348" name="Google Shape;348;p18"/>
          <p:cNvSpPr txBox="1"/>
          <p:nvPr/>
        </p:nvSpPr>
        <p:spPr>
          <a:xfrm>
            <a:off x="1388926" y="2036504"/>
            <a:ext cx="9617443"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FFFFFF"/>
                </a:solidFill>
                <a:latin typeface="Montserrat"/>
                <a:ea typeface="Montserrat"/>
                <a:cs typeface="Montserrat"/>
                <a:sym typeface="Montserrat"/>
              </a:rPr>
              <a:t> Interpretasi Hasil Praktikum</a:t>
            </a:r>
            <a:endParaRPr/>
          </a:p>
        </p:txBody>
      </p:sp>
      <p:sp>
        <p:nvSpPr>
          <p:cNvPr id="349" name="Google Shape;349;p18"/>
          <p:cNvSpPr txBox="1"/>
          <p:nvPr/>
        </p:nvSpPr>
        <p:spPr>
          <a:xfrm>
            <a:off x="1604320" y="2821124"/>
            <a:ext cx="7943581" cy="33299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FFFFFF"/>
                </a:solidFill>
                <a:latin typeface="Montserrat"/>
                <a:ea typeface="Montserrat"/>
                <a:cs typeface="Montserrat"/>
                <a:sym typeface="Montserrat"/>
              </a:rPr>
              <a:t>Melalui praktikum sederhana ini,  dapat dipahami bahwa:</a:t>
            </a:r>
            <a:endParaRPr/>
          </a:p>
          <a:p>
            <a:pPr indent="-259079" lvl="1" marL="518160" marR="0" rtl="0" algn="l">
              <a:lnSpc>
                <a:spcPct val="139958"/>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klasifikasi dilakukan berdasarkan data berlabel,</a:t>
            </a:r>
            <a:endParaRPr/>
          </a:p>
          <a:p>
            <a:pPr indent="-259079" lvl="1" marL="518160" marR="0" rtl="0" algn="l">
              <a:lnSpc>
                <a:spcPct val="139958"/>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Decision Tree mempelajari pola keputusan dari data latih,</a:t>
            </a:r>
            <a:endParaRPr/>
          </a:p>
          <a:p>
            <a:pPr indent="-259079" lvl="1" marL="518160" marR="0" rtl="0" algn="l">
              <a:lnSpc>
                <a:spcPct val="139958"/>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model dapat digunakan untuk memprediksi data baru.</a:t>
            </a:r>
            <a:endParaRPr/>
          </a:p>
          <a:p>
            <a:pPr indent="0" lvl="0" marL="0" marR="0" rtl="0" algn="l">
              <a:lnSpc>
                <a:spcPct val="139958"/>
              </a:lnSpc>
              <a:spcBef>
                <a:spcPts val="0"/>
              </a:spcBef>
              <a:spcAft>
                <a:spcPts val="0"/>
              </a:spcAft>
              <a:buNone/>
            </a:pPr>
            <a:r>
              <a:t/>
            </a:r>
            <a:endParaRPr b="0" i="0" sz="2400" u="none" cap="none" strike="noStrike">
              <a:solidFill>
                <a:srgbClr val="FFFFFF"/>
              </a:solidFill>
              <a:latin typeface="Montserrat"/>
              <a:ea typeface="Montserrat"/>
              <a:cs typeface="Montserrat"/>
              <a:sym typeface="Montserrat"/>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55" name="Google Shape;355;p19"/>
          <p:cNvGrpSpPr/>
          <p:nvPr/>
        </p:nvGrpSpPr>
        <p:grpSpPr>
          <a:xfrm>
            <a:off x="0" y="-180826"/>
            <a:ext cx="18215537" cy="10467826"/>
            <a:chOff x="0" y="-47625"/>
            <a:chExt cx="4797508" cy="2756958"/>
          </a:xfrm>
        </p:grpSpPr>
        <p:sp>
          <p:nvSpPr>
            <p:cNvPr id="356" name="Google Shape;356;p19"/>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57" name="Google Shape;357;p19"/>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8" name="Google Shape;358;p19"/>
          <p:cNvSpPr/>
          <p:nvPr/>
        </p:nvSpPr>
        <p:spPr>
          <a:xfrm>
            <a:off x="9683227" y="2506499"/>
            <a:ext cx="7576073" cy="6326021"/>
          </a:xfrm>
          <a:custGeom>
            <a:rect b="b" l="l" r="r" t="t"/>
            <a:pathLst>
              <a:path extrusionOk="0" h="6326021" w="7576073">
                <a:moveTo>
                  <a:pt x="0" y="0"/>
                </a:moveTo>
                <a:lnTo>
                  <a:pt x="7576073" y="0"/>
                </a:lnTo>
                <a:lnTo>
                  <a:pt x="7576073" y="6326021"/>
                </a:lnTo>
                <a:lnTo>
                  <a:pt x="0" y="6326021"/>
                </a:lnTo>
                <a:lnTo>
                  <a:pt x="0" y="0"/>
                </a:lnTo>
                <a:close/>
              </a:path>
            </a:pathLst>
          </a:custGeom>
          <a:blipFill rotWithShape="1">
            <a:blip r:embed="rId4">
              <a:alphaModFix/>
            </a:blip>
            <a:stretch>
              <a:fillRect b="0" l="0" r="0" t="0"/>
            </a:stretch>
          </a:blipFill>
          <a:ln>
            <a:noFill/>
          </a:ln>
        </p:spPr>
      </p:sp>
      <p:sp>
        <p:nvSpPr>
          <p:cNvPr id="359" name="Google Shape;359;p19"/>
          <p:cNvSpPr txBox="1"/>
          <p:nvPr/>
        </p:nvSpPr>
        <p:spPr>
          <a:xfrm>
            <a:off x="1370107" y="1232732"/>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Klasifikasi Kelayakan Pemberian Kredit Menggunakan Decision Tree</a:t>
            </a:r>
            <a:endParaRPr/>
          </a:p>
        </p:txBody>
      </p:sp>
      <p:sp>
        <p:nvSpPr>
          <p:cNvPr id="360" name="Google Shape;360;p19"/>
          <p:cNvSpPr txBox="1"/>
          <p:nvPr/>
        </p:nvSpPr>
        <p:spPr>
          <a:xfrm>
            <a:off x="1370107" y="2468399"/>
            <a:ext cx="7426636" cy="62636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Sebuah bank ingin menentukan apakah seorang calon nasabah layak atau tidak layak menerima kredit berdasarkan data historis pengajuan kredit sebelumnya. Penilaian dilakukan menggunakan beberapa atribut dasar yang umum digunakan dalam analisis kredit.</a:t>
            </a:r>
            <a:endParaRPr/>
          </a:p>
          <a:p>
            <a:pPr indent="0" lvl="0" marL="0" marR="0" rtl="0" algn="l">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Atribut yang digunakan dalam dataset adalah sebagai berikut.</a:t>
            </a:r>
            <a:endParaRPr/>
          </a:p>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Pendapatan Bulanan (dalam juta rupiah), Status Pekerjaan, Jumlah Tanggungan, dan Riwayat Kredit.</a:t>
            </a:r>
            <a:endParaRPr/>
          </a:p>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 Kelas target adalah Kelayakan Kredit dengan dua kategori, yaitu Layak dan Tidak Layak.</a:t>
            </a:r>
            <a:endParaRP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66" name="Google Shape;366;p20"/>
          <p:cNvGrpSpPr/>
          <p:nvPr/>
        </p:nvGrpSpPr>
        <p:grpSpPr>
          <a:xfrm>
            <a:off x="0" y="-180826"/>
            <a:ext cx="18215537" cy="10467826"/>
            <a:chOff x="0" y="-47625"/>
            <a:chExt cx="4797508" cy="2756958"/>
          </a:xfrm>
        </p:grpSpPr>
        <p:sp>
          <p:nvSpPr>
            <p:cNvPr id="367" name="Google Shape;367;p20"/>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68" name="Google Shape;368;p20"/>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9" name="Google Shape;369;p20"/>
          <p:cNvSpPr/>
          <p:nvPr/>
        </p:nvSpPr>
        <p:spPr>
          <a:xfrm>
            <a:off x="1370107" y="2403855"/>
            <a:ext cx="10469936" cy="2291463"/>
          </a:xfrm>
          <a:custGeom>
            <a:rect b="b" l="l" r="r" t="t"/>
            <a:pathLst>
              <a:path extrusionOk="0" h="2291463" w="10469936">
                <a:moveTo>
                  <a:pt x="0" y="0"/>
                </a:moveTo>
                <a:lnTo>
                  <a:pt x="10469936" y="0"/>
                </a:lnTo>
                <a:lnTo>
                  <a:pt x="10469936" y="2291463"/>
                </a:lnTo>
                <a:lnTo>
                  <a:pt x="0" y="2291463"/>
                </a:lnTo>
                <a:lnTo>
                  <a:pt x="0" y="0"/>
                </a:lnTo>
                <a:close/>
              </a:path>
            </a:pathLst>
          </a:custGeom>
          <a:blipFill rotWithShape="1">
            <a:blip r:embed="rId4">
              <a:alphaModFix/>
            </a:blip>
            <a:stretch>
              <a:fillRect b="0" l="0" r="0" t="0"/>
            </a:stretch>
          </a:blipFill>
          <a:ln>
            <a:noFill/>
          </a:ln>
        </p:spPr>
      </p:sp>
      <p:sp>
        <p:nvSpPr>
          <p:cNvPr id="370" name="Google Shape;370;p20"/>
          <p:cNvSpPr txBox="1"/>
          <p:nvPr/>
        </p:nvSpPr>
        <p:spPr>
          <a:xfrm>
            <a:off x="1370107" y="1232732"/>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Import Library yang Dibutuhkan</a:t>
            </a:r>
            <a:endParaRPr/>
          </a:p>
        </p:txBody>
      </p:sp>
      <p:sp>
        <p:nvSpPr>
          <p:cNvPr id="371" name="Google Shape;371;p20"/>
          <p:cNvSpPr txBox="1"/>
          <p:nvPr/>
        </p:nvSpPr>
        <p:spPr>
          <a:xfrm>
            <a:off x="1370107" y="5390643"/>
            <a:ext cx="14750021" cy="12344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Penjelasan:</a:t>
            </a:r>
            <a:endParaRPr/>
          </a:p>
          <a:p>
            <a:pPr indent="-259079" lvl="1" marL="518160" marR="0" rtl="0" algn="l">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pandas digunakan untuk membuat dan mengelola dataset dalam bentuk tabel.</a:t>
            </a:r>
            <a:endParaRPr/>
          </a:p>
          <a:p>
            <a:pPr indent="-259079" lvl="1" marL="518160" marR="0" rtl="0" algn="l">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DecisionTreeClassifier digunakan untuk membangun model klasifikasi Decision Tree.</a:t>
            </a:r>
            <a:endParaRP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77" name="Google Shape;377;p21"/>
          <p:cNvGrpSpPr/>
          <p:nvPr/>
        </p:nvGrpSpPr>
        <p:grpSpPr>
          <a:xfrm>
            <a:off x="0" y="-180826"/>
            <a:ext cx="18215537" cy="10467826"/>
            <a:chOff x="0" y="-47625"/>
            <a:chExt cx="4797508" cy="2756958"/>
          </a:xfrm>
        </p:grpSpPr>
        <p:sp>
          <p:nvSpPr>
            <p:cNvPr id="378" name="Google Shape;378;p21"/>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79" name="Google Shape;379;p21"/>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0" name="Google Shape;380;p21"/>
          <p:cNvSpPr/>
          <p:nvPr/>
        </p:nvSpPr>
        <p:spPr>
          <a:xfrm>
            <a:off x="1370107" y="1899790"/>
            <a:ext cx="15131526" cy="6091660"/>
          </a:xfrm>
          <a:custGeom>
            <a:rect b="b" l="l" r="r" t="t"/>
            <a:pathLst>
              <a:path extrusionOk="0" h="6091660" w="15131526">
                <a:moveTo>
                  <a:pt x="0" y="0"/>
                </a:moveTo>
                <a:lnTo>
                  <a:pt x="15131526" y="0"/>
                </a:lnTo>
                <a:lnTo>
                  <a:pt x="15131526" y="6091659"/>
                </a:lnTo>
                <a:lnTo>
                  <a:pt x="0" y="6091659"/>
                </a:lnTo>
                <a:lnTo>
                  <a:pt x="0" y="0"/>
                </a:lnTo>
                <a:close/>
              </a:path>
            </a:pathLst>
          </a:custGeom>
          <a:blipFill rotWithShape="1">
            <a:blip r:embed="rId4">
              <a:alphaModFix/>
            </a:blip>
            <a:stretch>
              <a:fillRect b="0" l="0" r="0" t="0"/>
            </a:stretch>
          </a:blipFill>
          <a:ln>
            <a:noFill/>
          </a:ln>
        </p:spPr>
      </p:sp>
      <p:sp>
        <p:nvSpPr>
          <p:cNvPr id="381" name="Google Shape;381;p21"/>
          <p:cNvSpPr txBox="1"/>
          <p:nvPr/>
        </p:nvSpPr>
        <p:spPr>
          <a:xfrm>
            <a:off x="1370107" y="1232732"/>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Membuat Dataset Kelayakan Kredit</a:t>
            </a:r>
            <a:endParaRPr/>
          </a:p>
        </p:txBody>
      </p:sp>
      <p:sp>
        <p:nvSpPr>
          <p:cNvPr id="382" name="Google Shape;382;p21"/>
          <p:cNvSpPr txBox="1"/>
          <p:nvPr/>
        </p:nvSpPr>
        <p:spPr>
          <a:xfrm>
            <a:off x="1370107" y="8439124"/>
            <a:ext cx="14750021" cy="12344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Penjelasan:</a:t>
            </a:r>
            <a:endParaRPr/>
          </a:p>
          <a:p>
            <a:pPr indent="-259079" lvl="1" marL="518160" marR="0" rtl="0" algn="l">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 Setiap baris mewakili satu nasabah.</a:t>
            </a:r>
            <a:endParaRPr/>
          </a:p>
          <a:p>
            <a:pPr indent="-259079" lvl="1" marL="518160" marR="0" rtl="0" algn="l">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 Kolom Kelayakan merupakan label kelas yang akan diprediks</a:t>
            </a:r>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88" name="Google Shape;388;p22"/>
          <p:cNvGrpSpPr/>
          <p:nvPr/>
        </p:nvGrpSpPr>
        <p:grpSpPr>
          <a:xfrm>
            <a:off x="0" y="-180826"/>
            <a:ext cx="18215537" cy="10467826"/>
            <a:chOff x="0" y="-47625"/>
            <a:chExt cx="4797508" cy="2756958"/>
          </a:xfrm>
        </p:grpSpPr>
        <p:sp>
          <p:nvSpPr>
            <p:cNvPr id="389" name="Google Shape;389;p22"/>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90" name="Google Shape;390;p22"/>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1" name="Google Shape;391;p22"/>
          <p:cNvSpPr/>
          <p:nvPr/>
        </p:nvSpPr>
        <p:spPr>
          <a:xfrm>
            <a:off x="1370107" y="2003986"/>
            <a:ext cx="10792005" cy="7734545"/>
          </a:xfrm>
          <a:custGeom>
            <a:rect b="b" l="l" r="r" t="t"/>
            <a:pathLst>
              <a:path extrusionOk="0" h="7734545" w="10792005">
                <a:moveTo>
                  <a:pt x="0" y="0"/>
                </a:moveTo>
                <a:lnTo>
                  <a:pt x="10792005" y="0"/>
                </a:lnTo>
                <a:lnTo>
                  <a:pt x="10792005" y="7734545"/>
                </a:lnTo>
                <a:lnTo>
                  <a:pt x="0" y="7734545"/>
                </a:lnTo>
                <a:lnTo>
                  <a:pt x="0" y="0"/>
                </a:lnTo>
                <a:close/>
              </a:path>
            </a:pathLst>
          </a:custGeom>
          <a:blipFill rotWithShape="1">
            <a:blip r:embed="rId4">
              <a:alphaModFix/>
            </a:blip>
            <a:stretch>
              <a:fillRect b="0" l="0" r="0" t="0"/>
            </a:stretch>
          </a:blipFill>
          <a:ln>
            <a:noFill/>
          </a:ln>
        </p:spPr>
      </p:sp>
      <p:sp>
        <p:nvSpPr>
          <p:cNvPr id="392" name="Google Shape;392;p22"/>
          <p:cNvSpPr txBox="1"/>
          <p:nvPr/>
        </p:nvSpPr>
        <p:spPr>
          <a:xfrm>
            <a:off x="1370107" y="1232732"/>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Encoding Data Kategorikal</a:t>
            </a:r>
            <a:endParaRPr/>
          </a:p>
        </p:txBody>
      </p:sp>
      <p:sp>
        <p:nvSpPr>
          <p:cNvPr id="393" name="Google Shape;393;p22"/>
          <p:cNvSpPr txBox="1"/>
          <p:nvPr/>
        </p:nvSpPr>
        <p:spPr>
          <a:xfrm>
            <a:off x="12893669" y="2272068"/>
            <a:ext cx="4365631" cy="37490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Penjelasan:</a:t>
            </a:r>
            <a:endParaRPr/>
          </a:p>
          <a:p>
            <a:pPr indent="-259079" lvl="1" marL="518160" marR="0" rtl="0" algn="l">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Nilai yang lebih baik diberi angka lebih tinggi agar mudah dipelajari oleh model.</a:t>
            </a:r>
            <a:endParaRPr/>
          </a:p>
          <a:p>
            <a:pPr indent="-259079" lvl="1" marL="518160" marR="0" rtl="0" algn="l">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 Encoding ini bersifat sederhana dan cocok untuk praktikum pengantar.</a:t>
            </a:r>
            <a:endParaRP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99" name="Google Shape;399;p23"/>
          <p:cNvGrpSpPr/>
          <p:nvPr/>
        </p:nvGrpSpPr>
        <p:grpSpPr>
          <a:xfrm>
            <a:off x="0" y="-180826"/>
            <a:ext cx="18215537" cy="10467826"/>
            <a:chOff x="0" y="-47625"/>
            <a:chExt cx="4797508" cy="2756958"/>
          </a:xfrm>
        </p:grpSpPr>
        <p:sp>
          <p:nvSpPr>
            <p:cNvPr id="400" name="Google Shape;400;p23"/>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401" name="Google Shape;401;p23"/>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2" name="Google Shape;402;p23"/>
          <p:cNvSpPr/>
          <p:nvPr/>
        </p:nvSpPr>
        <p:spPr>
          <a:xfrm>
            <a:off x="1370107" y="1944969"/>
            <a:ext cx="15284233" cy="1776792"/>
          </a:xfrm>
          <a:custGeom>
            <a:rect b="b" l="l" r="r" t="t"/>
            <a:pathLst>
              <a:path extrusionOk="0" h="1776792" w="15284233">
                <a:moveTo>
                  <a:pt x="0" y="0"/>
                </a:moveTo>
                <a:lnTo>
                  <a:pt x="15284234" y="0"/>
                </a:lnTo>
                <a:lnTo>
                  <a:pt x="15284234" y="1776792"/>
                </a:lnTo>
                <a:lnTo>
                  <a:pt x="0" y="1776792"/>
                </a:lnTo>
                <a:lnTo>
                  <a:pt x="0" y="0"/>
                </a:lnTo>
                <a:close/>
              </a:path>
            </a:pathLst>
          </a:custGeom>
          <a:blipFill rotWithShape="1">
            <a:blip r:embed="rId4">
              <a:alphaModFix/>
            </a:blip>
            <a:stretch>
              <a:fillRect b="0" l="0" r="0" t="0"/>
            </a:stretch>
          </a:blipFill>
          <a:ln>
            <a:noFill/>
          </a:ln>
        </p:spPr>
      </p:sp>
      <p:sp>
        <p:nvSpPr>
          <p:cNvPr id="403" name="Google Shape;403;p23"/>
          <p:cNvSpPr/>
          <p:nvPr/>
        </p:nvSpPr>
        <p:spPr>
          <a:xfrm>
            <a:off x="1370107" y="6731106"/>
            <a:ext cx="15429729" cy="1378741"/>
          </a:xfrm>
          <a:custGeom>
            <a:rect b="b" l="l" r="r" t="t"/>
            <a:pathLst>
              <a:path extrusionOk="0" h="1378741" w="15429729">
                <a:moveTo>
                  <a:pt x="0" y="0"/>
                </a:moveTo>
                <a:lnTo>
                  <a:pt x="15429729" y="0"/>
                </a:lnTo>
                <a:lnTo>
                  <a:pt x="15429729" y="1378740"/>
                </a:lnTo>
                <a:lnTo>
                  <a:pt x="0" y="1378740"/>
                </a:lnTo>
                <a:lnTo>
                  <a:pt x="0" y="0"/>
                </a:lnTo>
                <a:close/>
              </a:path>
            </a:pathLst>
          </a:custGeom>
          <a:blipFill rotWithShape="1">
            <a:blip r:embed="rId5">
              <a:alphaModFix/>
            </a:blip>
            <a:stretch>
              <a:fillRect b="0" l="0" r="0" t="0"/>
            </a:stretch>
          </a:blipFill>
          <a:ln>
            <a:noFill/>
          </a:ln>
        </p:spPr>
      </p:sp>
      <p:sp>
        <p:nvSpPr>
          <p:cNvPr id="404" name="Google Shape;404;p23"/>
          <p:cNvSpPr txBox="1"/>
          <p:nvPr/>
        </p:nvSpPr>
        <p:spPr>
          <a:xfrm>
            <a:off x="1370107" y="1232732"/>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Memisahkan Fitur dan Label</a:t>
            </a:r>
            <a:endParaRPr/>
          </a:p>
        </p:txBody>
      </p:sp>
      <p:sp>
        <p:nvSpPr>
          <p:cNvPr id="405" name="Google Shape;405;p23"/>
          <p:cNvSpPr txBox="1"/>
          <p:nvPr/>
        </p:nvSpPr>
        <p:spPr>
          <a:xfrm>
            <a:off x="1370107" y="4189072"/>
            <a:ext cx="12762117" cy="12344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Penjelasan:</a:t>
            </a:r>
            <a:endParaRPr/>
          </a:p>
          <a:p>
            <a:pPr indent="-259079" lvl="1" marL="518160" marR="0" rtl="0" algn="l">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X berisi atribut penilaian kredit.</a:t>
            </a:r>
            <a:endParaRPr/>
          </a:p>
          <a:p>
            <a:pPr indent="-259079" lvl="1" marL="518160" marR="0" rtl="0" algn="l">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y berisi keputusan kelayakan kredit.</a:t>
            </a:r>
            <a:endParaRPr/>
          </a:p>
        </p:txBody>
      </p:sp>
      <p:sp>
        <p:nvSpPr>
          <p:cNvPr id="406" name="Google Shape;406;p23"/>
          <p:cNvSpPr txBox="1"/>
          <p:nvPr/>
        </p:nvSpPr>
        <p:spPr>
          <a:xfrm>
            <a:off x="1370107" y="6016096"/>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Membangun dan Melatih Model Decision Tree</a:t>
            </a:r>
            <a:endParaRPr/>
          </a:p>
        </p:txBody>
      </p:sp>
      <p:sp>
        <p:nvSpPr>
          <p:cNvPr id="407" name="Google Shape;407;p23"/>
          <p:cNvSpPr txBox="1"/>
          <p:nvPr/>
        </p:nvSpPr>
        <p:spPr>
          <a:xfrm>
            <a:off x="1370107" y="8347971"/>
            <a:ext cx="15429729" cy="12344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Penjelasan:</a:t>
            </a:r>
            <a:endParaRPr/>
          </a:p>
          <a:p>
            <a:pPr indent="-259079" lvl="1" marL="518160" marR="0" rtl="0" algn="l">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Model mempelajari pola hubungan antara data nasabah dan keputusan kelayakan berdasarkan data historis.</a:t>
            </a:r>
            <a:endParaRPr/>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413" name="Google Shape;413;p24"/>
          <p:cNvGrpSpPr/>
          <p:nvPr/>
        </p:nvGrpSpPr>
        <p:grpSpPr>
          <a:xfrm>
            <a:off x="0" y="-180826"/>
            <a:ext cx="18215537" cy="10467826"/>
            <a:chOff x="0" y="-47625"/>
            <a:chExt cx="4797508" cy="2756958"/>
          </a:xfrm>
        </p:grpSpPr>
        <p:sp>
          <p:nvSpPr>
            <p:cNvPr id="414" name="Google Shape;414;p24"/>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415" name="Google Shape;415;p24"/>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16" name="Google Shape;416;p24"/>
          <p:cNvSpPr/>
          <p:nvPr/>
        </p:nvSpPr>
        <p:spPr>
          <a:xfrm>
            <a:off x="7480202" y="2116314"/>
            <a:ext cx="8406916" cy="7141986"/>
          </a:xfrm>
          <a:custGeom>
            <a:rect b="b" l="l" r="r" t="t"/>
            <a:pathLst>
              <a:path extrusionOk="0" h="7141986" w="8406916">
                <a:moveTo>
                  <a:pt x="0" y="0"/>
                </a:moveTo>
                <a:lnTo>
                  <a:pt x="8406915" y="0"/>
                </a:lnTo>
                <a:lnTo>
                  <a:pt x="8406915" y="7141986"/>
                </a:lnTo>
                <a:lnTo>
                  <a:pt x="0" y="7141986"/>
                </a:lnTo>
                <a:lnTo>
                  <a:pt x="0" y="0"/>
                </a:lnTo>
                <a:close/>
              </a:path>
            </a:pathLst>
          </a:custGeom>
          <a:blipFill rotWithShape="1">
            <a:blip r:embed="rId4">
              <a:alphaModFix/>
            </a:blip>
            <a:stretch>
              <a:fillRect b="0" l="0" r="0" t="0"/>
            </a:stretch>
          </a:blipFill>
          <a:ln>
            <a:noFill/>
          </a:ln>
        </p:spPr>
      </p:sp>
      <p:sp>
        <p:nvSpPr>
          <p:cNvPr id="417" name="Google Shape;417;p24"/>
          <p:cNvSpPr txBox="1"/>
          <p:nvPr/>
        </p:nvSpPr>
        <p:spPr>
          <a:xfrm>
            <a:off x="1370107" y="1232732"/>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Melakukan Prediksi Calon Nasabah Baru</a:t>
            </a:r>
            <a:endParaRPr/>
          </a:p>
        </p:txBody>
      </p:sp>
      <p:sp>
        <p:nvSpPr>
          <p:cNvPr id="418" name="Google Shape;418;p24"/>
          <p:cNvSpPr txBox="1"/>
          <p:nvPr/>
        </p:nvSpPr>
        <p:spPr>
          <a:xfrm>
            <a:off x="1542422" y="2078214"/>
            <a:ext cx="5309496" cy="24917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Misalkan terdapat calon nasabah dengan data berikut:</a:t>
            </a:r>
            <a:endParaRPr/>
          </a:p>
          <a:p>
            <a:pPr indent="-259079" lvl="1" marL="518160" marR="0" rtl="0" algn="l">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Pendapatan: 1 juta</a:t>
            </a:r>
            <a:endParaRPr/>
          </a:p>
          <a:p>
            <a:pPr indent="-259079" lvl="1" marL="518160" marR="0" rtl="0" algn="l">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Status pekerjaan: Kontrak</a:t>
            </a:r>
            <a:endParaRPr/>
          </a:p>
          <a:p>
            <a:pPr indent="-259079" lvl="1" marL="518160" marR="0" rtl="0" algn="l">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Tanggungan: 2 orang</a:t>
            </a:r>
            <a:endParaRPr/>
          </a:p>
          <a:p>
            <a:pPr indent="-259079" lvl="1" marL="518160" marR="0" rtl="0" algn="l">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Riwayat kredit: Baik</a:t>
            </a:r>
            <a:endParaRP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424" name="Google Shape;424;p25"/>
          <p:cNvGrpSpPr/>
          <p:nvPr/>
        </p:nvGrpSpPr>
        <p:grpSpPr>
          <a:xfrm>
            <a:off x="0" y="-180826"/>
            <a:ext cx="18215537" cy="10467826"/>
            <a:chOff x="0" y="-47625"/>
            <a:chExt cx="4797508" cy="2756958"/>
          </a:xfrm>
        </p:grpSpPr>
        <p:sp>
          <p:nvSpPr>
            <p:cNvPr id="425" name="Google Shape;425;p25"/>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426" name="Google Shape;426;p25"/>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7" name="Google Shape;427;p25"/>
          <p:cNvSpPr/>
          <p:nvPr/>
        </p:nvSpPr>
        <p:spPr>
          <a:xfrm flipH="1">
            <a:off x="5695556" y="3310519"/>
            <a:ext cx="6555397" cy="6571827"/>
          </a:xfrm>
          <a:custGeom>
            <a:rect b="b" l="l" r="r" t="t"/>
            <a:pathLst>
              <a:path extrusionOk="0" h="6571827" w="6555397">
                <a:moveTo>
                  <a:pt x="6555398" y="0"/>
                </a:moveTo>
                <a:lnTo>
                  <a:pt x="0" y="0"/>
                </a:lnTo>
                <a:lnTo>
                  <a:pt x="0" y="6571826"/>
                </a:lnTo>
                <a:lnTo>
                  <a:pt x="6555398" y="6571826"/>
                </a:lnTo>
                <a:lnTo>
                  <a:pt x="6555398" y="0"/>
                </a:lnTo>
                <a:close/>
              </a:path>
            </a:pathLst>
          </a:custGeom>
          <a:blipFill rotWithShape="1">
            <a:blip r:embed="rId4">
              <a:alphaModFix/>
            </a:blip>
            <a:stretch>
              <a:fillRect b="0" l="0" r="0" t="0"/>
            </a:stretch>
          </a:blipFill>
          <a:ln>
            <a:noFill/>
          </a:ln>
        </p:spPr>
      </p:sp>
      <p:pic>
        <p:nvPicPr>
          <p:cNvPr id="428" name="Google Shape;428;p25"/>
          <p:cNvPicPr preferRelativeResize="0"/>
          <p:nvPr/>
        </p:nvPicPr>
        <p:blipFill rotWithShape="1">
          <a:blip r:embed="rId5">
            <a:alphaModFix/>
          </a:blip>
          <a:srcRect b="0" l="0" r="0" t="0"/>
          <a:stretch/>
        </p:blipFill>
        <p:spPr>
          <a:xfrm>
            <a:off x="10826214" y="1681648"/>
            <a:ext cx="7017912" cy="7017912"/>
          </a:xfrm>
          <a:prstGeom prst="rect">
            <a:avLst/>
          </a:prstGeom>
          <a:noFill/>
          <a:ln>
            <a:noFill/>
          </a:ln>
        </p:spPr>
      </p:pic>
      <p:sp>
        <p:nvSpPr>
          <p:cNvPr id="429" name="Google Shape;429;p25"/>
          <p:cNvSpPr txBox="1"/>
          <p:nvPr/>
        </p:nvSpPr>
        <p:spPr>
          <a:xfrm>
            <a:off x="1318103" y="1544808"/>
            <a:ext cx="7409866" cy="795021"/>
          </a:xfrm>
          <a:prstGeom prst="rect">
            <a:avLst/>
          </a:prstGeom>
          <a:noFill/>
          <a:ln>
            <a:noFill/>
          </a:ln>
        </p:spPr>
        <p:txBody>
          <a:bodyPr anchorCtr="0" anchor="t" bIns="0" lIns="0" spcFirstLastPara="1" rIns="0" wrap="square" tIns="0">
            <a:spAutoFit/>
          </a:bodyPr>
          <a:lstStyle/>
          <a:p>
            <a:pPr indent="0" lvl="0" marL="0" marR="0" rtl="0" algn="just">
              <a:lnSpc>
                <a:spcPct val="140008"/>
              </a:lnSpc>
              <a:spcBef>
                <a:spcPts val="0"/>
              </a:spcBef>
              <a:spcAft>
                <a:spcPts val="0"/>
              </a:spcAft>
              <a:buNone/>
            </a:pPr>
            <a:r>
              <a:rPr b="1" i="0" lang="en-US" sz="4699" u="none" cap="none" strike="noStrike">
                <a:solidFill>
                  <a:srgbClr val="162651"/>
                </a:solidFill>
                <a:latin typeface="Montserrat"/>
                <a:ea typeface="Montserrat"/>
                <a:cs typeface="Montserrat"/>
                <a:sym typeface="Montserrat"/>
              </a:rPr>
              <a:t>Praktik Mandiri</a:t>
            </a:r>
            <a:endParaRPr/>
          </a:p>
        </p:txBody>
      </p:sp>
      <p:sp>
        <p:nvSpPr>
          <p:cNvPr id="430" name="Google Shape;430;p25"/>
          <p:cNvSpPr txBox="1"/>
          <p:nvPr/>
        </p:nvSpPr>
        <p:spPr>
          <a:xfrm>
            <a:off x="11680422" y="1654036"/>
            <a:ext cx="5309496" cy="3962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Ambil dataset:</a:t>
            </a:r>
            <a:endParaRPr/>
          </a:p>
        </p:txBody>
      </p:sp>
      <p:sp>
        <p:nvSpPr>
          <p:cNvPr id="431" name="Google Shape;431;p25"/>
          <p:cNvSpPr txBox="1"/>
          <p:nvPr/>
        </p:nvSpPr>
        <p:spPr>
          <a:xfrm>
            <a:off x="1318103" y="2414534"/>
            <a:ext cx="6989696" cy="8959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Klasifikasi Kelayakan Pemberian Kredit Menggunakan Decision Tree</a:t>
            </a:r>
            <a:endParaRPr/>
          </a:p>
        </p:txBody>
      </p:sp>
      <p:sp>
        <p:nvSpPr>
          <p:cNvPr id="432" name="Google Shape;432;p25"/>
          <p:cNvSpPr txBox="1"/>
          <p:nvPr/>
        </p:nvSpPr>
        <p:spPr>
          <a:xfrm>
            <a:off x="1213065" y="3878580"/>
            <a:ext cx="5309496" cy="2491740"/>
          </a:xfrm>
          <a:prstGeom prst="rect">
            <a:avLst/>
          </a:prstGeom>
          <a:noFill/>
          <a:ln>
            <a:noFill/>
          </a:ln>
        </p:spPr>
        <p:txBody>
          <a:bodyPr anchorCtr="0" anchor="t" bIns="0" lIns="0" spcFirstLastPara="1" rIns="0" wrap="square" tIns="0">
            <a:spAutoFit/>
          </a:bodyPr>
          <a:lstStyle/>
          <a:p>
            <a:pPr indent="-259079" lvl="1" marL="518160" marR="0" rtl="0" algn="l">
              <a:lnSpc>
                <a:spcPct val="139958"/>
              </a:lnSpc>
              <a:spcBef>
                <a:spcPts val="0"/>
              </a:spcBef>
              <a:spcAft>
                <a:spcPts val="0"/>
              </a:spcAft>
              <a:buClr>
                <a:srgbClr val="162651"/>
              </a:buClr>
              <a:buSzPts val="2400"/>
              <a:buFont typeface="Montserrat"/>
              <a:buAutoNum type="arabicPeriod"/>
            </a:pPr>
            <a:r>
              <a:rPr b="0" i="0" lang="en-US" sz="2400" u="none" cap="none" strike="noStrike">
                <a:solidFill>
                  <a:srgbClr val="162651"/>
                </a:solidFill>
                <a:latin typeface="Montserrat"/>
                <a:ea typeface="Montserrat"/>
                <a:cs typeface="Montserrat"/>
                <a:sym typeface="Montserrat"/>
              </a:rPr>
              <a:t>Penanganan missing value</a:t>
            </a:r>
            <a:endParaRPr/>
          </a:p>
          <a:p>
            <a:pPr indent="-259079" lvl="1" marL="518160" marR="0" rtl="0" algn="l">
              <a:lnSpc>
                <a:spcPct val="139958"/>
              </a:lnSpc>
              <a:spcBef>
                <a:spcPts val="0"/>
              </a:spcBef>
              <a:spcAft>
                <a:spcPts val="0"/>
              </a:spcAft>
              <a:buClr>
                <a:srgbClr val="162651"/>
              </a:buClr>
              <a:buSzPts val="2400"/>
              <a:buFont typeface="Montserrat"/>
              <a:buAutoNum type="arabicPeriod"/>
            </a:pPr>
            <a:r>
              <a:rPr b="0" i="0" lang="en-US" sz="2400" u="none" cap="none" strike="noStrike">
                <a:solidFill>
                  <a:srgbClr val="162651"/>
                </a:solidFill>
                <a:latin typeface="Montserrat"/>
                <a:ea typeface="Montserrat"/>
                <a:cs typeface="Montserrat"/>
                <a:sym typeface="Montserrat"/>
              </a:rPr>
              <a:t>Kategorikal tidak konsisten</a:t>
            </a:r>
            <a:endParaRPr/>
          </a:p>
          <a:p>
            <a:pPr indent="-259079" lvl="1" marL="518160" marR="0" rtl="0" algn="l">
              <a:lnSpc>
                <a:spcPct val="139958"/>
              </a:lnSpc>
              <a:spcBef>
                <a:spcPts val="0"/>
              </a:spcBef>
              <a:spcAft>
                <a:spcPts val="0"/>
              </a:spcAft>
              <a:buClr>
                <a:srgbClr val="162651"/>
              </a:buClr>
              <a:buSzPts val="2400"/>
              <a:buFont typeface="Montserrat"/>
              <a:buAutoNum type="arabicPeriod"/>
            </a:pPr>
            <a:r>
              <a:rPr b="0" i="0" lang="en-US" sz="2400" u="none" cap="none" strike="noStrike">
                <a:solidFill>
                  <a:srgbClr val="162651"/>
                </a:solidFill>
                <a:latin typeface="Montserrat"/>
                <a:ea typeface="Montserrat"/>
                <a:cs typeface="Montserrat"/>
                <a:sym typeface="Montserrat"/>
              </a:rPr>
              <a:t>Deteksi outlier</a:t>
            </a:r>
            <a:endParaRPr/>
          </a:p>
          <a:p>
            <a:pPr indent="-259079" lvl="1" marL="518160" marR="0" rtl="0" algn="l">
              <a:lnSpc>
                <a:spcPct val="139958"/>
              </a:lnSpc>
              <a:spcBef>
                <a:spcPts val="0"/>
              </a:spcBef>
              <a:spcAft>
                <a:spcPts val="0"/>
              </a:spcAft>
              <a:buClr>
                <a:srgbClr val="162651"/>
              </a:buClr>
              <a:buSzPts val="2400"/>
              <a:buFont typeface="Montserrat"/>
              <a:buAutoNum type="arabicPeriod"/>
            </a:pPr>
            <a:r>
              <a:rPr b="0" i="0" lang="en-US" sz="2400" u="none" cap="none" strike="noStrike">
                <a:solidFill>
                  <a:srgbClr val="162651"/>
                </a:solidFill>
                <a:latin typeface="Montserrat"/>
                <a:ea typeface="Montserrat"/>
                <a:cs typeface="Montserrat"/>
                <a:sym typeface="Montserrat"/>
              </a:rPr>
              <a:t>Encoding data</a:t>
            </a:r>
            <a:endParaRPr/>
          </a:p>
          <a:p>
            <a:pPr indent="-259079" lvl="1" marL="518160" marR="0" rtl="0" algn="l">
              <a:lnSpc>
                <a:spcPct val="139958"/>
              </a:lnSpc>
              <a:spcBef>
                <a:spcPts val="0"/>
              </a:spcBef>
              <a:spcAft>
                <a:spcPts val="0"/>
              </a:spcAft>
              <a:buClr>
                <a:srgbClr val="162651"/>
              </a:buClr>
              <a:buSzPts val="2400"/>
              <a:buFont typeface="Montserrat"/>
              <a:buAutoNum type="arabicPeriod"/>
            </a:pPr>
            <a:r>
              <a:rPr b="0" i="0" lang="en-US" sz="2400" u="none" cap="none" strike="noStrike">
                <a:solidFill>
                  <a:srgbClr val="162651"/>
                </a:solidFill>
                <a:latin typeface="Montserrat"/>
                <a:ea typeface="Montserrat"/>
                <a:cs typeface="Montserrat"/>
                <a:sym typeface="Montserrat"/>
              </a:rPr>
              <a:t>Decision Tree</a:t>
            </a:r>
            <a:endParaRPr/>
          </a:p>
          <a:p>
            <a:pPr indent="0" lvl="0" marL="0" marR="0" rtl="0" algn="l">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p:txBody>
      </p:sp>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