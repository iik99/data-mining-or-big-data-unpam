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10287000" cx="18288000"/>
  <p:notesSz cx="6858000" cy="9144000"/>
  <p:embeddedFontLst>
    <p:embeddedFont>
      <p:font typeface="Montserrat"/>
      <p:bold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7" roundtripDataSignature="AMtx7mhaXBWi+C22q2XQQhjsoOeKYWFo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Montserrat-bold.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Montserrat-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9"/>
          <p:cNvSpPr/>
          <p:nvPr>
            <p:ph idx="2" type="pic"/>
          </p:nvPr>
        </p:nvSpPr>
        <p:spPr>
          <a:xfrm>
            <a:off x="1792288" y="612775"/>
            <a:ext cx="5486400" cy="4114800"/>
          </a:xfrm>
          <a:prstGeom prst="rect">
            <a:avLst/>
          </a:prstGeom>
          <a:noFill/>
          <a:ln>
            <a:noFill/>
          </a:ln>
        </p:spPr>
      </p:sp>
      <p:sp>
        <p:nvSpPr>
          <p:cNvPr id="64" name="Google Shape;64;p3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jpg"/><Relationship Id="rId4" Type="http://schemas.openxmlformats.org/officeDocument/2006/relationships/image" Target="../media/image2.png"/><Relationship Id="rId11" Type="http://schemas.openxmlformats.org/officeDocument/2006/relationships/image" Target="../media/image12.png"/><Relationship Id="rId10" Type="http://schemas.openxmlformats.org/officeDocument/2006/relationships/image" Target="../media/image1.png"/><Relationship Id="rId9" Type="http://schemas.openxmlformats.org/officeDocument/2006/relationships/image" Target="../media/image11.png"/><Relationship Id="rId5" Type="http://schemas.openxmlformats.org/officeDocument/2006/relationships/image" Target="../media/image9.png"/><Relationship Id="rId6" Type="http://schemas.openxmlformats.org/officeDocument/2006/relationships/image" Target="../media/image17.png"/><Relationship Id="rId7" Type="http://schemas.openxmlformats.org/officeDocument/2006/relationships/image" Target="../media/image10.png"/><Relationship Id="rId8"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3.jpg"/><Relationship Id="rId4" Type="http://schemas.openxmlformats.org/officeDocument/2006/relationships/image" Target="../media/image5.png"/><Relationship Id="rId9" Type="http://schemas.openxmlformats.org/officeDocument/2006/relationships/image" Target="../media/image11.png"/><Relationship Id="rId5" Type="http://schemas.openxmlformats.org/officeDocument/2006/relationships/image" Target="../media/image2.png"/><Relationship Id="rId6" Type="http://schemas.openxmlformats.org/officeDocument/2006/relationships/image" Target="../media/image18.png"/><Relationship Id="rId7" Type="http://schemas.openxmlformats.org/officeDocument/2006/relationships/image" Target="../media/image17.png"/><Relationship Id="rId8" Type="http://schemas.openxmlformats.org/officeDocument/2006/relationships/image" Target="../media/image2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5.jpg"/><Relationship Id="rId4" Type="http://schemas.openxmlformats.org/officeDocument/2006/relationships/image" Target="../media/image8.png"/><Relationship Id="rId5" Type="http://schemas.openxmlformats.org/officeDocument/2006/relationships/image" Target="../media/image14.png"/><Relationship Id="rId6" Type="http://schemas.openxmlformats.org/officeDocument/2006/relationships/image" Target="../media/image13.png"/><Relationship Id="rId7" Type="http://schemas.openxmlformats.org/officeDocument/2006/relationships/image" Target="../media/image7.png"/><Relationship Id="rId8"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2.jpg"/><Relationship Id="rId4" Type="http://schemas.openxmlformats.org/officeDocument/2006/relationships/image" Target="../media/image14.png"/><Relationship Id="rId5" Type="http://schemas.openxmlformats.org/officeDocument/2006/relationships/image" Target="../media/image21.png"/><Relationship Id="rId6" Type="http://schemas.openxmlformats.org/officeDocument/2006/relationships/image" Target="../media/image24.png"/><Relationship Id="rId7" Type="http://schemas.openxmlformats.org/officeDocument/2006/relationships/image" Target="../media/image2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0.jpg"/><Relationship Id="rId4"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0.jpg"/><Relationship Id="rId4" Type="http://schemas.openxmlformats.org/officeDocument/2006/relationships/image" Target="../media/image3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jpg"/><Relationship Id="rId4" Type="http://schemas.openxmlformats.org/officeDocument/2006/relationships/image" Target="../media/image14.png"/><Relationship Id="rId5" Type="http://schemas.openxmlformats.org/officeDocument/2006/relationships/image" Target="../media/image13.png"/><Relationship Id="rId6" Type="http://schemas.openxmlformats.org/officeDocument/2006/relationships/image" Target="../media/image7.png"/><Relationship Id="rId7" Type="http://schemas.openxmlformats.org/officeDocument/2006/relationships/image" Target="../media/image18.png"/><Relationship Id="rId8"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jpg"/><Relationship Id="rId4" Type="http://schemas.openxmlformats.org/officeDocument/2006/relationships/image" Target="../media/image14.png"/><Relationship Id="rId5" Type="http://schemas.openxmlformats.org/officeDocument/2006/relationships/image" Target="../media/image13.png"/><Relationship Id="rId6" Type="http://schemas.openxmlformats.org/officeDocument/2006/relationships/image" Target="../media/image7.png"/><Relationship Id="rId7"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1.jpg"/><Relationship Id="rId4" Type="http://schemas.openxmlformats.org/officeDocument/2006/relationships/image" Target="../media/image24.png"/><Relationship Id="rId5" Type="http://schemas.openxmlformats.org/officeDocument/2006/relationships/image" Target="../media/image3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1.jpg"/><Relationship Id="rId4" Type="http://schemas.openxmlformats.org/officeDocument/2006/relationships/image" Target="../media/image24.png"/><Relationship Id="rId5" Type="http://schemas.openxmlformats.org/officeDocument/2006/relationships/image" Target="../media/image36.png"/><Relationship Id="rId6" Type="http://schemas.openxmlformats.org/officeDocument/2006/relationships/image" Target="../media/image51.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9.jpg"/><Relationship Id="rId4" Type="http://schemas.openxmlformats.org/officeDocument/2006/relationships/image" Target="../media/image36.png"/><Relationship Id="rId5" Type="http://schemas.openxmlformats.org/officeDocument/2006/relationships/image" Target="../media/image24.png"/><Relationship Id="rId6" Type="http://schemas.openxmlformats.org/officeDocument/2006/relationships/image" Target="../media/image35.png"/><Relationship Id="rId7" Type="http://schemas.openxmlformats.org/officeDocument/2006/relationships/image" Target="../media/image44.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9.jpg"/><Relationship Id="rId4" Type="http://schemas.openxmlformats.org/officeDocument/2006/relationships/image" Target="../media/image36.png"/><Relationship Id="rId5" Type="http://schemas.openxmlformats.org/officeDocument/2006/relationships/image" Target="../media/image24.png"/><Relationship Id="rId6" Type="http://schemas.openxmlformats.org/officeDocument/2006/relationships/image" Target="../media/image4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jpg"/><Relationship Id="rId4" Type="http://schemas.openxmlformats.org/officeDocument/2006/relationships/image" Target="../media/image8.png"/><Relationship Id="rId5" Type="http://schemas.openxmlformats.org/officeDocument/2006/relationships/image" Target="../media/image14.png"/><Relationship Id="rId6" Type="http://schemas.openxmlformats.org/officeDocument/2006/relationships/image" Target="../media/image13.png"/><Relationship Id="rId7" Type="http://schemas.openxmlformats.org/officeDocument/2006/relationships/image" Target="../media/image7.png"/><Relationship Id="rId8"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5.jpg"/><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5.jp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5.jpg"/><Relationship Id="rId4" Type="http://schemas.openxmlformats.org/officeDocument/2006/relationships/image" Target="../media/image39.png"/><Relationship Id="rId5" Type="http://schemas.openxmlformats.org/officeDocument/2006/relationships/image" Target="../media/image4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5.jpg"/><Relationship Id="rId4" Type="http://schemas.openxmlformats.org/officeDocument/2006/relationships/image" Target="../media/image46.png"/><Relationship Id="rId5" Type="http://schemas.openxmlformats.org/officeDocument/2006/relationships/image" Target="../media/image5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5.jpg"/><Relationship Id="rId4" Type="http://schemas.openxmlformats.org/officeDocument/2006/relationships/image" Target="../media/image48.png"/><Relationship Id="rId5" Type="http://schemas.openxmlformats.org/officeDocument/2006/relationships/image" Target="../media/image6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5.jpg"/><Relationship Id="rId4" Type="http://schemas.openxmlformats.org/officeDocument/2006/relationships/image" Target="../media/image5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5.jpg"/><Relationship Id="rId4" Type="http://schemas.openxmlformats.org/officeDocument/2006/relationships/image" Target="../media/image4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5.jpg"/><Relationship Id="rId4" Type="http://schemas.openxmlformats.org/officeDocument/2006/relationships/image" Target="../media/image5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5.jp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5.jpg"/><Relationship Id="rId4" Type="http://schemas.openxmlformats.org/officeDocument/2006/relationships/image" Target="../media/image6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5.jpg"/><Relationship Id="rId4" Type="http://schemas.openxmlformats.org/officeDocument/2006/relationships/image" Target="../media/image5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5.jpg"/><Relationship Id="rId4" Type="http://schemas.openxmlformats.org/officeDocument/2006/relationships/image" Target="../media/image5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55.jpg"/><Relationship Id="rId4" Type="http://schemas.openxmlformats.org/officeDocument/2006/relationships/image" Target="../media/image5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5.jpg"/><Relationship Id="rId4" Type="http://schemas.openxmlformats.org/officeDocument/2006/relationships/image" Target="../media/image5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5.jpg"/><Relationship Id="rId4" Type="http://schemas.openxmlformats.org/officeDocument/2006/relationships/image" Target="../media/image5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5.jpg"/><Relationship Id="rId4" Type="http://schemas.openxmlformats.org/officeDocument/2006/relationships/image" Target="../media/image62.png"/><Relationship Id="rId5"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sp>
        <p:nvSpPr>
          <p:cNvPr id="85" name="Google Shape;85;p1"/>
          <p:cNvSpPr/>
          <p:nvPr/>
        </p:nvSpPr>
        <p:spPr>
          <a:xfrm>
            <a:off x="-2125279" y="5851610"/>
            <a:ext cx="5810817" cy="5810817"/>
          </a:xfrm>
          <a:custGeom>
            <a:rect b="b" l="l" r="r" t="t"/>
            <a:pathLst>
              <a:path extrusionOk="0" h="5810817" w="5810817">
                <a:moveTo>
                  <a:pt x="0" y="0"/>
                </a:moveTo>
                <a:lnTo>
                  <a:pt x="5810817" y="0"/>
                </a:lnTo>
                <a:lnTo>
                  <a:pt x="5810817" y="5810816"/>
                </a:lnTo>
                <a:lnTo>
                  <a:pt x="0" y="5810816"/>
                </a:lnTo>
                <a:lnTo>
                  <a:pt x="0" y="0"/>
                </a:lnTo>
                <a:close/>
              </a:path>
            </a:pathLst>
          </a:custGeom>
          <a:blipFill rotWithShape="1">
            <a:blip r:embed="rId4">
              <a:alphaModFix amt="65999"/>
            </a:blip>
            <a:stretch>
              <a:fillRect b="0" l="0" r="0" t="0"/>
            </a:stretch>
          </a:blipFill>
          <a:ln>
            <a:noFill/>
          </a:ln>
        </p:spPr>
      </p:sp>
      <p:sp>
        <p:nvSpPr>
          <p:cNvPr id="86" name="Google Shape;86;p1"/>
          <p:cNvSpPr/>
          <p:nvPr/>
        </p:nvSpPr>
        <p:spPr>
          <a:xfrm>
            <a:off x="780129" y="2727121"/>
            <a:ext cx="7754648" cy="5011441"/>
          </a:xfrm>
          <a:custGeom>
            <a:rect b="b" l="l" r="r" t="t"/>
            <a:pathLst>
              <a:path extrusionOk="0" h="5011441" w="7754648">
                <a:moveTo>
                  <a:pt x="0" y="0"/>
                </a:moveTo>
                <a:lnTo>
                  <a:pt x="7754649" y="0"/>
                </a:lnTo>
                <a:lnTo>
                  <a:pt x="7754649" y="5011441"/>
                </a:lnTo>
                <a:lnTo>
                  <a:pt x="0" y="5011441"/>
                </a:lnTo>
                <a:lnTo>
                  <a:pt x="0" y="0"/>
                </a:lnTo>
                <a:close/>
              </a:path>
            </a:pathLst>
          </a:custGeom>
          <a:blipFill rotWithShape="1">
            <a:blip r:embed="rId5">
              <a:alphaModFix/>
            </a:blip>
            <a:stretch>
              <a:fillRect b="0" l="0" r="0" t="0"/>
            </a:stretch>
          </a:blipFill>
          <a:ln>
            <a:noFill/>
          </a:ln>
        </p:spPr>
      </p:sp>
      <p:sp>
        <p:nvSpPr>
          <p:cNvPr id="87" name="Google Shape;87;p1"/>
          <p:cNvSpPr/>
          <p:nvPr/>
        </p:nvSpPr>
        <p:spPr>
          <a:xfrm>
            <a:off x="14314527" y="-1367361"/>
            <a:ext cx="8214637" cy="8229600"/>
          </a:xfrm>
          <a:custGeom>
            <a:rect b="b" l="l" r="r" t="t"/>
            <a:pathLst>
              <a:path extrusionOk="0" h="8229600" w="8214637">
                <a:moveTo>
                  <a:pt x="0" y="0"/>
                </a:moveTo>
                <a:lnTo>
                  <a:pt x="8214637" y="0"/>
                </a:lnTo>
                <a:lnTo>
                  <a:pt x="8214637" y="8229600"/>
                </a:lnTo>
                <a:lnTo>
                  <a:pt x="0" y="8229600"/>
                </a:lnTo>
                <a:lnTo>
                  <a:pt x="0" y="0"/>
                </a:lnTo>
                <a:close/>
              </a:path>
            </a:pathLst>
          </a:custGeom>
          <a:blipFill rotWithShape="1">
            <a:blip r:embed="rId6">
              <a:alphaModFix/>
            </a:blip>
            <a:stretch>
              <a:fillRect b="0" l="0" r="0" t="0"/>
            </a:stretch>
          </a:blipFill>
          <a:ln>
            <a:noFill/>
          </a:ln>
        </p:spPr>
      </p:sp>
      <p:sp>
        <p:nvSpPr>
          <p:cNvPr id="88" name="Google Shape;88;p1"/>
          <p:cNvSpPr/>
          <p:nvPr/>
        </p:nvSpPr>
        <p:spPr>
          <a:xfrm>
            <a:off x="-1013954" y="-1942675"/>
            <a:ext cx="6663644" cy="4114800"/>
          </a:xfrm>
          <a:custGeom>
            <a:rect b="b" l="l" r="r" t="t"/>
            <a:pathLst>
              <a:path extrusionOk="0" h="4114800" w="6663644">
                <a:moveTo>
                  <a:pt x="0" y="0"/>
                </a:moveTo>
                <a:lnTo>
                  <a:pt x="6663644" y="0"/>
                </a:lnTo>
                <a:lnTo>
                  <a:pt x="6663644" y="4114800"/>
                </a:lnTo>
                <a:lnTo>
                  <a:pt x="0" y="4114800"/>
                </a:lnTo>
                <a:lnTo>
                  <a:pt x="0" y="0"/>
                </a:lnTo>
                <a:close/>
              </a:path>
            </a:pathLst>
          </a:custGeom>
          <a:blipFill rotWithShape="1">
            <a:blip r:embed="rId7">
              <a:alphaModFix/>
            </a:blip>
            <a:stretch>
              <a:fillRect b="0" l="0" r="0" t="0"/>
            </a:stretch>
          </a:blipFill>
          <a:ln>
            <a:noFill/>
          </a:ln>
        </p:spPr>
      </p:sp>
      <p:sp>
        <p:nvSpPr>
          <p:cNvPr id="89" name="Google Shape;89;p1"/>
          <p:cNvSpPr/>
          <p:nvPr/>
        </p:nvSpPr>
        <p:spPr>
          <a:xfrm rot="10800000">
            <a:off x="13396817" y="7234638"/>
            <a:ext cx="4891183" cy="3044761"/>
          </a:xfrm>
          <a:custGeom>
            <a:rect b="b" l="l" r="r" t="t"/>
            <a:pathLst>
              <a:path extrusionOk="0" h="3044761" w="4891183">
                <a:moveTo>
                  <a:pt x="4891183" y="3044761"/>
                </a:moveTo>
                <a:lnTo>
                  <a:pt x="0" y="3044761"/>
                </a:lnTo>
                <a:lnTo>
                  <a:pt x="0" y="0"/>
                </a:lnTo>
                <a:lnTo>
                  <a:pt x="4891183" y="0"/>
                </a:lnTo>
                <a:lnTo>
                  <a:pt x="4891183" y="3044761"/>
                </a:lnTo>
                <a:close/>
              </a:path>
            </a:pathLst>
          </a:custGeom>
          <a:blipFill rotWithShape="1">
            <a:blip r:embed="rId8">
              <a:alphaModFix/>
            </a:blip>
            <a:stretch>
              <a:fillRect b="0" l="0" r="0" t="0"/>
            </a:stretch>
          </a:blipFill>
          <a:ln>
            <a:noFill/>
          </a:ln>
        </p:spPr>
      </p:sp>
      <p:sp>
        <p:nvSpPr>
          <p:cNvPr id="90" name="Google Shape;90;p1"/>
          <p:cNvSpPr/>
          <p:nvPr/>
        </p:nvSpPr>
        <p:spPr>
          <a:xfrm>
            <a:off x="6081617" y="9603195"/>
            <a:ext cx="7315200" cy="2026456"/>
          </a:xfrm>
          <a:custGeom>
            <a:rect b="b" l="l" r="r" t="t"/>
            <a:pathLst>
              <a:path extrusionOk="0" h="2026456" w="7315200">
                <a:moveTo>
                  <a:pt x="0" y="0"/>
                </a:moveTo>
                <a:lnTo>
                  <a:pt x="7315200" y="0"/>
                </a:lnTo>
                <a:lnTo>
                  <a:pt x="7315200" y="2026456"/>
                </a:lnTo>
                <a:lnTo>
                  <a:pt x="0" y="2026456"/>
                </a:lnTo>
                <a:lnTo>
                  <a:pt x="0" y="0"/>
                </a:lnTo>
                <a:close/>
              </a:path>
            </a:pathLst>
          </a:custGeom>
          <a:blipFill rotWithShape="1">
            <a:blip r:embed="rId9">
              <a:alphaModFix/>
            </a:blip>
            <a:stretch>
              <a:fillRect b="0" l="0" r="0" t="0"/>
            </a:stretch>
          </a:blipFill>
          <a:ln>
            <a:noFill/>
          </a:ln>
        </p:spPr>
      </p:sp>
      <p:sp>
        <p:nvSpPr>
          <p:cNvPr id="91" name="Google Shape;91;p1"/>
          <p:cNvSpPr/>
          <p:nvPr/>
        </p:nvSpPr>
        <p:spPr>
          <a:xfrm>
            <a:off x="12410253" y="-2568978"/>
            <a:ext cx="4611801" cy="4741103"/>
          </a:xfrm>
          <a:custGeom>
            <a:rect b="b" l="l" r="r" t="t"/>
            <a:pathLst>
              <a:path extrusionOk="0" h="4741103" w="4611801">
                <a:moveTo>
                  <a:pt x="0" y="0"/>
                </a:moveTo>
                <a:lnTo>
                  <a:pt x="4611801" y="0"/>
                </a:lnTo>
                <a:lnTo>
                  <a:pt x="4611801" y="4741103"/>
                </a:lnTo>
                <a:lnTo>
                  <a:pt x="0" y="4741103"/>
                </a:lnTo>
                <a:lnTo>
                  <a:pt x="0" y="0"/>
                </a:lnTo>
                <a:close/>
              </a:path>
            </a:pathLst>
          </a:custGeom>
          <a:blipFill rotWithShape="1">
            <a:blip r:embed="rId10">
              <a:alphaModFix/>
            </a:blip>
            <a:stretch>
              <a:fillRect b="0" l="0" r="0" t="0"/>
            </a:stretch>
          </a:blipFill>
          <a:ln>
            <a:noFill/>
          </a:ln>
        </p:spPr>
      </p:sp>
      <p:grpSp>
        <p:nvGrpSpPr>
          <p:cNvPr id="92" name="Google Shape;92;p1"/>
          <p:cNvGrpSpPr/>
          <p:nvPr/>
        </p:nvGrpSpPr>
        <p:grpSpPr>
          <a:xfrm>
            <a:off x="9004566" y="5377069"/>
            <a:ext cx="8254734" cy="2361493"/>
            <a:chOff x="0" y="-47625"/>
            <a:chExt cx="2174086" cy="621957"/>
          </a:xfrm>
        </p:grpSpPr>
        <p:sp>
          <p:nvSpPr>
            <p:cNvPr id="93" name="Google Shape;93;p1"/>
            <p:cNvSpPr/>
            <p:nvPr/>
          </p:nvSpPr>
          <p:spPr>
            <a:xfrm>
              <a:off x="0" y="0"/>
              <a:ext cx="2174086" cy="574332"/>
            </a:xfrm>
            <a:custGeom>
              <a:rect b="b" l="l" r="r" t="t"/>
              <a:pathLst>
                <a:path extrusionOk="0" h="574332" w="2174086">
                  <a:moveTo>
                    <a:pt x="47832" y="0"/>
                  </a:moveTo>
                  <a:lnTo>
                    <a:pt x="2126255" y="0"/>
                  </a:lnTo>
                  <a:cubicBezTo>
                    <a:pt x="2138941" y="0"/>
                    <a:pt x="2151107" y="5039"/>
                    <a:pt x="2160077" y="14010"/>
                  </a:cubicBezTo>
                  <a:cubicBezTo>
                    <a:pt x="2169047" y="22980"/>
                    <a:pt x="2174086" y="35146"/>
                    <a:pt x="2174086" y="47832"/>
                  </a:cubicBezTo>
                  <a:lnTo>
                    <a:pt x="2174086" y="526500"/>
                  </a:lnTo>
                  <a:cubicBezTo>
                    <a:pt x="2174086" y="552917"/>
                    <a:pt x="2152672" y="574332"/>
                    <a:pt x="2126255" y="574332"/>
                  </a:cubicBezTo>
                  <a:lnTo>
                    <a:pt x="47832" y="574332"/>
                  </a:lnTo>
                  <a:cubicBezTo>
                    <a:pt x="21415" y="574332"/>
                    <a:pt x="0" y="552917"/>
                    <a:pt x="0" y="526500"/>
                  </a:cubicBezTo>
                  <a:lnTo>
                    <a:pt x="0" y="47832"/>
                  </a:lnTo>
                  <a:cubicBezTo>
                    <a:pt x="0" y="21415"/>
                    <a:pt x="21415" y="0"/>
                    <a:pt x="47832" y="0"/>
                  </a:cubicBezTo>
                  <a:close/>
                </a:path>
              </a:pathLst>
            </a:custGeom>
            <a:solidFill>
              <a:srgbClr val="0836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
            <p:cNvSpPr txBox="1"/>
            <p:nvPr/>
          </p:nvSpPr>
          <p:spPr>
            <a:xfrm>
              <a:off x="0" y="-47625"/>
              <a:ext cx="2174086" cy="621957"/>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5" name="Google Shape;95;p1"/>
          <p:cNvSpPr/>
          <p:nvPr/>
        </p:nvSpPr>
        <p:spPr>
          <a:xfrm>
            <a:off x="15356951" y="339142"/>
            <a:ext cx="2443978" cy="1832983"/>
          </a:xfrm>
          <a:custGeom>
            <a:rect b="b" l="l" r="r" t="t"/>
            <a:pathLst>
              <a:path extrusionOk="0" h="1832983" w="2443978">
                <a:moveTo>
                  <a:pt x="0" y="0"/>
                </a:moveTo>
                <a:lnTo>
                  <a:pt x="2443978" y="0"/>
                </a:lnTo>
                <a:lnTo>
                  <a:pt x="2443978" y="1832983"/>
                </a:lnTo>
                <a:lnTo>
                  <a:pt x="0" y="1832983"/>
                </a:lnTo>
                <a:lnTo>
                  <a:pt x="0" y="0"/>
                </a:lnTo>
                <a:close/>
              </a:path>
            </a:pathLst>
          </a:custGeom>
          <a:blipFill rotWithShape="1">
            <a:blip r:embed="rId11">
              <a:alphaModFix/>
            </a:blip>
            <a:stretch>
              <a:fillRect b="0" l="0" r="0" t="0"/>
            </a:stretch>
          </a:blipFill>
          <a:ln>
            <a:noFill/>
          </a:ln>
        </p:spPr>
      </p:sp>
      <p:sp>
        <p:nvSpPr>
          <p:cNvPr id="96" name="Google Shape;96;p1"/>
          <p:cNvSpPr txBox="1"/>
          <p:nvPr/>
        </p:nvSpPr>
        <p:spPr>
          <a:xfrm>
            <a:off x="9144000" y="3169656"/>
            <a:ext cx="8505600" cy="2427000"/>
          </a:xfrm>
          <a:prstGeom prst="rect">
            <a:avLst/>
          </a:prstGeom>
          <a:noFill/>
          <a:ln>
            <a:noFill/>
          </a:ln>
        </p:spPr>
        <p:txBody>
          <a:bodyPr anchorCtr="0" anchor="t" bIns="0" lIns="0" spcFirstLastPara="1" rIns="0" wrap="square" tIns="0">
            <a:spAutoFit/>
          </a:bodyPr>
          <a:lstStyle/>
          <a:p>
            <a:pPr indent="0" lvl="0" marL="0" marR="0" rtl="0" algn="l">
              <a:lnSpc>
                <a:spcPct val="103012"/>
              </a:lnSpc>
              <a:spcBef>
                <a:spcPts val="0"/>
              </a:spcBef>
              <a:spcAft>
                <a:spcPts val="0"/>
              </a:spcAft>
              <a:buNone/>
            </a:pPr>
            <a:r>
              <a:rPr b="1" i="0" lang="en-US" sz="7767" u="none" cap="none" strike="noStrike">
                <a:solidFill>
                  <a:srgbClr val="2F3B69"/>
                </a:solidFill>
                <a:latin typeface="Montserrat"/>
                <a:ea typeface="Montserrat"/>
                <a:cs typeface="Montserrat"/>
                <a:sym typeface="Montserrat"/>
              </a:rPr>
              <a:t>MODUL </a:t>
            </a:r>
            <a:r>
              <a:rPr b="1" lang="en-US" sz="7767">
                <a:solidFill>
                  <a:srgbClr val="2F3B69"/>
                </a:solidFill>
                <a:latin typeface="Montserrat"/>
                <a:ea typeface="Montserrat"/>
                <a:cs typeface="Montserrat"/>
                <a:sym typeface="Montserrat"/>
              </a:rPr>
              <a:t>4</a:t>
            </a:r>
            <a:endParaRPr/>
          </a:p>
          <a:p>
            <a:pPr indent="0" lvl="0" marL="0" marR="0" rtl="0" algn="l">
              <a:lnSpc>
                <a:spcPct val="103012"/>
              </a:lnSpc>
              <a:spcBef>
                <a:spcPts val="0"/>
              </a:spcBef>
              <a:spcAft>
                <a:spcPts val="0"/>
              </a:spcAft>
              <a:buNone/>
            </a:pPr>
            <a:r>
              <a:rPr b="1" i="0" lang="en-US" sz="7767" u="none" cap="none" strike="noStrike">
                <a:solidFill>
                  <a:srgbClr val="2F3B69"/>
                </a:solidFill>
                <a:latin typeface="Montserrat"/>
                <a:ea typeface="Montserrat"/>
                <a:cs typeface="Montserrat"/>
                <a:sym typeface="Montserrat"/>
              </a:rPr>
              <a:t>DATA MINING</a:t>
            </a:r>
            <a:endParaRPr/>
          </a:p>
        </p:txBody>
      </p:sp>
      <p:sp>
        <p:nvSpPr>
          <p:cNvPr id="97" name="Google Shape;97;p1"/>
          <p:cNvSpPr txBox="1"/>
          <p:nvPr/>
        </p:nvSpPr>
        <p:spPr>
          <a:xfrm>
            <a:off x="9381246" y="5897003"/>
            <a:ext cx="7640808" cy="703767"/>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None/>
            </a:pPr>
            <a:r>
              <a:rPr b="0" i="0" lang="en-US" sz="4167" u="none" cap="none" strike="noStrike">
                <a:solidFill>
                  <a:srgbClr val="FFFFFF"/>
                </a:solidFill>
                <a:latin typeface="Montserrat"/>
                <a:ea typeface="Montserrat"/>
                <a:cs typeface="Montserrat"/>
                <a:sym typeface="Montserrat"/>
              </a:rPr>
              <a:t>Penerepan Clustering</a:t>
            </a:r>
            <a:endParaRPr/>
          </a:p>
        </p:txBody>
      </p:sp>
      <p:sp>
        <p:nvSpPr>
          <p:cNvPr id="98" name="Google Shape;98;p1"/>
          <p:cNvSpPr txBox="1"/>
          <p:nvPr/>
        </p:nvSpPr>
        <p:spPr>
          <a:xfrm>
            <a:off x="662326" y="9220200"/>
            <a:ext cx="6543564" cy="727890"/>
          </a:xfrm>
          <a:prstGeom prst="rect">
            <a:avLst/>
          </a:prstGeom>
          <a:noFill/>
          <a:ln>
            <a:noFill/>
          </a:ln>
        </p:spPr>
        <p:txBody>
          <a:bodyPr anchorCtr="0" anchor="t" bIns="0" lIns="0" spcFirstLastPara="1" rIns="0" wrap="square" tIns="0">
            <a:spAutoFit/>
          </a:bodyPr>
          <a:lstStyle/>
          <a:p>
            <a:pPr indent="0" lvl="0" marL="0" marR="0" rtl="0" algn="just">
              <a:lnSpc>
                <a:spcPct val="140057"/>
              </a:lnSpc>
              <a:spcBef>
                <a:spcPts val="0"/>
              </a:spcBef>
              <a:spcAft>
                <a:spcPts val="0"/>
              </a:spcAft>
              <a:buNone/>
            </a:pPr>
            <a:r>
              <a:rPr b="0" i="1" lang="en-US" sz="2092" u="none" cap="none" strike="noStrike">
                <a:solidFill>
                  <a:srgbClr val="2F3B69"/>
                </a:solidFill>
                <a:latin typeface="Montserrat"/>
                <a:ea typeface="Montserrat"/>
                <a:cs typeface="Montserrat"/>
                <a:sym typeface="Montserrat"/>
              </a:rPr>
              <a:t>Ikhwan Fauzi, S.Kom., M.Kom</a:t>
            </a:r>
            <a:endParaRPr/>
          </a:p>
          <a:p>
            <a:pPr indent="0" lvl="0" marL="0" marR="0" rtl="0" algn="just">
              <a:lnSpc>
                <a:spcPct val="140057"/>
              </a:lnSpc>
              <a:spcBef>
                <a:spcPts val="0"/>
              </a:spcBef>
              <a:spcAft>
                <a:spcPts val="0"/>
              </a:spcAft>
              <a:buNone/>
            </a:pPr>
            <a:r>
              <a:rPr b="0" i="1" lang="en-US" sz="2092" u="none" cap="none" strike="noStrike">
                <a:solidFill>
                  <a:srgbClr val="2F3B69"/>
                </a:solidFill>
                <a:latin typeface="Montserrat"/>
                <a:ea typeface="Montserrat"/>
                <a:cs typeface="Montserrat"/>
                <a:sym typeface="Montserrat"/>
              </a:rPr>
              <a:t>Prodi Sistem Informasi - Universitas Pamulang</a:t>
            </a:r>
            <a:endParaRPr/>
          </a:p>
        </p:txBody>
      </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sp>
        <p:nvSpPr>
          <p:cNvPr id="104" name="Google Shape;104;p2"/>
          <p:cNvSpPr/>
          <p:nvPr/>
        </p:nvSpPr>
        <p:spPr>
          <a:xfrm>
            <a:off x="13703630" y="-1001383"/>
            <a:ext cx="2291179" cy="2974070"/>
          </a:xfrm>
          <a:custGeom>
            <a:rect b="b" l="l" r="r" t="t"/>
            <a:pathLst>
              <a:path extrusionOk="0" h="2974070" w="2291179">
                <a:moveTo>
                  <a:pt x="0" y="0"/>
                </a:moveTo>
                <a:lnTo>
                  <a:pt x="2291179" y="0"/>
                </a:lnTo>
                <a:lnTo>
                  <a:pt x="2291179" y="2974070"/>
                </a:lnTo>
                <a:lnTo>
                  <a:pt x="0" y="2974070"/>
                </a:lnTo>
                <a:lnTo>
                  <a:pt x="0" y="0"/>
                </a:lnTo>
                <a:close/>
              </a:path>
            </a:pathLst>
          </a:custGeom>
          <a:blipFill rotWithShape="1">
            <a:blip r:embed="rId4">
              <a:alphaModFix/>
            </a:blip>
            <a:stretch>
              <a:fillRect b="0" l="0" r="0" t="0"/>
            </a:stretch>
          </a:blipFill>
          <a:ln>
            <a:noFill/>
          </a:ln>
        </p:spPr>
      </p:sp>
      <p:sp>
        <p:nvSpPr>
          <p:cNvPr id="105" name="Google Shape;105;p2"/>
          <p:cNvSpPr txBox="1"/>
          <p:nvPr/>
        </p:nvSpPr>
        <p:spPr>
          <a:xfrm>
            <a:off x="5107307" y="1383938"/>
            <a:ext cx="8073386" cy="61341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3600" u="none" cap="none" strike="noStrike">
                <a:solidFill>
                  <a:srgbClr val="2F3B69"/>
                </a:solidFill>
                <a:latin typeface="Montserrat"/>
                <a:ea typeface="Montserrat"/>
                <a:cs typeface="Montserrat"/>
                <a:sym typeface="Montserrat"/>
              </a:rPr>
              <a:t>PENGERTIAN CLUSTERING</a:t>
            </a:r>
            <a:endParaRPr/>
          </a:p>
        </p:txBody>
      </p:sp>
      <p:sp>
        <p:nvSpPr>
          <p:cNvPr id="106" name="Google Shape;106;p2"/>
          <p:cNvSpPr/>
          <p:nvPr/>
        </p:nvSpPr>
        <p:spPr>
          <a:xfrm>
            <a:off x="-1876708" y="6164599"/>
            <a:ext cx="5810817" cy="5810817"/>
          </a:xfrm>
          <a:custGeom>
            <a:rect b="b" l="l" r="r" t="t"/>
            <a:pathLst>
              <a:path extrusionOk="0" h="5810817" w="5810817">
                <a:moveTo>
                  <a:pt x="0" y="0"/>
                </a:moveTo>
                <a:lnTo>
                  <a:pt x="5810816" y="0"/>
                </a:lnTo>
                <a:lnTo>
                  <a:pt x="5810816" y="5810816"/>
                </a:lnTo>
                <a:lnTo>
                  <a:pt x="0" y="5810816"/>
                </a:lnTo>
                <a:lnTo>
                  <a:pt x="0" y="0"/>
                </a:lnTo>
                <a:close/>
              </a:path>
            </a:pathLst>
          </a:custGeom>
          <a:blipFill rotWithShape="1">
            <a:blip r:embed="rId5">
              <a:alphaModFix/>
            </a:blip>
            <a:stretch>
              <a:fillRect b="0" l="0" r="0" t="0"/>
            </a:stretch>
          </a:blipFill>
          <a:ln>
            <a:noFill/>
          </a:ln>
        </p:spPr>
      </p:sp>
      <p:sp>
        <p:nvSpPr>
          <p:cNvPr id="107" name="Google Shape;107;p2"/>
          <p:cNvSpPr/>
          <p:nvPr/>
        </p:nvSpPr>
        <p:spPr>
          <a:xfrm>
            <a:off x="-1096412" y="-2664187"/>
            <a:ext cx="6663644" cy="4114800"/>
          </a:xfrm>
          <a:custGeom>
            <a:rect b="b" l="l" r="r" t="t"/>
            <a:pathLst>
              <a:path extrusionOk="0" h="4114800" w="6663644">
                <a:moveTo>
                  <a:pt x="0" y="0"/>
                </a:moveTo>
                <a:lnTo>
                  <a:pt x="6663644" y="0"/>
                </a:lnTo>
                <a:lnTo>
                  <a:pt x="6663644" y="4114800"/>
                </a:lnTo>
                <a:lnTo>
                  <a:pt x="0" y="4114800"/>
                </a:lnTo>
                <a:lnTo>
                  <a:pt x="0" y="0"/>
                </a:lnTo>
                <a:close/>
              </a:path>
            </a:pathLst>
          </a:custGeom>
          <a:blipFill rotWithShape="1">
            <a:blip r:embed="rId6">
              <a:alphaModFix/>
            </a:blip>
            <a:stretch>
              <a:fillRect b="0" l="0" r="0" t="0"/>
            </a:stretch>
          </a:blipFill>
          <a:ln>
            <a:noFill/>
          </a:ln>
        </p:spPr>
      </p:sp>
      <p:sp>
        <p:nvSpPr>
          <p:cNvPr id="108" name="Google Shape;108;p2"/>
          <p:cNvSpPr/>
          <p:nvPr/>
        </p:nvSpPr>
        <p:spPr>
          <a:xfrm>
            <a:off x="14180681" y="-972214"/>
            <a:ext cx="8214637" cy="8229600"/>
          </a:xfrm>
          <a:custGeom>
            <a:rect b="b" l="l" r="r" t="t"/>
            <a:pathLst>
              <a:path extrusionOk="0" h="8229600" w="8214637">
                <a:moveTo>
                  <a:pt x="0" y="0"/>
                </a:moveTo>
                <a:lnTo>
                  <a:pt x="8214638" y="0"/>
                </a:lnTo>
                <a:lnTo>
                  <a:pt x="8214638" y="8229600"/>
                </a:lnTo>
                <a:lnTo>
                  <a:pt x="0" y="8229600"/>
                </a:lnTo>
                <a:lnTo>
                  <a:pt x="0" y="0"/>
                </a:lnTo>
                <a:close/>
              </a:path>
            </a:pathLst>
          </a:custGeom>
          <a:blipFill rotWithShape="1">
            <a:blip r:embed="rId7">
              <a:alphaModFix/>
            </a:blip>
            <a:stretch>
              <a:fillRect b="0" l="0" r="0" t="0"/>
            </a:stretch>
          </a:blipFill>
          <a:ln>
            <a:noFill/>
          </a:ln>
        </p:spPr>
      </p:sp>
      <p:sp>
        <p:nvSpPr>
          <p:cNvPr id="109" name="Google Shape;109;p2"/>
          <p:cNvSpPr/>
          <p:nvPr/>
        </p:nvSpPr>
        <p:spPr>
          <a:xfrm rot="10800000">
            <a:off x="13549217" y="7257386"/>
            <a:ext cx="4891183" cy="3044761"/>
          </a:xfrm>
          <a:custGeom>
            <a:rect b="b" l="l" r="r" t="t"/>
            <a:pathLst>
              <a:path extrusionOk="0" h="3044761" w="4891183">
                <a:moveTo>
                  <a:pt x="4891183" y="3044761"/>
                </a:moveTo>
                <a:lnTo>
                  <a:pt x="0" y="3044761"/>
                </a:lnTo>
                <a:lnTo>
                  <a:pt x="0" y="0"/>
                </a:lnTo>
                <a:lnTo>
                  <a:pt x="4891183" y="0"/>
                </a:lnTo>
                <a:lnTo>
                  <a:pt x="4891183" y="3044761"/>
                </a:lnTo>
                <a:close/>
              </a:path>
            </a:pathLst>
          </a:custGeom>
          <a:blipFill rotWithShape="1">
            <a:blip r:embed="rId8">
              <a:alphaModFix/>
            </a:blip>
            <a:stretch>
              <a:fillRect b="0" l="0" r="0" t="0"/>
            </a:stretch>
          </a:blipFill>
          <a:ln>
            <a:noFill/>
          </a:ln>
        </p:spPr>
      </p:sp>
      <p:sp>
        <p:nvSpPr>
          <p:cNvPr id="110" name="Google Shape;110;p2"/>
          <p:cNvSpPr/>
          <p:nvPr/>
        </p:nvSpPr>
        <p:spPr>
          <a:xfrm>
            <a:off x="-1911355" y="6352814"/>
            <a:ext cx="5810817" cy="5810817"/>
          </a:xfrm>
          <a:custGeom>
            <a:rect b="b" l="l" r="r" t="t"/>
            <a:pathLst>
              <a:path extrusionOk="0" h="5810817" w="5810817">
                <a:moveTo>
                  <a:pt x="0" y="0"/>
                </a:moveTo>
                <a:lnTo>
                  <a:pt x="5810817" y="0"/>
                </a:lnTo>
                <a:lnTo>
                  <a:pt x="5810817" y="5810816"/>
                </a:lnTo>
                <a:lnTo>
                  <a:pt x="0" y="5810816"/>
                </a:lnTo>
                <a:lnTo>
                  <a:pt x="0" y="0"/>
                </a:lnTo>
                <a:close/>
              </a:path>
            </a:pathLst>
          </a:custGeom>
          <a:blipFill rotWithShape="1">
            <a:blip r:embed="rId5">
              <a:alphaModFix/>
            </a:blip>
            <a:stretch>
              <a:fillRect b="0" l="0" r="0" t="0"/>
            </a:stretch>
          </a:blipFill>
          <a:ln>
            <a:noFill/>
          </a:ln>
        </p:spPr>
      </p:sp>
      <p:sp>
        <p:nvSpPr>
          <p:cNvPr id="111" name="Google Shape;111;p2"/>
          <p:cNvSpPr/>
          <p:nvPr/>
        </p:nvSpPr>
        <p:spPr>
          <a:xfrm>
            <a:off x="5007863" y="8909418"/>
            <a:ext cx="7315200" cy="2026456"/>
          </a:xfrm>
          <a:custGeom>
            <a:rect b="b" l="l" r="r" t="t"/>
            <a:pathLst>
              <a:path extrusionOk="0" h="2026456" w="7315200">
                <a:moveTo>
                  <a:pt x="0" y="0"/>
                </a:moveTo>
                <a:lnTo>
                  <a:pt x="7315200" y="0"/>
                </a:lnTo>
                <a:lnTo>
                  <a:pt x="7315200" y="2026456"/>
                </a:lnTo>
                <a:lnTo>
                  <a:pt x="0" y="2026456"/>
                </a:lnTo>
                <a:lnTo>
                  <a:pt x="0" y="0"/>
                </a:lnTo>
                <a:close/>
              </a:path>
            </a:pathLst>
          </a:custGeom>
          <a:blipFill rotWithShape="1">
            <a:blip r:embed="rId9">
              <a:alphaModFix/>
            </a:blip>
            <a:stretch>
              <a:fillRect b="0" l="0" r="0" t="0"/>
            </a:stretch>
          </a:blipFill>
          <a:ln>
            <a:noFill/>
          </a:ln>
        </p:spPr>
      </p:sp>
      <p:sp>
        <p:nvSpPr>
          <p:cNvPr id="112" name="Google Shape;112;p2"/>
          <p:cNvSpPr txBox="1"/>
          <p:nvPr/>
        </p:nvSpPr>
        <p:spPr>
          <a:xfrm>
            <a:off x="2235410" y="2504103"/>
            <a:ext cx="13817181" cy="5789889"/>
          </a:xfrm>
          <a:prstGeom prst="rect">
            <a:avLst/>
          </a:prstGeom>
          <a:noFill/>
          <a:ln>
            <a:noFill/>
          </a:ln>
        </p:spPr>
        <p:txBody>
          <a:bodyPr anchorCtr="0" anchor="t" bIns="0" lIns="0" spcFirstLastPara="1" rIns="0" wrap="square" tIns="0">
            <a:spAutoFit/>
          </a:bodyPr>
          <a:lstStyle/>
          <a:p>
            <a:pPr indent="0" lvl="0" marL="0" marR="0" rtl="0" algn="just">
              <a:lnSpc>
                <a:spcPct val="161007"/>
              </a:lnSpc>
              <a:spcBef>
                <a:spcPts val="0"/>
              </a:spcBef>
              <a:spcAft>
                <a:spcPts val="0"/>
              </a:spcAft>
              <a:buNone/>
            </a:pPr>
            <a:r>
              <a:rPr b="0" i="0" lang="en-US" sz="2403" u="none" cap="none" strike="noStrike">
                <a:solidFill>
                  <a:srgbClr val="2F3B69"/>
                </a:solidFill>
                <a:latin typeface="Montserrat"/>
                <a:ea typeface="Montserrat"/>
                <a:cs typeface="Montserrat"/>
                <a:sym typeface="Montserrat"/>
              </a:rPr>
              <a:t>Clustering merupakan salah satu teknik utama dalam Data Mining yang termasuk ke dalam kategori unsupervised learning. Berbeda dengan klasifikasi, pada clustering data tidak memiliki label atau kelas sebelumnya. Tujuan utama dari clustering adalah mengelompokkan data ke dalam beberapa kelompok (cluster) berdasarkan tingkat kemiripan tertentu, sehingga data dalam satu cluster memiliki karakteristik yang lebih mirip satu sama lain dibandingkan dengan data pada cluster yang berbeda.</a:t>
            </a:r>
            <a:endParaRPr/>
          </a:p>
          <a:p>
            <a:pPr indent="0" lvl="0" marL="0" marR="0" rtl="0" algn="just">
              <a:lnSpc>
                <a:spcPct val="161007"/>
              </a:lnSpc>
              <a:spcBef>
                <a:spcPts val="0"/>
              </a:spcBef>
              <a:spcAft>
                <a:spcPts val="0"/>
              </a:spcAft>
              <a:buNone/>
            </a:pPr>
            <a:r>
              <a:t/>
            </a:r>
            <a:endParaRPr b="0" i="0" sz="2403" u="none" cap="none" strike="noStrike">
              <a:solidFill>
                <a:srgbClr val="2F3B69"/>
              </a:solidFill>
              <a:latin typeface="Montserrat"/>
              <a:ea typeface="Montserrat"/>
              <a:cs typeface="Montserrat"/>
              <a:sym typeface="Montserrat"/>
            </a:endParaRPr>
          </a:p>
          <a:p>
            <a:pPr indent="0" lvl="1" marL="0" marR="0" rtl="0" algn="just">
              <a:lnSpc>
                <a:spcPct val="161007"/>
              </a:lnSpc>
              <a:spcBef>
                <a:spcPts val="0"/>
              </a:spcBef>
              <a:spcAft>
                <a:spcPts val="0"/>
              </a:spcAft>
              <a:buNone/>
            </a:pPr>
            <a:r>
              <a:rPr b="0" i="0" lang="en-US" sz="2403" u="none" cap="none" strike="noStrike">
                <a:solidFill>
                  <a:srgbClr val="2F3B69"/>
                </a:solidFill>
                <a:latin typeface="Montserrat"/>
                <a:ea typeface="Montserrat"/>
                <a:cs typeface="Montserrat"/>
                <a:sym typeface="Montserrat"/>
              </a:rPr>
              <a:t>Secara konseptual, clustering berusaha menemukan struktur tersembunyi dalam sekumpulan data. Struktur ini tidak ditentukan oleh pengguna di awal, melainkan ditemukan secara otomatis oleh algoritma berdasarkan pola, jarak, atau kesamaan antar data. Oleh karena itu, clustering sering digunakan pada tahap eksplorasi data untuk memahami karakteristik dan segmentasi data secara alami.</a:t>
            </a:r>
            <a:endParaRP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118" name="Google Shape;118;p3"/>
          <p:cNvGrpSpPr/>
          <p:nvPr/>
        </p:nvGrpSpPr>
        <p:grpSpPr>
          <a:xfrm>
            <a:off x="-30623" y="-180826"/>
            <a:ext cx="18318623" cy="10592324"/>
            <a:chOff x="0" y="-47625"/>
            <a:chExt cx="4824658" cy="2789748"/>
          </a:xfrm>
        </p:grpSpPr>
        <p:sp>
          <p:nvSpPr>
            <p:cNvPr id="119" name="Google Shape;119;p3"/>
            <p:cNvSpPr/>
            <p:nvPr/>
          </p:nvSpPr>
          <p:spPr>
            <a:xfrm>
              <a:off x="0" y="0"/>
              <a:ext cx="4824658" cy="2742123"/>
            </a:xfrm>
            <a:custGeom>
              <a:rect b="b" l="l" r="r" t="t"/>
              <a:pathLst>
                <a:path extrusionOk="0" h="2742123" w="4824658">
                  <a:moveTo>
                    <a:pt x="0" y="0"/>
                  </a:moveTo>
                  <a:lnTo>
                    <a:pt x="4824658" y="0"/>
                  </a:lnTo>
                  <a:lnTo>
                    <a:pt x="4824658" y="2742123"/>
                  </a:lnTo>
                  <a:lnTo>
                    <a:pt x="0" y="2742123"/>
                  </a:lnTo>
                  <a:close/>
                </a:path>
              </a:pathLst>
            </a:custGeom>
            <a:solidFill>
              <a:srgbClr val="FAFAFF"/>
            </a:solidFill>
            <a:ln>
              <a:noFill/>
            </a:ln>
          </p:spPr>
        </p:sp>
        <p:sp>
          <p:nvSpPr>
            <p:cNvPr id="120" name="Google Shape;120;p3"/>
            <p:cNvSpPr txBox="1"/>
            <p:nvPr/>
          </p:nvSpPr>
          <p:spPr>
            <a:xfrm>
              <a:off x="0" y="-47625"/>
              <a:ext cx="4824658" cy="278974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1" name="Google Shape;121;p3"/>
          <p:cNvSpPr/>
          <p:nvPr/>
        </p:nvSpPr>
        <p:spPr>
          <a:xfrm>
            <a:off x="11762666" y="2473730"/>
            <a:ext cx="7820850" cy="6051383"/>
          </a:xfrm>
          <a:custGeom>
            <a:rect b="b" l="l" r="r" t="t"/>
            <a:pathLst>
              <a:path extrusionOk="0" h="6051383" w="7820850">
                <a:moveTo>
                  <a:pt x="0" y="0"/>
                </a:moveTo>
                <a:lnTo>
                  <a:pt x="7820850" y="0"/>
                </a:lnTo>
                <a:lnTo>
                  <a:pt x="7820850" y="6051382"/>
                </a:lnTo>
                <a:lnTo>
                  <a:pt x="0" y="6051382"/>
                </a:lnTo>
                <a:lnTo>
                  <a:pt x="0" y="0"/>
                </a:lnTo>
                <a:close/>
              </a:path>
            </a:pathLst>
          </a:custGeom>
          <a:blipFill rotWithShape="1">
            <a:blip r:embed="rId4">
              <a:alphaModFix/>
            </a:blip>
            <a:stretch>
              <a:fillRect b="0" l="0" r="0" t="0"/>
            </a:stretch>
          </a:blipFill>
          <a:ln>
            <a:noFill/>
          </a:ln>
        </p:spPr>
      </p:sp>
      <p:sp>
        <p:nvSpPr>
          <p:cNvPr id="122" name="Google Shape;122;p3"/>
          <p:cNvSpPr/>
          <p:nvPr/>
        </p:nvSpPr>
        <p:spPr>
          <a:xfrm>
            <a:off x="11221661" y="-1914833"/>
            <a:ext cx="8902861" cy="5746392"/>
          </a:xfrm>
          <a:custGeom>
            <a:rect b="b" l="l" r="r" t="t"/>
            <a:pathLst>
              <a:path extrusionOk="0" h="5746392" w="8902861">
                <a:moveTo>
                  <a:pt x="0" y="0"/>
                </a:moveTo>
                <a:lnTo>
                  <a:pt x="8902861" y="0"/>
                </a:lnTo>
                <a:lnTo>
                  <a:pt x="8902861" y="5746392"/>
                </a:lnTo>
                <a:lnTo>
                  <a:pt x="0" y="5746392"/>
                </a:lnTo>
                <a:lnTo>
                  <a:pt x="0" y="0"/>
                </a:lnTo>
                <a:close/>
              </a:path>
            </a:pathLst>
          </a:custGeom>
          <a:blipFill rotWithShape="1">
            <a:blip r:embed="rId5">
              <a:alphaModFix/>
            </a:blip>
            <a:stretch>
              <a:fillRect b="0" l="0" r="0" t="0"/>
            </a:stretch>
          </a:blipFill>
          <a:ln>
            <a:noFill/>
          </a:ln>
        </p:spPr>
      </p:sp>
      <p:sp>
        <p:nvSpPr>
          <p:cNvPr id="123" name="Google Shape;123;p3"/>
          <p:cNvSpPr/>
          <p:nvPr/>
        </p:nvSpPr>
        <p:spPr>
          <a:xfrm>
            <a:off x="-1495994" y="8525112"/>
            <a:ext cx="10364200" cy="4070304"/>
          </a:xfrm>
          <a:custGeom>
            <a:rect b="b" l="l" r="r" t="t"/>
            <a:pathLst>
              <a:path extrusionOk="0" h="4070304" w="10364200">
                <a:moveTo>
                  <a:pt x="0" y="0"/>
                </a:moveTo>
                <a:lnTo>
                  <a:pt x="10364200" y="0"/>
                </a:lnTo>
                <a:lnTo>
                  <a:pt x="10364200" y="4070304"/>
                </a:lnTo>
                <a:lnTo>
                  <a:pt x="0" y="4070304"/>
                </a:lnTo>
                <a:lnTo>
                  <a:pt x="0" y="0"/>
                </a:lnTo>
                <a:close/>
              </a:path>
            </a:pathLst>
          </a:custGeom>
          <a:blipFill rotWithShape="1">
            <a:blip r:embed="rId6">
              <a:alphaModFix/>
            </a:blip>
            <a:stretch>
              <a:fillRect b="0" l="0" r="0" t="0"/>
            </a:stretch>
          </a:blipFill>
          <a:ln>
            <a:noFill/>
          </a:ln>
        </p:spPr>
      </p:sp>
      <p:sp>
        <p:nvSpPr>
          <p:cNvPr id="124" name="Google Shape;124;p3"/>
          <p:cNvSpPr/>
          <p:nvPr/>
        </p:nvSpPr>
        <p:spPr>
          <a:xfrm>
            <a:off x="-2412729" y="-2717395"/>
            <a:ext cx="4825458" cy="4114800"/>
          </a:xfrm>
          <a:custGeom>
            <a:rect b="b" l="l" r="r" t="t"/>
            <a:pathLst>
              <a:path extrusionOk="0" h="4114800" w="4825458">
                <a:moveTo>
                  <a:pt x="0" y="0"/>
                </a:moveTo>
                <a:lnTo>
                  <a:pt x="4825458" y="0"/>
                </a:lnTo>
                <a:lnTo>
                  <a:pt x="4825458" y="4114800"/>
                </a:lnTo>
                <a:lnTo>
                  <a:pt x="0" y="4114800"/>
                </a:lnTo>
                <a:lnTo>
                  <a:pt x="0" y="0"/>
                </a:lnTo>
                <a:close/>
              </a:path>
            </a:pathLst>
          </a:custGeom>
          <a:blipFill rotWithShape="1">
            <a:blip r:embed="rId7">
              <a:alphaModFix/>
            </a:blip>
            <a:stretch>
              <a:fillRect b="0" l="0" r="0" t="0"/>
            </a:stretch>
          </a:blipFill>
          <a:ln>
            <a:noFill/>
          </a:ln>
        </p:spPr>
      </p:sp>
      <p:sp>
        <p:nvSpPr>
          <p:cNvPr id="125" name="Google Shape;125;p3"/>
          <p:cNvSpPr/>
          <p:nvPr/>
        </p:nvSpPr>
        <p:spPr>
          <a:xfrm>
            <a:off x="13730749" y="9022254"/>
            <a:ext cx="6663644" cy="4114800"/>
          </a:xfrm>
          <a:custGeom>
            <a:rect b="b" l="l" r="r" t="t"/>
            <a:pathLst>
              <a:path extrusionOk="0" h="4114800" w="6663644">
                <a:moveTo>
                  <a:pt x="0" y="0"/>
                </a:moveTo>
                <a:lnTo>
                  <a:pt x="6663643" y="0"/>
                </a:lnTo>
                <a:lnTo>
                  <a:pt x="6663643" y="4114800"/>
                </a:lnTo>
                <a:lnTo>
                  <a:pt x="0" y="4114800"/>
                </a:lnTo>
                <a:lnTo>
                  <a:pt x="0" y="0"/>
                </a:lnTo>
                <a:close/>
              </a:path>
            </a:pathLst>
          </a:custGeom>
          <a:blipFill rotWithShape="1">
            <a:blip r:embed="rId8">
              <a:alphaModFix/>
            </a:blip>
            <a:stretch>
              <a:fillRect b="0" l="0" r="0" t="0"/>
            </a:stretch>
          </a:blipFill>
          <a:ln>
            <a:noFill/>
          </a:ln>
        </p:spPr>
      </p:sp>
      <p:sp>
        <p:nvSpPr>
          <p:cNvPr id="126" name="Google Shape;126;p3"/>
          <p:cNvSpPr txBox="1"/>
          <p:nvPr/>
        </p:nvSpPr>
        <p:spPr>
          <a:xfrm>
            <a:off x="1028700" y="3237889"/>
            <a:ext cx="10601200" cy="3361014"/>
          </a:xfrm>
          <a:prstGeom prst="rect">
            <a:avLst/>
          </a:prstGeom>
          <a:noFill/>
          <a:ln>
            <a:noFill/>
          </a:ln>
        </p:spPr>
        <p:txBody>
          <a:bodyPr anchorCtr="0" anchor="t" bIns="0" lIns="0" spcFirstLastPara="1" rIns="0" wrap="square" tIns="0">
            <a:spAutoFit/>
          </a:bodyPr>
          <a:lstStyle/>
          <a:p>
            <a:pPr indent="0" lvl="0" marL="0" marR="0" rtl="0" algn="l">
              <a:lnSpc>
                <a:spcPct val="161007"/>
              </a:lnSpc>
              <a:spcBef>
                <a:spcPts val="0"/>
              </a:spcBef>
              <a:spcAft>
                <a:spcPts val="0"/>
              </a:spcAft>
              <a:buNone/>
            </a:pPr>
            <a:r>
              <a:rPr b="0" i="0" lang="en-US" sz="2403" u="none" cap="none" strike="noStrike">
                <a:solidFill>
                  <a:srgbClr val="2F3B69"/>
                </a:solidFill>
                <a:latin typeface="Montserrat"/>
                <a:ea typeface="Montserrat"/>
                <a:cs typeface="Montserrat"/>
                <a:sym typeface="Montserrat"/>
              </a:rPr>
              <a:t>Beberapa karakteristik utama dari Clustering adalah sebagai berikut.</a:t>
            </a:r>
            <a:endParaRPr/>
          </a:p>
          <a:p>
            <a:pPr indent="-259428" lvl="1" marL="518856" marR="0" rtl="0" algn="l">
              <a:lnSpc>
                <a:spcPct val="161007"/>
              </a:lnSpc>
              <a:spcBef>
                <a:spcPts val="0"/>
              </a:spcBef>
              <a:spcAft>
                <a:spcPts val="0"/>
              </a:spcAft>
              <a:buClr>
                <a:srgbClr val="2F3B69"/>
              </a:buClr>
              <a:buSzPts val="2403"/>
              <a:buFont typeface="Arial"/>
              <a:buChar char="•"/>
            </a:pPr>
            <a:r>
              <a:rPr b="0" i="0" lang="en-US" sz="2403" u="none" cap="none" strike="noStrike">
                <a:solidFill>
                  <a:srgbClr val="2F3B69"/>
                </a:solidFill>
                <a:latin typeface="Montserrat"/>
                <a:ea typeface="Montserrat"/>
                <a:cs typeface="Montserrat"/>
                <a:sym typeface="Montserrat"/>
              </a:rPr>
              <a:t>Tidak terdapat variabel target (label).</a:t>
            </a:r>
            <a:endParaRPr/>
          </a:p>
          <a:p>
            <a:pPr indent="-259428" lvl="1" marL="518856" marR="0" rtl="0" algn="l">
              <a:lnSpc>
                <a:spcPct val="161007"/>
              </a:lnSpc>
              <a:spcBef>
                <a:spcPts val="0"/>
              </a:spcBef>
              <a:spcAft>
                <a:spcPts val="0"/>
              </a:spcAft>
              <a:buClr>
                <a:srgbClr val="2F3B69"/>
              </a:buClr>
              <a:buSzPts val="2403"/>
              <a:buFont typeface="Arial"/>
              <a:buChar char="•"/>
            </a:pPr>
            <a:r>
              <a:rPr b="0" i="0" lang="en-US" sz="2403" u="none" cap="none" strike="noStrike">
                <a:solidFill>
                  <a:srgbClr val="2F3B69"/>
                </a:solidFill>
                <a:latin typeface="Montserrat"/>
                <a:ea typeface="Montserrat"/>
                <a:cs typeface="Montserrat"/>
                <a:sym typeface="Montserrat"/>
              </a:rPr>
              <a:t>Mengandalkan atribut input sebagai dasar pengelompokan.</a:t>
            </a:r>
            <a:endParaRPr/>
          </a:p>
          <a:p>
            <a:pPr indent="-259428" lvl="1" marL="518856" marR="0" rtl="0" algn="l">
              <a:lnSpc>
                <a:spcPct val="161007"/>
              </a:lnSpc>
              <a:spcBef>
                <a:spcPts val="0"/>
              </a:spcBef>
              <a:spcAft>
                <a:spcPts val="0"/>
              </a:spcAft>
              <a:buClr>
                <a:srgbClr val="2F3B69"/>
              </a:buClr>
              <a:buSzPts val="2403"/>
              <a:buFont typeface="Arial"/>
              <a:buChar char="•"/>
            </a:pPr>
            <a:r>
              <a:rPr b="0" i="0" lang="en-US" sz="2403" u="none" cap="none" strike="noStrike">
                <a:solidFill>
                  <a:srgbClr val="2F3B69"/>
                </a:solidFill>
                <a:latin typeface="Montserrat"/>
                <a:ea typeface="Montserrat"/>
                <a:cs typeface="Montserrat"/>
                <a:sym typeface="Montserrat"/>
              </a:rPr>
              <a:t>Hasil dipengaruhi oleh ukuran kemiripan atau jarak data.</a:t>
            </a:r>
            <a:endParaRPr/>
          </a:p>
          <a:p>
            <a:pPr indent="-259428" lvl="1" marL="518856" marR="0" rtl="0" algn="l">
              <a:lnSpc>
                <a:spcPct val="161007"/>
              </a:lnSpc>
              <a:spcBef>
                <a:spcPts val="0"/>
              </a:spcBef>
              <a:spcAft>
                <a:spcPts val="0"/>
              </a:spcAft>
              <a:buClr>
                <a:srgbClr val="2F3B69"/>
              </a:buClr>
              <a:buSzPts val="2403"/>
              <a:buFont typeface="Arial"/>
              <a:buChar char="•"/>
            </a:pPr>
            <a:r>
              <a:rPr b="0" i="0" lang="en-US" sz="2403" u="none" cap="none" strike="noStrike">
                <a:solidFill>
                  <a:srgbClr val="2F3B69"/>
                </a:solidFill>
                <a:latin typeface="Montserrat"/>
                <a:ea typeface="Montserrat"/>
                <a:cs typeface="Montserrat"/>
                <a:sym typeface="Montserrat"/>
              </a:rPr>
              <a:t>Jumlah cluster dapat ditentukan atau dihasilkan oleh algoritma.</a:t>
            </a:r>
            <a:endParaRPr/>
          </a:p>
          <a:p>
            <a:pPr indent="0" lvl="0" marL="0" marR="0" rtl="0" algn="l">
              <a:lnSpc>
                <a:spcPct val="161007"/>
              </a:lnSpc>
              <a:spcBef>
                <a:spcPts val="0"/>
              </a:spcBef>
              <a:spcAft>
                <a:spcPts val="0"/>
              </a:spcAft>
              <a:buNone/>
            </a:pPr>
            <a:r>
              <a:t/>
            </a:r>
            <a:endParaRPr b="0" i="0" sz="2403" u="none" cap="none" strike="noStrike">
              <a:solidFill>
                <a:srgbClr val="2F3B69"/>
              </a:solidFill>
              <a:latin typeface="Montserrat"/>
              <a:ea typeface="Montserrat"/>
              <a:cs typeface="Montserrat"/>
              <a:sym typeface="Montserrat"/>
            </a:endParaRPr>
          </a:p>
          <a:p>
            <a:pPr indent="0" lvl="0" marL="0" marR="0" rtl="0" algn="l">
              <a:lnSpc>
                <a:spcPct val="161007"/>
              </a:lnSpc>
              <a:spcBef>
                <a:spcPts val="0"/>
              </a:spcBef>
              <a:spcAft>
                <a:spcPts val="0"/>
              </a:spcAft>
              <a:buNone/>
            </a:pPr>
            <a:r>
              <a:t/>
            </a:r>
            <a:endParaRPr b="0" i="0" sz="2403" u="none" cap="none" strike="noStrike">
              <a:solidFill>
                <a:srgbClr val="2F3B69"/>
              </a:solidFill>
              <a:latin typeface="Montserrat"/>
              <a:ea typeface="Montserrat"/>
              <a:cs typeface="Montserrat"/>
              <a:sym typeface="Montserrat"/>
            </a:endParaRPr>
          </a:p>
        </p:txBody>
      </p:sp>
      <p:sp>
        <p:nvSpPr>
          <p:cNvPr id="127" name="Google Shape;127;p3"/>
          <p:cNvSpPr txBox="1"/>
          <p:nvPr/>
        </p:nvSpPr>
        <p:spPr>
          <a:xfrm>
            <a:off x="1028700" y="2133687"/>
            <a:ext cx="8430780" cy="61341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600" u="none" cap="none" strike="noStrike">
                <a:solidFill>
                  <a:srgbClr val="2F3B69"/>
                </a:solidFill>
                <a:latin typeface="Montserrat"/>
                <a:ea typeface="Montserrat"/>
                <a:cs typeface="Montserrat"/>
                <a:sym typeface="Montserrat"/>
              </a:rPr>
              <a:t>KARAKTERISTIK CLUSTERING</a:t>
            </a:r>
            <a:endParaRP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sp>
        <p:nvSpPr>
          <p:cNvPr id="133" name="Google Shape;133;p4"/>
          <p:cNvSpPr/>
          <p:nvPr/>
        </p:nvSpPr>
        <p:spPr>
          <a:xfrm>
            <a:off x="-3728655" y="-3113850"/>
            <a:ext cx="8902861" cy="5746392"/>
          </a:xfrm>
          <a:custGeom>
            <a:rect b="b" l="l" r="r" t="t"/>
            <a:pathLst>
              <a:path extrusionOk="0" h="5746392" w="8902861">
                <a:moveTo>
                  <a:pt x="0" y="0"/>
                </a:moveTo>
                <a:lnTo>
                  <a:pt x="8902861" y="0"/>
                </a:lnTo>
                <a:lnTo>
                  <a:pt x="8902861" y="5746392"/>
                </a:lnTo>
                <a:lnTo>
                  <a:pt x="0" y="5746392"/>
                </a:lnTo>
                <a:lnTo>
                  <a:pt x="0" y="0"/>
                </a:lnTo>
                <a:close/>
              </a:path>
            </a:pathLst>
          </a:custGeom>
          <a:blipFill rotWithShape="1">
            <a:blip r:embed="rId4">
              <a:alphaModFix/>
            </a:blip>
            <a:stretch>
              <a:fillRect b="0" l="0" r="0" t="0"/>
            </a:stretch>
          </a:blipFill>
          <a:ln>
            <a:noFill/>
          </a:ln>
        </p:spPr>
      </p:sp>
      <p:sp>
        <p:nvSpPr>
          <p:cNvPr id="134" name="Google Shape;134;p4"/>
          <p:cNvSpPr/>
          <p:nvPr/>
        </p:nvSpPr>
        <p:spPr>
          <a:xfrm>
            <a:off x="-228792" y="2953082"/>
            <a:ext cx="7232714" cy="5551108"/>
          </a:xfrm>
          <a:custGeom>
            <a:rect b="b" l="l" r="r" t="t"/>
            <a:pathLst>
              <a:path extrusionOk="0" h="5551108" w="7232714">
                <a:moveTo>
                  <a:pt x="0" y="0"/>
                </a:moveTo>
                <a:lnTo>
                  <a:pt x="7232715" y="0"/>
                </a:lnTo>
                <a:lnTo>
                  <a:pt x="7232715" y="5551108"/>
                </a:lnTo>
                <a:lnTo>
                  <a:pt x="0" y="5551108"/>
                </a:lnTo>
                <a:lnTo>
                  <a:pt x="0" y="0"/>
                </a:lnTo>
                <a:close/>
              </a:path>
            </a:pathLst>
          </a:custGeom>
          <a:blipFill rotWithShape="1">
            <a:blip r:embed="rId5">
              <a:alphaModFix/>
            </a:blip>
            <a:stretch>
              <a:fillRect b="0" l="0" r="0" t="0"/>
            </a:stretch>
          </a:blipFill>
          <a:ln>
            <a:noFill/>
          </a:ln>
        </p:spPr>
      </p:sp>
      <p:sp>
        <p:nvSpPr>
          <p:cNvPr id="135" name="Google Shape;135;p4"/>
          <p:cNvSpPr/>
          <p:nvPr/>
        </p:nvSpPr>
        <p:spPr>
          <a:xfrm>
            <a:off x="14556509" y="9506624"/>
            <a:ext cx="5947625" cy="2076262"/>
          </a:xfrm>
          <a:custGeom>
            <a:rect b="b" l="l" r="r" t="t"/>
            <a:pathLst>
              <a:path extrusionOk="0" h="2076262" w="5947625">
                <a:moveTo>
                  <a:pt x="0" y="0"/>
                </a:moveTo>
                <a:lnTo>
                  <a:pt x="5947626" y="0"/>
                </a:lnTo>
                <a:lnTo>
                  <a:pt x="5947626" y="2076262"/>
                </a:lnTo>
                <a:lnTo>
                  <a:pt x="0" y="2076262"/>
                </a:lnTo>
                <a:lnTo>
                  <a:pt x="0" y="0"/>
                </a:lnTo>
                <a:close/>
              </a:path>
            </a:pathLst>
          </a:custGeom>
          <a:blipFill rotWithShape="1">
            <a:blip r:embed="rId6">
              <a:alphaModFix/>
            </a:blip>
            <a:stretch>
              <a:fillRect b="0" l="0" r="0" t="0"/>
            </a:stretch>
          </a:blipFill>
          <a:ln>
            <a:noFill/>
          </a:ln>
        </p:spPr>
      </p:sp>
      <p:sp>
        <p:nvSpPr>
          <p:cNvPr id="136" name="Google Shape;136;p4"/>
          <p:cNvSpPr/>
          <p:nvPr/>
        </p:nvSpPr>
        <p:spPr>
          <a:xfrm>
            <a:off x="16638900" y="-958763"/>
            <a:ext cx="2151512" cy="2792775"/>
          </a:xfrm>
          <a:custGeom>
            <a:rect b="b" l="l" r="r" t="t"/>
            <a:pathLst>
              <a:path extrusionOk="0" h="2792775" w="2151512">
                <a:moveTo>
                  <a:pt x="0" y="0"/>
                </a:moveTo>
                <a:lnTo>
                  <a:pt x="2151512" y="0"/>
                </a:lnTo>
                <a:lnTo>
                  <a:pt x="2151512" y="2792775"/>
                </a:lnTo>
                <a:lnTo>
                  <a:pt x="0" y="2792775"/>
                </a:lnTo>
                <a:lnTo>
                  <a:pt x="0" y="0"/>
                </a:lnTo>
                <a:close/>
              </a:path>
            </a:pathLst>
          </a:custGeom>
          <a:blipFill rotWithShape="1">
            <a:blip r:embed="rId7">
              <a:alphaModFix/>
            </a:blip>
            <a:stretch>
              <a:fillRect b="0" l="0" r="0" t="0"/>
            </a:stretch>
          </a:blipFill>
          <a:ln>
            <a:noFill/>
          </a:ln>
        </p:spPr>
      </p:sp>
      <p:grpSp>
        <p:nvGrpSpPr>
          <p:cNvPr id="137" name="Google Shape;137;p4"/>
          <p:cNvGrpSpPr/>
          <p:nvPr/>
        </p:nvGrpSpPr>
        <p:grpSpPr>
          <a:xfrm>
            <a:off x="-1525482" y="9448016"/>
            <a:ext cx="8261414" cy="838984"/>
            <a:chOff x="0" y="-47625"/>
            <a:chExt cx="2175846" cy="220967"/>
          </a:xfrm>
        </p:grpSpPr>
        <p:sp>
          <p:nvSpPr>
            <p:cNvPr id="138" name="Google Shape;138;p4"/>
            <p:cNvSpPr/>
            <p:nvPr/>
          </p:nvSpPr>
          <p:spPr>
            <a:xfrm>
              <a:off x="0" y="0"/>
              <a:ext cx="2175846" cy="173342"/>
            </a:xfrm>
            <a:custGeom>
              <a:rect b="b" l="l" r="r" t="t"/>
              <a:pathLst>
                <a:path extrusionOk="0" h="173342" w="2175846">
                  <a:moveTo>
                    <a:pt x="0" y="0"/>
                  </a:moveTo>
                  <a:lnTo>
                    <a:pt x="2175846" y="0"/>
                  </a:lnTo>
                  <a:lnTo>
                    <a:pt x="2175846" y="173342"/>
                  </a:lnTo>
                  <a:lnTo>
                    <a:pt x="0" y="173342"/>
                  </a:lnTo>
                  <a:close/>
                </a:path>
              </a:pathLst>
            </a:custGeom>
            <a:solidFill>
              <a:srgbClr val="2F3B69"/>
            </a:solidFill>
            <a:ln>
              <a:noFill/>
            </a:ln>
          </p:spPr>
        </p:sp>
        <p:sp>
          <p:nvSpPr>
            <p:cNvPr id="139" name="Google Shape;139;p4"/>
            <p:cNvSpPr txBox="1"/>
            <p:nvPr/>
          </p:nvSpPr>
          <p:spPr>
            <a:xfrm>
              <a:off x="0" y="-47625"/>
              <a:ext cx="2175846" cy="220967"/>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0" name="Google Shape;140;p4"/>
          <p:cNvSpPr txBox="1"/>
          <p:nvPr/>
        </p:nvSpPr>
        <p:spPr>
          <a:xfrm>
            <a:off x="7489292" y="1896489"/>
            <a:ext cx="8965822" cy="60642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500" u="none" cap="none" strike="noStrike">
                <a:solidFill>
                  <a:srgbClr val="2F3B69"/>
                </a:solidFill>
                <a:latin typeface="Montserrat"/>
                <a:ea typeface="Montserrat"/>
                <a:cs typeface="Montserrat"/>
                <a:sym typeface="Montserrat"/>
              </a:rPr>
              <a:t>TUJUAN CLUSTERING</a:t>
            </a:r>
            <a:endParaRPr/>
          </a:p>
        </p:txBody>
      </p:sp>
      <p:sp>
        <p:nvSpPr>
          <p:cNvPr id="141" name="Google Shape;141;p4"/>
          <p:cNvSpPr txBox="1"/>
          <p:nvPr/>
        </p:nvSpPr>
        <p:spPr>
          <a:xfrm>
            <a:off x="7489292" y="2914982"/>
            <a:ext cx="9018289" cy="2910840"/>
          </a:xfrm>
          <a:prstGeom prst="rect">
            <a:avLst/>
          </a:prstGeom>
          <a:noFill/>
          <a:ln>
            <a:noFill/>
          </a:ln>
        </p:spPr>
        <p:txBody>
          <a:bodyPr anchorCtr="0" anchor="t" bIns="0" lIns="0" spcFirstLastPara="1" rIns="0" wrap="square" tIns="0">
            <a:spAutoFit/>
          </a:bodyPr>
          <a:lstStyle/>
          <a:p>
            <a:pPr indent="-259079" lvl="1" marL="518160" marR="0" rtl="0" algn="just">
              <a:lnSpc>
                <a:spcPct val="139958"/>
              </a:lnSpc>
              <a:spcBef>
                <a:spcPts val="0"/>
              </a:spcBef>
              <a:spcAft>
                <a:spcPts val="0"/>
              </a:spcAft>
              <a:buClr>
                <a:srgbClr val="162651"/>
              </a:buClr>
              <a:buSzPts val="2400"/>
              <a:buFont typeface="Arial"/>
              <a:buChar char="•"/>
            </a:pPr>
            <a:r>
              <a:rPr b="0" i="0" lang="en-US" sz="2400" u="none" cap="none" strike="noStrike">
                <a:solidFill>
                  <a:srgbClr val="162651"/>
                </a:solidFill>
                <a:latin typeface="Montserrat"/>
                <a:ea typeface="Montserrat"/>
                <a:cs typeface="Montserrat"/>
                <a:sym typeface="Montserrat"/>
              </a:rPr>
              <a:t>Mengidentifikasi struktur atau pola tersembunyi dalam data.</a:t>
            </a:r>
            <a:endParaRPr/>
          </a:p>
          <a:p>
            <a:pPr indent="-259079" lvl="1" marL="518160" marR="0" rtl="0" algn="just">
              <a:lnSpc>
                <a:spcPct val="139958"/>
              </a:lnSpc>
              <a:spcBef>
                <a:spcPts val="0"/>
              </a:spcBef>
              <a:spcAft>
                <a:spcPts val="0"/>
              </a:spcAft>
              <a:buClr>
                <a:srgbClr val="162651"/>
              </a:buClr>
              <a:buSzPts val="2400"/>
              <a:buFont typeface="Arial"/>
              <a:buChar char="•"/>
            </a:pPr>
            <a:r>
              <a:rPr b="0" i="0" lang="en-US" sz="2400" u="none" cap="none" strike="noStrike">
                <a:solidFill>
                  <a:srgbClr val="162651"/>
                </a:solidFill>
                <a:latin typeface="Montserrat"/>
                <a:ea typeface="Montserrat"/>
                <a:cs typeface="Montserrat"/>
                <a:sym typeface="Montserrat"/>
              </a:rPr>
              <a:t>Melakukan segmentasi data secara alami.</a:t>
            </a:r>
            <a:endParaRPr/>
          </a:p>
          <a:p>
            <a:pPr indent="-259079" lvl="1" marL="518160" marR="0" rtl="0" algn="just">
              <a:lnSpc>
                <a:spcPct val="139958"/>
              </a:lnSpc>
              <a:spcBef>
                <a:spcPts val="0"/>
              </a:spcBef>
              <a:spcAft>
                <a:spcPts val="0"/>
              </a:spcAft>
              <a:buClr>
                <a:srgbClr val="162651"/>
              </a:buClr>
              <a:buSzPts val="2400"/>
              <a:buFont typeface="Arial"/>
              <a:buChar char="•"/>
            </a:pPr>
            <a:r>
              <a:rPr b="0" i="0" lang="en-US" sz="2400" u="none" cap="none" strike="noStrike">
                <a:solidFill>
                  <a:srgbClr val="162651"/>
                </a:solidFill>
                <a:latin typeface="Montserrat"/>
                <a:ea typeface="Montserrat"/>
                <a:cs typeface="Montserrat"/>
                <a:sym typeface="Montserrat"/>
              </a:rPr>
              <a:t>Menyederhanakan analisis data yang berukuran besar.</a:t>
            </a:r>
            <a:endParaRPr/>
          </a:p>
          <a:p>
            <a:pPr indent="-259079" lvl="1" marL="518160" marR="0" rtl="0" algn="just">
              <a:lnSpc>
                <a:spcPct val="139958"/>
              </a:lnSpc>
              <a:spcBef>
                <a:spcPts val="0"/>
              </a:spcBef>
              <a:spcAft>
                <a:spcPts val="0"/>
              </a:spcAft>
              <a:buClr>
                <a:srgbClr val="162651"/>
              </a:buClr>
              <a:buSzPts val="2400"/>
              <a:buFont typeface="Arial"/>
              <a:buChar char="•"/>
            </a:pPr>
            <a:r>
              <a:rPr b="0" i="0" lang="en-US" sz="2400" u="none" cap="none" strike="noStrike">
                <a:solidFill>
                  <a:srgbClr val="162651"/>
                </a:solidFill>
                <a:latin typeface="Montserrat"/>
                <a:ea typeface="Montserrat"/>
                <a:cs typeface="Montserrat"/>
                <a:sym typeface="Montserrat"/>
              </a:rPr>
              <a:t>Membantu pengambilan keputusan berbasis kelompok data.</a:t>
            </a:r>
            <a:endParaRPr/>
          </a:p>
          <a:p>
            <a:pPr indent="0" lvl="0" marL="0" marR="0" rtl="0" algn="just">
              <a:lnSpc>
                <a:spcPct val="139958"/>
              </a:lnSpc>
              <a:spcBef>
                <a:spcPts val="0"/>
              </a:spcBef>
              <a:spcAft>
                <a:spcPts val="0"/>
              </a:spcAft>
              <a:buNone/>
            </a:pPr>
            <a:r>
              <a:t/>
            </a:r>
            <a:endParaRPr b="0" i="0" sz="2400" u="none" cap="none" strike="noStrike">
              <a:solidFill>
                <a:srgbClr val="162651"/>
              </a:solidFill>
              <a:latin typeface="Montserrat"/>
              <a:ea typeface="Montserrat"/>
              <a:cs typeface="Montserrat"/>
              <a:sym typeface="Montserrat"/>
            </a:endParaRP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147" name="Google Shape;147;p5"/>
          <p:cNvGrpSpPr/>
          <p:nvPr/>
        </p:nvGrpSpPr>
        <p:grpSpPr>
          <a:xfrm>
            <a:off x="12018409" y="-180826"/>
            <a:ext cx="6197128" cy="10467826"/>
            <a:chOff x="0" y="-47625"/>
            <a:chExt cx="1632165" cy="2756958"/>
          </a:xfrm>
        </p:grpSpPr>
        <p:sp>
          <p:nvSpPr>
            <p:cNvPr id="148" name="Google Shape;148;p5"/>
            <p:cNvSpPr/>
            <p:nvPr/>
          </p:nvSpPr>
          <p:spPr>
            <a:xfrm>
              <a:off x="0" y="0"/>
              <a:ext cx="1632165" cy="2709333"/>
            </a:xfrm>
            <a:custGeom>
              <a:rect b="b" l="l" r="r" t="t"/>
              <a:pathLst>
                <a:path extrusionOk="0" h="2709333" w="1632165">
                  <a:moveTo>
                    <a:pt x="0" y="0"/>
                  </a:moveTo>
                  <a:lnTo>
                    <a:pt x="1632165" y="0"/>
                  </a:lnTo>
                  <a:lnTo>
                    <a:pt x="1632165" y="2709333"/>
                  </a:lnTo>
                  <a:lnTo>
                    <a:pt x="0" y="2709333"/>
                  </a:lnTo>
                  <a:close/>
                </a:path>
              </a:pathLst>
            </a:custGeom>
            <a:solidFill>
              <a:srgbClr val="FAFAFF"/>
            </a:solidFill>
            <a:ln>
              <a:noFill/>
            </a:ln>
          </p:spPr>
        </p:sp>
        <p:sp>
          <p:nvSpPr>
            <p:cNvPr id="149" name="Google Shape;149;p5"/>
            <p:cNvSpPr txBox="1"/>
            <p:nvPr/>
          </p:nvSpPr>
          <p:spPr>
            <a:xfrm>
              <a:off x="0" y="-47625"/>
              <a:ext cx="1632165"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0" name="Google Shape;150;p5"/>
          <p:cNvSpPr/>
          <p:nvPr/>
        </p:nvSpPr>
        <p:spPr>
          <a:xfrm>
            <a:off x="10866681" y="1740004"/>
            <a:ext cx="7820093" cy="7292237"/>
          </a:xfrm>
          <a:custGeom>
            <a:rect b="b" l="l" r="r" t="t"/>
            <a:pathLst>
              <a:path extrusionOk="0" h="7292237" w="7820093">
                <a:moveTo>
                  <a:pt x="0" y="0"/>
                </a:moveTo>
                <a:lnTo>
                  <a:pt x="7820094" y="0"/>
                </a:lnTo>
                <a:lnTo>
                  <a:pt x="7820094" y="7292237"/>
                </a:lnTo>
                <a:lnTo>
                  <a:pt x="0" y="7292237"/>
                </a:lnTo>
                <a:lnTo>
                  <a:pt x="0" y="0"/>
                </a:lnTo>
                <a:close/>
              </a:path>
            </a:pathLst>
          </a:custGeom>
          <a:blipFill rotWithShape="1">
            <a:blip r:embed="rId4">
              <a:alphaModFix/>
            </a:blip>
            <a:stretch>
              <a:fillRect b="0" l="0" r="0" t="0"/>
            </a:stretch>
          </a:blipFill>
          <a:ln>
            <a:noFill/>
          </a:ln>
        </p:spPr>
      </p:sp>
      <p:sp>
        <p:nvSpPr>
          <p:cNvPr id="151" name="Google Shape;151;p5"/>
          <p:cNvSpPr txBox="1"/>
          <p:nvPr/>
        </p:nvSpPr>
        <p:spPr>
          <a:xfrm>
            <a:off x="1490965" y="2762609"/>
            <a:ext cx="8391943" cy="573405"/>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4000" u="none" cap="none" strike="noStrike">
                <a:solidFill>
                  <a:srgbClr val="2F3B69"/>
                </a:solidFill>
                <a:latin typeface="Montserrat"/>
                <a:ea typeface="Montserrat"/>
                <a:cs typeface="Montserrat"/>
                <a:sym typeface="Montserrat"/>
              </a:rPr>
              <a:t>KONSEP KEMIRIPAN DATA</a:t>
            </a:r>
            <a:endParaRPr/>
          </a:p>
        </p:txBody>
      </p:sp>
      <p:sp>
        <p:nvSpPr>
          <p:cNvPr id="152" name="Google Shape;152;p5"/>
          <p:cNvSpPr txBox="1"/>
          <p:nvPr/>
        </p:nvSpPr>
        <p:spPr>
          <a:xfrm>
            <a:off x="1490965" y="3785376"/>
            <a:ext cx="9375716" cy="3778250"/>
          </a:xfrm>
          <a:prstGeom prst="rect">
            <a:avLst/>
          </a:prstGeom>
          <a:noFill/>
          <a:ln>
            <a:noFill/>
          </a:ln>
        </p:spPr>
        <p:txBody>
          <a:bodyPr anchorCtr="0" anchor="t" bIns="0" lIns="0" spcFirstLastPara="1" rIns="0" wrap="square" tIns="0">
            <a:spAutoFit/>
          </a:bodyPr>
          <a:lstStyle/>
          <a:p>
            <a:pPr indent="-269874" lvl="1" marL="539749" marR="0" rtl="0" algn="l">
              <a:lnSpc>
                <a:spcPct val="151020"/>
              </a:lnSpc>
              <a:spcBef>
                <a:spcPts val="0"/>
              </a:spcBef>
              <a:spcAft>
                <a:spcPts val="0"/>
              </a:spcAft>
              <a:buClr>
                <a:srgbClr val="162651"/>
              </a:buClr>
              <a:buSzPts val="2499"/>
              <a:buFont typeface="Arial"/>
              <a:buChar char="•"/>
            </a:pPr>
            <a:r>
              <a:rPr b="0" i="0" lang="en-US" sz="2499" u="none" cap="none" strike="noStrike">
                <a:solidFill>
                  <a:srgbClr val="162651"/>
                </a:solidFill>
                <a:latin typeface="Montserrat"/>
                <a:ea typeface="Montserrat"/>
                <a:cs typeface="Montserrat"/>
                <a:sym typeface="Montserrat"/>
              </a:rPr>
              <a:t>Data dikelompokkan berdasarkan tingkat kemiripan.</a:t>
            </a:r>
            <a:endParaRPr/>
          </a:p>
          <a:p>
            <a:pPr indent="-269874" lvl="1" marL="539749" marR="0" rtl="0" algn="l">
              <a:lnSpc>
                <a:spcPct val="151020"/>
              </a:lnSpc>
              <a:spcBef>
                <a:spcPts val="0"/>
              </a:spcBef>
              <a:spcAft>
                <a:spcPts val="0"/>
              </a:spcAft>
              <a:buClr>
                <a:srgbClr val="162651"/>
              </a:buClr>
              <a:buSzPts val="2499"/>
              <a:buFont typeface="Arial"/>
              <a:buChar char="•"/>
            </a:pPr>
            <a:r>
              <a:rPr b="0" i="0" lang="en-US" sz="2499" u="none" cap="none" strike="noStrike">
                <a:solidFill>
                  <a:srgbClr val="162651"/>
                </a:solidFill>
                <a:latin typeface="Montserrat"/>
                <a:ea typeface="Montserrat"/>
                <a:cs typeface="Montserrat"/>
                <a:sym typeface="Montserrat"/>
              </a:rPr>
              <a:t>Semakin mirip karakteristik data, semakin besar peluang berada dalam satu cluster.</a:t>
            </a:r>
            <a:endParaRPr/>
          </a:p>
          <a:p>
            <a:pPr indent="-269874" lvl="1" marL="539749" marR="0" rtl="0" algn="l">
              <a:lnSpc>
                <a:spcPct val="151020"/>
              </a:lnSpc>
              <a:spcBef>
                <a:spcPts val="0"/>
              </a:spcBef>
              <a:spcAft>
                <a:spcPts val="0"/>
              </a:spcAft>
              <a:buClr>
                <a:srgbClr val="162651"/>
              </a:buClr>
              <a:buSzPts val="2499"/>
              <a:buFont typeface="Arial"/>
              <a:buChar char="•"/>
            </a:pPr>
            <a:r>
              <a:rPr b="0" i="0" lang="en-US" sz="2499" u="none" cap="none" strike="noStrike">
                <a:solidFill>
                  <a:srgbClr val="162651"/>
                </a:solidFill>
                <a:latin typeface="Montserrat"/>
                <a:ea typeface="Montserrat"/>
                <a:cs typeface="Montserrat"/>
                <a:sym typeface="Montserrat"/>
              </a:rPr>
              <a:t>Kemiripan biasanya diukur menggunakan konsep jarak antar data.</a:t>
            </a:r>
            <a:endParaRPr/>
          </a:p>
          <a:p>
            <a:pPr indent="-269874" lvl="1" marL="539749" marR="0" rtl="0" algn="l">
              <a:lnSpc>
                <a:spcPct val="151020"/>
              </a:lnSpc>
              <a:spcBef>
                <a:spcPts val="0"/>
              </a:spcBef>
              <a:spcAft>
                <a:spcPts val="0"/>
              </a:spcAft>
              <a:buClr>
                <a:srgbClr val="162651"/>
              </a:buClr>
              <a:buSzPts val="2499"/>
              <a:buFont typeface="Arial"/>
              <a:buChar char="•"/>
            </a:pPr>
            <a:r>
              <a:rPr b="0" i="0" lang="en-US" sz="2499" u="none" cap="none" strike="noStrike">
                <a:solidFill>
                  <a:srgbClr val="162651"/>
                </a:solidFill>
                <a:latin typeface="Montserrat"/>
                <a:ea typeface="Montserrat"/>
                <a:cs typeface="Montserrat"/>
                <a:sym typeface="Montserrat"/>
              </a:rPr>
              <a:t>Pemilihan ukuran kemiripan sangat memengaruhi hasil clustering</a:t>
            </a:r>
            <a:endParaRPr/>
          </a:p>
          <a:p>
            <a:pPr indent="0" lvl="0" marL="0" marR="0" rtl="0" algn="l">
              <a:lnSpc>
                <a:spcPct val="151020"/>
              </a:lnSpc>
              <a:spcBef>
                <a:spcPts val="0"/>
              </a:spcBef>
              <a:spcAft>
                <a:spcPts val="0"/>
              </a:spcAft>
              <a:buNone/>
            </a:pPr>
            <a:r>
              <a:t/>
            </a:r>
            <a:endParaRPr b="0" i="0" sz="2499" u="none" cap="none" strike="noStrike">
              <a:solidFill>
                <a:srgbClr val="162651"/>
              </a:solidFill>
              <a:latin typeface="Montserrat"/>
              <a:ea typeface="Montserrat"/>
              <a:cs typeface="Montserrat"/>
              <a:sym typeface="Montserrat"/>
            </a:endParaRPr>
          </a:p>
        </p:txBody>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sp>
        <p:nvSpPr>
          <p:cNvPr id="158" name="Google Shape;158;p6"/>
          <p:cNvSpPr/>
          <p:nvPr/>
        </p:nvSpPr>
        <p:spPr>
          <a:xfrm>
            <a:off x="1425470" y="505625"/>
            <a:ext cx="15437060" cy="8752675"/>
          </a:xfrm>
          <a:custGeom>
            <a:rect b="b" l="l" r="r" t="t"/>
            <a:pathLst>
              <a:path extrusionOk="0" h="8752675" w="15437060">
                <a:moveTo>
                  <a:pt x="0" y="0"/>
                </a:moveTo>
                <a:lnTo>
                  <a:pt x="15437060" y="0"/>
                </a:lnTo>
                <a:lnTo>
                  <a:pt x="15437060" y="8752675"/>
                </a:lnTo>
                <a:lnTo>
                  <a:pt x="0" y="8752675"/>
                </a:lnTo>
                <a:lnTo>
                  <a:pt x="0" y="0"/>
                </a:lnTo>
                <a:close/>
              </a:path>
            </a:pathLst>
          </a:custGeom>
          <a:blipFill rotWithShape="1">
            <a:blip r:embed="rId4">
              <a:alphaModFix/>
            </a:blip>
            <a:stretch>
              <a:fillRect b="-10008" l="0" r="0" t="0"/>
            </a:stretch>
          </a:blipFill>
          <a:ln>
            <a:noFill/>
          </a:ln>
        </p:spPr>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164" name="Google Shape;164;p7"/>
          <p:cNvGrpSpPr/>
          <p:nvPr/>
        </p:nvGrpSpPr>
        <p:grpSpPr>
          <a:xfrm>
            <a:off x="-30623" y="-180826"/>
            <a:ext cx="18318623" cy="10592324"/>
            <a:chOff x="0" y="-47625"/>
            <a:chExt cx="4824658" cy="2789748"/>
          </a:xfrm>
        </p:grpSpPr>
        <p:sp>
          <p:nvSpPr>
            <p:cNvPr id="165" name="Google Shape;165;p7"/>
            <p:cNvSpPr/>
            <p:nvPr/>
          </p:nvSpPr>
          <p:spPr>
            <a:xfrm>
              <a:off x="0" y="0"/>
              <a:ext cx="4824658" cy="2742123"/>
            </a:xfrm>
            <a:custGeom>
              <a:rect b="b" l="l" r="r" t="t"/>
              <a:pathLst>
                <a:path extrusionOk="0" h="2742123" w="4824658">
                  <a:moveTo>
                    <a:pt x="0" y="0"/>
                  </a:moveTo>
                  <a:lnTo>
                    <a:pt x="4824658" y="0"/>
                  </a:lnTo>
                  <a:lnTo>
                    <a:pt x="4824658" y="2742123"/>
                  </a:lnTo>
                  <a:lnTo>
                    <a:pt x="0" y="2742123"/>
                  </a:lnTo>
                  <a:close/>
                </a:path>
              </a:pathLst>
            </a:custGeom>
            <a:solidFill>
              <a:srgbClr val="FAFAFF"/>
            </a:solidFill>
            <a:ln>
              <a:noFill/>
            </a:ln>
          </p:spPr>
        </p:sp>
        <p:sp>
          <p:nvSpPr>
            <p:cNvPr id="166" name="Google Shape;166;p7"/>
            <p:cNvSpPr txBox="1"/>
            <p:nvPr/>
          </p:nvSpPr>
          <p:spPr>
            <a:xfrm>
              <a:off x="0" y="-47625"/>
              <a:ext cx="4824658" cy="278974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7" name="Google Shape;167;p7"/>
          <p:cNvSpPr/>
          <p:nvPr/>
        </p:nvSpPr>
        <p:spPr>
          <a:xfrm>
            <a:off x="11221661" y="-1914833"/>
            <a:ext cx="8902861" cy="5746392"/>
          </a:xfrm>
          <a:custGeom>
            <a:rect b="b" l="l" r="r" t="t"/>
            <a:pathLst>
              <a:path extrusionOk="0" h="5746392" w="8902861">
                <a:moveTo>
                  <a:pt x="0" y="0"/>
                </a:moveTo>
                <a:lnTo>
                  <a:pt x="8902861" y="0"/>
                </a:lnTo>
                <a:lnTo>
                  <a:pt x="8902861" y="5746392"/>
                </a:lnTo>
                <a:lnTo>
                  <a:pt x="0" y="5746392"/>
                </a:lnTo>
                <a:lnTo>
                  <a:pt x="0" y="0"/>
                </a:lnTo>
                <a:close/>
              </a:path>
            </a:pathLst>
          </a:custGeom>
          <a:blipFill rotWithShape="1">
            <a:blip r:embed="rId4">
              <a:alphaModFix/>
            </a:blip>
            <a:stretch>
              <a:fillRect b="0" l="0" r="0" t="0"/>
            </a:stretch>
          </a:blipFill>
          <a:ln>
            <a:noFill/>
          </a:ln>
        </p:spPr>
      </p:sp>
      <p:sp>
        <p:nvSpPr>
          <p:cNvPr id="168" name="Google Shape;168;p7"/>
          <p:cNvSpPr/>
          <p:nvPr/>
        </p:nvSpPr>
        <p:spPr>
          <a:xfrm>
            <a:off x="-1495994" y="8525112"/>
            <a:ext cx="10364200" cy="4070304"/>
          </a:xfrm>
          <a:custGeom>
            <a:rect b="b" l="l" r="r" t="t"/>
            <a:pathLst>
              <a:path extrusionOk="0" h="4070304" w="10364200">
                <a:moveTo>
                  <a:pt x="0" y="0"/>
                </a:moveTo>
                <a:lnTo>
                  <a:pt x="10364200" y="0"/>
                </a:lnTo>
                <a:lnTo>
                  <a:pt x="10364200" y="4070304"/>
                </a:lnTo>
                <a:lnTo>
                  <a:pt x="0" y="4070304"/>
                </a:lnTo>
                <a:lnTo>
                  <a:pt x="0" y="0"/>
                </a:lnTo>
                <a:close/>
              </a:path>
            </a:pathLst>
          </a:custGeom>
          <a:blipFill rotWithShape="1">
            <a:blip r:embed="rId5">
              <a:alphaModFix/>
            </a:blip>
            <a:stretch>
              <a:fillRect b="0" l="0" r="0" t="0"/>
            </a:stretch>
          </a:blipFill>
          <a:ln>
            <a:noFill/>
          </a:ln>
        </p:spPr>
      </p:sp>
      <p:sp>
        <p:nvSpPr>
          <p:cNvPr id="169" name="Google Shape;169;p7"/>
          <p:cNvSpPr/>
          <p:nvPr/>
        </p:nvSpPr>
        <p:spPr>
          <a:xfrm>
            <a:off x="-2412729" y="-2717395"/>
            <a:ext cx="4825458" cy="4114800"/>
          </a:xfrm>
          <a:custGeom>
            <a:rect b="b" l="l" r="r" t="t"/>
            <a:pathLst>
              <a:path extrusionOk="0" h="4114800" w="4825458">
                <a:moveTo>
                  <a:pt x="0" y="0"/>
                </a:moveTo>
                <a:lnTo>
                  <a:pt x="4825458" y="0"/>
                </a:lnTo>
                <a:lnTo>
                  <a:pt x="4825458" y="4114800"/>
                </a:lnTo>
                <a:lnTo>
                  <a:pt x="0" y="4114800"/>
                </a:lnTo>
                <a:lnTo>
                  <a:pt x="0" y="0"/>
                </a:lnTo>
                <a:close/>
              </a:path>
            </a:pathLst>
          </a:custGeom>
          <a:blipFill rotWithShape="1">
            <a:blip r:embed="rId6">
              <a:alphaModFix/>
            </a:blip>
            <a:stretch>
              <a:fillRect b="0" l="0" r="0" t="0"/>
            </a:stretch>
          </a:blipFill>
          <a:ln>
            <a:noFill/>
          </a:ln>
        </p:spPr>
      </p:sp>
      <p:sp>
        <p:nvSpPr>
          <p:cNvPr id="170" name="Google Shape;170;p7"/>
          <p:cNvSpPr/>
          <p:nvPr/>
        </p:nvSpPr>
        <p:spPr>
          <a:xfrm>
            <a:off x="13730749" y="9022254"/>
            <a:ext cx="6663644" cy="4114800"/>
          </a:xfrm>
          <a:custGeom>
            <a:rect b="b" l="l" r="r" t="t"/>
            <a:pathLst>
              <a:path extrusionOk="0" h="4114800" w="6663644">
                <a:moveTo>
                  <a:pt x="0" y="0"/>
                </a:moveTo>
                <a:lnTo>
                  <a:pt x="6663643" y="0"/>
                </a:lnTo>
                <a:lnTo>
                  <a:pt x="6663643" y="4114800"/>
                </a:lnTo>
                <a:lnTo>
                  <a:pt x="0" y="4114800"/>
                </a:lnTo>
                <a:lnTo>
                  <a:pt x="0" y="0"/>
                </a:lnTo>
                <a:close/>
              </a:path>
            </a:pathLst>
          </a:custGeom>
          <a:blipFill rotWithShape="1">
            <a:blip r:embed="rId7">
              <a:alphaModFix/>
            </a:blip>
            <a:stretch>
              <a:fillRect b="0" l="0" r="0" t="0"/>
            </a:stretch>
          </a:blipFill>
          <a:ln>
            <a:noFill/>
          </a:ln>
        </p:spPr>
      </p:sp>
      <p:sp>
        <p:nvSpPr>
          <p:cNvPr id="171" name="Google Shape;171;p7"/>
          <p:cNvSpPr/>
          <p:nvPr/>
        </p:nvSpPr>
        <p:spPr>
          <a:xfrm>
            <a:off x="10605461" y="1893440"/>
            <a:ext cx="7364860" cy="7364860"/>
          </a:xfrm>
          <a:custGeom>
            <a:rect b="b" l="l" r="r" t="t"/>
            <a:pathLst>
              <a:path extrusionOk="0" h="7364860" w="7364860">
                <a:moveTo>
                  <a:pt x="0" y="0"/>
                </a:moveTo>
                <a:lnTo>
                  <a:pt x="7364860" y="0"/>
                </a:lnTo>
                <a:lnTo>
                  <a:pt x="7364860" y="7364860"/>
                </a:lnTo>
                <a:lnTo>
                  <a:pt x="0" y="7364860"/>
                </a:lnTo>
                <a:lnTo>
                  <a:pt x="0" y="0"/>
                </a:lnTo>
                <a:close/>
              </a:path>
            </a:pathLst>
          </a:custGeom>
          <a:blipFill rotWithShape="1">
            <a:blip r:embed="rId8">
              <a:alphaModFix/>
            </a:blip>
            <a:stretch>
              <a:fillRect b="0" l="0" r="0" t="0"/>
            </a:stretch>
          </a:blipFill>
          <a:ln>
            <a:noFill/>
          </a:ln>
        </p:spPr>
      </p:sp>
      <p:sp>
        <p:nvSpPr>
          <p:cNvPr id="172" name="Google Shape;172;p7"/>
          <p:cNvSpPr txBox="1"/>
          <p:nvPr/>
        </p:nvSpPr>
        <p:spPr>
          <a:xfrm>
            <a:off x="1028700" y="2692805"/>
            <a:ext cx="8580029" cy="4150700"/>
          </a:xfrm>
          <a:prstGeom prst="rect">
            <a:avLst/>
          </a:prstGeom>
          <a:noFill/>
          <a:ln>
            <a:noFill/>
          </a:ln>
        </p:spPr>
        <p:txBody>
          <a:bodyPr anchorCtr="0" anchor="t" bIns="0" lIns="0" spcFirstLastPara="1" rIns="0" wrap="square" tIns="0">
            <a:spAutoFit/>
          </a:bodyPr>
          <a:lstStyle/>
          <a:p>
            <a:pPr indent="-281017" lvl="1" marL="562035" marR="0" rtl="0" algn="l">
              <a:lnSpc>
                <a:spcPct val="161006"/>
              </a:lnSpc>
              <a:spcBef>
                <a:spcPts val="0"/>
              </a:spcBef>
              <a:spcAft>
                <a:spcPts val="0"/>
              </a:spcAft>
              <a:buClr>
                <a:srgbClr val="2F3B69"/>
              </a:buClr>
              <a:buSzPts val="2603"/>
              <a:buFont typeface="Arial"/>
              <a:buChar char="•"/>
            </a:pPr>
            <a:r>
              <a:rPr b="0" i="0" lang="en-US" sz="2603" u="none" cap="none" strike="noStrike">
                <a:solidFill>
                  <a:srgbClr val="2F3B69"/>
                </a:solidFill>
                <a:latin typeface="Montserrat"/>
                <a:ea typeface="Montserrat"/>
                <a:cs typeface="Montserrat"/>
                <a:sym typeface="Montserrat"/>
              </a:rPr>
              <a:t>Algoritma clustering berbasis partisi (partition-based).</a:t>
            </a:r>
            <a:endParaRPr/>
          </a:p>
          <a:p>
            <a:pPr indent="-281017" lvl="1" marL="562035" marR="0" rtl="0" algn="l">
              <a:lnSpc>
                <a:spcPct val="161006"/>
              </a:lnSpc>
              <a:spcBef>
                <a:spcPts val="0"/>
              </a:spcBef>
              <a:spcAft>
                <a:spcPts val="0"/>
              </a:spcAft>
              <a:buClr>
                <a:srgbClr val="2F3B69"/>
              </a:buClr>
              <a:buSzPts val="2603"/>
              <a:buFont typeface="Arial"/>
              <a:buChar char="•"/>
            </a:pPr>
            <a:r>
              <a:rPr b="0" i="0" lang="en-US" sz="2603" u="none" cap="none" strike="noStrike">
                <a:solidFill>
                  <a:srgbClr val="2F3B69"/>
                </a:solidFill>
                <a:latin typeface="Montserrat"/>
                <a:ea typeface="Montserrat"/>
                <a:cs typeface="Montserrat"/>
                <a:sym typeface="Montserrat"/>
              </a:rPr>
              <a:t>Data dikelompokkan ke dalam K cluster yang ditentukan di awal.</a:t>
            </a:r>
            <a:endParaRPr/>
          </a:p>
          <a:p>
            <a:pPr indent="-281017" lvl="1" marL="562035" marR="0" rtl="0" algn="l">
              <a:lnSpc>
                <a:spcPct val="161006"/>
              </a:lnSpc>
              <a:spcBef>
                <a:spcPts val="0"/>
              </a:spcBef>
              <a:spcAft>
                <a:spcPts val="0"/>
              </a:spcAft>
              <a:buClr>
                <a:srgbClr val="2F3B69"/>
              </a:buClr>
              <a:buSzPts val="2603"/>
              <a:buFont typeface="Arial"/>
              <a:buChar char="•"/>
            </a:pPr>
            <a:r>
              <a:rPr b="0" i="0" lang="en-US" sz="2603" u="none" cap="none" strike="noStrike">
                <a:solidFill>
                  <a:srgbClr val="2F3B69"/>
                </a:solidFill>
                <a:latin typeface="Montserrat"/>
                <a:ea typeface="Montserrat"/>
                <a:cs typeface="Montserrat"/>
                <a:sym typeface="Montserrat"/>
              </a:rPr>
              <a:t>Setiap data ditempatkan pada cluster dengan jarak terdekat ke pusat cluster (centroid).</a:t>
            </a:r>
            <a:endParaRPr/>
          </a:p>
          <a:p>
            <a:pPr indent="-281017" lvl="1" marL="562035" marR="0" rtl="0" algn="l">
              <a:lnSpc>
                <a:spcPct val="161006"/>
              </a:lnSpc>
              <a:spcBef>
                <a:spcPts val="0"/>
              </a:spcBef>
              <a:spcAft>
                <a:spcPts val="0"/>
              </a:spcAft>
              <a:buClr>
                <a:srgbClr val="2F3B69"/>
              </a:buClr>
              <a:buSzPts val="2603"/>
              <a:buFont typeface="Arial"/>
              <a:buChar char="•"/>
            </a:pPr>
            <a:r>
              <a:rPr b="0" i="0" lang="en-US" sz="2603" u="none" cap="none" strike="noStrike">
                <a:solidFill>
                  <a:srgbClr val="2F3B69"/>
                </a:solidFill>
                <a:latin typeface="Montserrat"/>
                <a:ea typeface="Montserrat"/>
                <a:cs typeface="Montserrat"/>
                <a:sym typeface="Montserrat"/>
              </a:rPr>
              <a:t>Cocok untuk data numerik dan berskala besar.</a:t>
            </a:r>
            <a:endParaRPr/>
          </a:p>
          <a:p>
            <a:pPr indent="0" lvl="0" marL="0" marR="0" rtl="0" algn="l">
              <a:lnSpc>
                <a:spcPct val="161006"/>
              </a:lnSpc>
              <a:spcBef>
                <a:spcPts val="0"/>
              </a:spcBef>
              <a:spcAft>
                <a:spcPts val="0"/>
              </a:spcAft>
              <a:buNone/>
            </a:pPr>
            <a:r>
              <a:t/>
            </a:r>
            <a:endParaRPr b="0" i="0" sz="2603" u="none" cap="none" strike="noStrike">
              <a:solidFill>
                <a:srgbClr val="2F3B69"/>
              </a:solidFill>
              <a:latin typeface="Montserrat"/>
              <a:ea typeface="Montserrat"/>
              <a:cs typeface="Montserrat"/>
              <a:sym typeface="Montserrat"/>
            </a:endParaRPr>
          </a:p>
        </p:txBody>
      </p:sp>
      <p:sp>
        <p:nvSpPr>
          <p:cNvPr id="173" name="Google Shape;173;p7"/>
          <p:cNvSpPr txBox="1"/>
          <p:nvPr/>
        </p:nvSpPr>
        <p:spPr>
          <a:xfrm>
            <a:off x="1028700" y="1615648"/>
            <a:ext cx="8722148" cy="858082"/>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None/>
            </a:pPr>
            <a:r>
              <a:rPr b="1" i="0" lang="en-US" sz="5020" u="none" cap="none" strike="noStrike">
                <a:solidFill>
                  <a:srgbClr val="2F3B69"/>
                </a:solidFill>
                <a:latin typeface="Montserrat"/>
                <a:ea typeface="Montserrat"/>
                <a:cs typeface="Montserrat"/>
                <a:sym typeface="Montserrat"/>
              </a:rPr>
              <a:t>K-MEANS CLUSTERING</a:t>
            </a:r>
            <a:endParaRP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179" name="Google Shape;179;p8"/>
          <p:cNvGrpSpPr/>
          <p:nvPr/>
        </p:nvGrpSpPr>
        <p:grpSpPr>
          <a:xfrm>
            <a:off x="-30623" y="-180826"/>
            <a:ext cx="18318623" cy="10592324"/>
            <a:chOff x="0" y="-47625"/>
            <a:chExt cx="4824658" cy="2789748"/>
          </a:xfrm>
        </p:grpSpPr>
        <p:sp>
          <p:nvSpPr>
            <p:cNvPr id="180" name="Google Shape;180;p8"/>
            <p:cNvSpPr/>
            <p:nvPr/>
          </p:nvSpPr>
          <p:spPr>
            <a:xfrm>
              <a:off x="0" y="0"/>
              <a:ext cx="4824658" cy="2742123"/>
            </a:xfrm>
            <a:custGeom>
              <a:rect b="b" l="l" r="r" t="t"/>
              <a:pathLst>
                <a:path extrusionOk="0" h="2742123" w="4824658">
                  <a:moveTo>
                    <a:pt x="0" y="0"/>
                  </a:moveTo>
                  <a:lnTo>
                    <a:pt x="4824658" y="0"/>
                  </a:lnTo>
                  <a:lnTo>
                    <a:pt x="4824658" y="2742123"/>
                  </a:lnTo>
                  <a:lnTo>
                    <a:pt x="0" y="2742123"/>
                  </a:lnTo>
                  <a:close/>
                </a:path>
              </a:pathLst>
            </a:custGeom>
            <a:solidFill>
              <a:srgbClr val="FAFAFF"/>
            </a:solidFill>
            <a:ln>
              <a:noFill/>
            </a:ln>
          </p:spPr>
        </p:sp>
        <p:sp>
          <p:nvSpPr>
            <p:cNvPr id="181" name="Google Shape;181;p8"/>
            <p:cNvSpPr txBox="1"/>
            <p:nvPr/>
          </p:nvSpPr>
          <p:spPr>
            <a:xfrm>
              <a:off x="0" y="-47625"/>
              <a:ext cx="4824658" cy="278974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2" name="Google Shape;182;p8"/>
          <p:cNvSpPr/>
          <p:nvPr/>
        </p:nvSpPr>
        <p:spPr>
          <a:xfrm>
            <a:off x="11221661" y="-1914833"/>
            <a:ext cx="8902861" cy="5746392"/>
          </a:xfrm>
          <a:custGeom>
            <a:rect b="b" l="l" r="r" t="t"/>
            <a:pathLst>
              <a:path extrusionOk="0" h="5746392" w="8902861">
                <a:moveTo>
                  <a:pt x="0" y="0"/>
                </a:moveTo>
                <a:lnTo>
                  <a:pt x="8902861" y="0"/>
                </a:lnTo>
                <a:lnTo>
                  <a:pt x="8902861" y="5746392"/>
                </a:lnTo>
                <a:lnTo>
                  <a:pt x="0" y="5746392"/>
                </a:lnTo>
                <a:lnTo>
                  <a:pt x="0" y="0"/>
                </a:lnTo>
                <a:close/>
              </a:path>
            </a:pathLst>
          </a:custGeom>
          <a:blipFill rotWithShape="1">
            <a:blip r:embed="rId4">
              <a:alphaModFix/>
            </a:blip>
            <a:stretch>
              <a:fillRect b="0" l="0" r="0" t="0"/>
            </a:stretch>
          </a:blipFill>
          <a:ln>
            <a:noFill/>
          </a:ln>
        </p:spPr>
      </p:sp>
      <p:sp>
        <p:nvSpPr>
          <p:cNvPr id="183" name="Google Shape;183;p8"/>
          <p:cNvSpPr/>
          <p:nvPr/>
        </p:nvSpPr>
        <p:spPr>
          <a:xfrm>
            <a:off x="-1495994" y="8525112"/>
            <a:ext cx="10364200" cy="4070304"/>
          </a:xfrm>
          <a:custGeom>
            <a:rect b="b" l="l" r="r" t="t"/>
            <a:pathLst>
              <a:path extrusionOk="0" h="4070304" w="10364200">
                <a:moveTo>
                  <a:pt x="0" y="0"/>
                </a:moveTo>
                <a:lnTo>
                  <a:pt x="10364200" y="0"/>
                </a:lnTo>
                <a:lnTo>
                  <a:pt x="10364200" y="4070304"/>
                </a:lnTo>
                <a:lnTo>
                  <a:pt x="0" y="4070304"/>
                </a:lnTo>
                <a:lnTo>
                  <a:pt x="0" y="0"/>
                </a:lnTo>
                <a:close/>
              </a:path>
            </a:pathLst>
          </a:custGeom>
          <a:blipFill rotWithShape="1">
            <a:blip r:embed="rId5">
              <a:alphaModFix/>
            </a:blip>
            <a:stretch>
              <a:fillRect b="0" l="0" r="0" t="0"/>
            </a:stretch>
          </a:blipFill>
          <a:ln>
            <a:noFill/>
          </a:ln>
        </p:spPr>
      </p:sp>
      <p:sp>
        <p:nvSpPr>
          <p:cNvPr id="184" name="Google Shape;184;p8"/>
          <p:cNvSpPr/>
          <p:nvPr/>
        </p:nvSpPr>
        <p:spPr>
          <a:xfrm>
            <a:off x="-2412729" y="-2717395"/>
            <a:ext cx="4825458" cy="4114800"/>
          </a:xfrm>
          <a:custGeom>
            <a:rect b="b" l="l" r="r" t="t"/>
            <a:pathLst>
              <a:path extrusionOk="0" h="4114800" w="4825458">
                <a:moveTo>
                  <a:pt x="0" y="0"/>
                </a:moveTo>
                <a:lnTo>
                  <a:pt x="4825458" y="0"/>
                </a:lnTo>
                <a:lnTo>
                  <a:pt x="4825458" y="4114800"/>
                </a:lnTo>
                <a:lnTo>
                  <a:pt x="0" y="4114800"/>
                </a:lnTo>
                <a:lnTo>
                  <a:pt x="0" y="0"/>
                </a:lnTo>
                <a:close/>
              </a:path>
            </a:pathLst>
          </a:custGeom>
          <a:blipFill rotWithShape="1">
            <a:blip r:embed="rId6">
              <a:alphaModFix/>
            </a:blip>
            <a:stretch>
              <a:fillRect b="0" l="0" r="0" t="0"/>
            </a:stretch>
          </a:blipFill>
          <a:ln>
            <a:noFill/>
          </a:ln>
        </p:spPr>
      </p:sp>
      <p:sp>
        <p:nvSpPr>
          <p:cNvPr id="185" name="Google Shape;185;p8"/>
          <p:cNvSpPr/>
          <p:nvPr/>
        </p:nvSpPr>
        <p:spPr>
          <a:xfrm>
            <a:off x="13730749" y="9022254"/>
            <a:ext cx="6663644" cy="4114800"/>
          </a:xfrm>
          <a:custGeom>
            <a:rect b="b" l="l" r="r" t="t"/>
            <a:pathLst>
              <a:path extrusionOk="0" h="4114800" w="6663644">
                <a:moveTo>
                  <a:pt x="0" y="0"/>
                </a:moveTo>
                <a:lnTo>
                  <a:pt x="6663643" y="0"/>
                </a:lnTo>
                <a:lnTo>
                  <a:pt x="6663643" y="4114800"/>
                </a:lnTo>
                <a:lnTo>
                  <a:pt x="0" y="4114800"/>
                </a:lnTo>
                <a:lnTo>
                  <a:pt x="0" y="0"/>
                </a:lnTo>
                <a:close/>
              </a:path>
            </a:pathLst>
          </a:custGeom>
          <a:blipFill rotWithShape="1">
            <a:blip r:embed="rId7">
              <a:alphaModFix/>
            </a:blip>
            <a:stretch>
              <a:fillRect b="0" l="0" r="0" t="0"/>
            </a:stretch>
          </a:blipFill>
          <a:ln>
            <a:noFill/>
          </a:ln>
        </p:spPr>
      </p:sp>
      <p:sp>
        <p:nvSpPr>
          <p:cNvPr id="186" name="Google Shape;186;p8"/>
          <p:cNvSpPr txBox="1"/>
          <p:nvPr/>
        </p:nvSpPr>
        <p:spPr>
          <a:xfrm>
            <a:off x="1028700" y="2692805"/>
            <a:ext cx="8580029" cy="6246200"/>
          </a:xfrm>
          <a:prstGeom prst="rect">
            <a:avLst/>
          </a:prstGeom>
          <a:noFill/>
          <a:ln>
            <a:noFill/>
          </a:ln>
        </p:spPr>
        <p:txBody>
          <a:bodyPr anchorCtr="0" anchor="t" bIns="0" lIns="0" spcFirstLastPara="1" rIns="0" wrap="square" tIns="0">
            <a:spAutoFit/>
          </a:bodyPr>
          <a:lstStyle/>
          <a:p>
            <a:pPr indent="0" lvl="0" marL="0" marR="0" rtl="0" algn="l">
              <a:lnSpc>
                <a:spcPct val="161006"/>
              </a:lnSpc>
              <a:spcBef>
                <a:spcPts val="0"/>
              </a:spcBef>
              <a:spcAft>
                <a:spcPts val="0"/>
              </a:spcAft>
              <a:buNone/>
            </a:pPr>
            <a:r>
              <a:rPr b="1" i="0" lang="en-US" sz="2603" u="none" cap="none" strike="noStrike">
                <a:solidFill>
                  <a:srgbClr val="2F3B69"/>
                </a:solidFill>
                <a:latin typeface="Montserrat"/>
                <a:ea typeface="Montserrat"/>
                <a:cs typeface="Montserrat"/>
                <a:sym typeface="Montserrat"/>
              </a:rPr>
              <a:t>Contoh Kasus: Segmentasi Pelanggan Ritel</a:t>
            </a:r>
            <a:endParaRPr/>
          </a:p>
          <a:p>
            <a:pPr indent="0" lvl="0" marL="0" marR="0" rtl="0" algn="l">
              <a:lnSpc>
                <a:spcPct val="161006"/>
              </a:lnSpc>
              <a:spcBef>
                <a:spcPts val="0"/>
              </a:spcBef>
              <a:spcAft>
                <a:spcPts val="0"/>
              </a:spcAft>
              <a:buNone/>
            </a:pPr>
            <a:r>
              <a:rPr b="0" i="0" lang="en-US" sz="2603" u="none" cap="none" strike="noStrike">
                <a:solidFill>
                  <a:srgbClr val="2F3B69"/>
                </a:solidFill>
                <a:latin typeface="Montserrat"/>
                <a:ea typeface="Montserrat"/>
                <a:cs typeface="Montserrat"/>
                <a:sym typeface="Montserrat"/>
              </a:rPr>
              <a:t> Sebuah perusahaan ritel memiliki data pelanggan berupa usia, pendapatan, dan total belanja. Data tersebut dikelompokkan menggunakan K-Means untuk membentuk segmen pelanggan seperti pelanggan premium, pelanggan menengah, dan pelanggan reguler.</a:t>
            </a:r>
            <a:endParaRPr/>
          </a:p>
          <a:p>
            <a:pPr indent="-281017" lvl="1" marL="562035" marR="0" rtl="0" algn="l">
              <a:lnSpc>
                <a:spcPct val="161006"/>
              </a:lnSpc>
              <a:spcBef>
                <a:spcPts val="0"/>
              </a:spcBef>
              <a:spcAft>
                <a:spcPts val="0"/>
              </a:spcAft>
              <a:buClr>
                <a:srgbClr val="2F3B69"/>
              </a:buClr>
              <a:buSzPts val="2603"/>
              <a:buFont typeface="Arial"/>
              <a:buChar char="•"/>
            </a:pPr>
            <a:r>
              <a:rPr b="0" i="0" lang="en-US" sz="2603" u="none" cap="none" strike="noStrike">
                <a:solidFill>
                  <a:srgbClr val="2F3B69"/>
                </a:solidFill>
                <a:latin typeface="Montserrat"/>
                <a:ea typeface="Montserrat"/>
                <a:cs typeface="Montserrat"/>
                <a:sym typeface="Montserrat"/>
              </a:rPr>
              <a:t>Alasan Penggunaan:</a:t>
            </a:r>
            <a:endParaRPr/>
          </a:p>
          <a:p>
            <a:pPr indent="-281017" lvl="1" marL="562035" marR="0" rtl="0" algn="l">
              <a:lnSpc>
                <a:spcPct val="161006"/>
              </a:lnSpc>
              <a:spcBef>
                <a:spcPts val="0"/>
              </a:spcBef>
              <a:spcAft>
                <a:spcPts val="0"/>
              </a:spcAft>
              <a:buClr>
                <a:srgbClr val="2F3B69"/>
              </a:buClr>
              <a:buSzPts val="2603"/>
              <a:buFont typeface="Arial"/>
              <a:buChar char="•"/>
            </a:pPr>
            <a:r>
              <a:rPr b="0" i="0" lang="en-US" sz="2603" u="none" cap="none" strike="noStrike">
                <a:solidFill>
                  <a:srgbClr val="2F3B69"/>
                </a:solidFill>
                <a:latin typeface="Montserrat"/>
                <a:ea typeface="Montserrat"/>
                <a:cs typeface="Montserrat"/>
                <a:sym typeface="Montserrat"/>
              </a:rPr>
              <a:t>Data bersifat numerik</a:t>
            </a:r>
            <a:endParaRPr/>
          </a:p>
          <a:p>
            <a:pPr indent="-281017" lvl="1" marL="562035" marR="0" rtl="0" algn="l">
              <a:lnSpc>
                <a:spcPct val="161006"/>
              </a:lnSpc>
              <a:spcBef>
                <a:spcPts val="0"/>
              </a:spcBef>
              <a:spcAft>
                <a:spcPts val="0"/>
              </a:spcAft>
              <a:buClr>
                <a:srgbClr val="2F3B69"/>
              </a:buClr>
              <a:buSzPts val="2603"/>
              <a:buFont typeface="Arial"/>
              <a:buChar char="•"/>
            </a:pPr>
            <a:r>
              <a:rPr b="0" i="0" lang="en-US" sz="2603" u="none" cap="none" strike="noStrike">
                <a:solidFill>
                  <a:srgbClr val="2F3B69"/>
                </a:solidFill>
                <a:latin typeface="Montserrat"/>
                <a:ea typeface="Montserrat"/>
                <a:cs typeface="Montserrat"/>
                <a:sym typeface="Montserrat"/>
              </a:rPr>
              <a:t>Jumlah segmen sudah ditentukan di awal</a:t>
            </a:r>
            <a:endParaRPr/>
          </a:p>
          <a:p>
            <a:pPr indent="-281017" lvl="1" marL="562035" marR="0" rtl="0" algn="l">
              <a:lnSpc>
                <a:spcPct val="161006"/>
              </a:lnSpc>
              <a:spcBef>
                <a:spcPts val="0"/>
              </a:spcBef>
              <a:spcAft>
                <a:spcPts val="0"/>
              </a:spcAft>
              <a:buClr>
                <a:srgbClr val="2F3B69"/>
              </a:buClr>
              <a:buSzPts val="2603"/>
              <a:buFont typeface="Arial"/>
              <a:buChar char="•"/>
            </a:pPr>
            <a:r>
              <a:rPr b="0" i="0" lang="en-US" sz="2603" u="none" cap="none" strike="noStrike">
                <a:solidFill>
                  <a:srgbClr val="2F3B69"/>
                </a:solidFill>
                <a:latin typeface="Montserrat"/>
                <a:ea typeface="Montserrat"/>
                <a:cs typeface="Montserrat"/>
                <a:sym typeface="Montserrat"/>
              </a:rPr>
              <a:t>Cocok untuk analisis pemasaran dan promosi</a:t>
            </a:r>
            <a:endParaRPr/>
          </a:p>
          <a:p>
            <a:pPr indent="0" lvl="0" marL="0" marR="0" rtl="0" algn="l">
              <a:lnSpc>
                <a:spcPct val="161006"/>
              </a:lnSpc>
              <a:spcBef>
                <a:spcPts val="0"/>
              </a:spcBef>
              <a:spcAft>
                <a:spcPts val="0"/>
              </a:spcAft>
              <a:buNone/>
            </a:pPr>
            <a:r>
              <a:t/>
            </a:r>
            <a:endParaRPr b="0" i="0" sz="2603" u="none" cap="none" strike="noStrike">
              <a:solidFill>
                <a:srgbClr val="2F3B69"/>
              </a:solidFill>
              <a:latin typeface="Montserrat"/>
              <a:ea typeface="Montserrat"/>
              <a:cs typeface="Montserrat"/>
              <a:sym typeface="Montserrat"/>
            </a:endParaRPr>
          </a:p>
        </p:txBody>
      </p:sp>
      <p:sp>
        <p:nvSpPr>
          <p:cNvPr id="187" name="Google Shape;187;p8"/>
          <p:cNvSpPr txBox="1"/>
          <p:nvPr/>
        </p:nvSpPr>
        <p:spPr>
          <a:xfrm>
            <a:off x="1028700" y="1615648"/>
            <a:ext cx="8722148" cy="858082"/>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None/>
            </a:pPr>
            <a:r>
              <a:rPr b="1" i="0" lang="en-US" sz="5020" u="none" cap="none" strike="noStrike">
                <a:solidFill>
                  <a:srgbClr val="2F3B69"/>
                </a:solidFill>
                <a:latin typeface="Montserrat"/>
                <a:ea typeface="Montserrat"/>
                <a:cs typeface="Montserrat"/>
                <a:sym typeface="Montserrat"/>
              </a:rPr>
              <a:t>K-MEANS CLUSTERING</a:t>
            </a:r>
            <a:endParaRPr/>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193" name="Google Shape;193;p9"/>
          <p:cNvGrpSpPr/>
          <p:nvPr/>
        </p:nvGrpSpPr>
        <p:grpSpPr>
          <a:xfrm>
            <a:off x="4283122" y="-180826"/>
            <a:ext cx="13932415" cy="10467826"/>
            <a:chOff x="0" y="-47625"/>
            <a:chExt cx="3669443" cy="2756958"/>
          </a:xfrm>
        </p:grpSpPr>
        <p:sp>
          <p:nvSpPr>
            <p:cNvPr id="194" name="Google Shape;194;p9"/>
            <p:cNvSpPr/>
            <p:nvPr/>
          </p:nvSpPr>
          <p:spPr>
            <a:xfrm>
              <a:off x="0" y="0"/>
              <a:ext cx="3669443" cy="2709333"/>
            </a:xfrm>
            <a:custGeom>
              <a:rect b="b" l="l" r="r" t="t"/>
              <a:pathLst>
                <a:path extrusionOk="0" h="2709333" w="3669443">
                  <a:moveTo>
                    <a:pt x="0" y="0"/>
                  </a:moveTo>
                  <a:lnTo>
                    <a:pt x="3669443" y="0"/>
                  </a:lnTo>
                  <a:lnTo>
                    <a:pt x="3669443" y="2709333"/>
                  </a:lnTo>
                  <a:lnTo>
                    <a:pt x="0" y="2709333"/>
                  </a:lnTo>
                  <a:close/>
                </a:path>
              </a:pathLst>
            </a:custGeom>
            <a:solidFill>
              <a:srgbClr val="FAFAFF"/>
            </a:solidFill>
            <a:ln>
              <a:noFill/>
            </a:ln>
          </p:spPr>
        </p:sp>
        <p:sp>
          <p:nvSpPr>
            <p:cNvPr id="195" name="Google Shape;195;p9"/>
            <p:cNvSpPr txBox="1"/>
            <p:nvPr/>
          </p:nvSpPr>
          <p:spPr>
            <a:xfrm>
              <a:off x="0" y="-47625"/>
              <a:ext cx="366944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6" name="Google Shape;196;p9"/>
          <p:cNvSpPr/>
          <p:nvPr/>
        </p:nvSpPr>
        <p:spPr>
          <a:xfrm>
            <a:off x="14285487" y="9258300"/>
            <a:ext cx="5947625" cy="2076262"/>
          </a:xfrm>
          <a:custGeom>
            <a:rect b="b" l="l" r="r" t="t"/>
            <a:pathLst>
              <a:path extrusionOk="0" h="2076262" w="5947625">
                <a:moveTo>
                  <a:pt x="0" y="0"/>
                </a:moveTo>
                <a:lnTo>
                  <a:pt x="5947626" y="0"/>
                </a:lnTo>
                <a:lnTo>
                  <a:pt x="5947626" y="2076262"/>
                </a:lnTo>
                <a:lnTo>
                  <a:pt x="0" y="2076262"/>
                </a:lnTo>
                <a:lnTo>
                  <a:pt x="0" y="0"/>
                </a:lnTo>
                <a:close/>
              </a:path>
            </a:pathLst>
          </a:custGeom>
          <a:blipFill rotWithShape="1">
            <a:blip r:embed="rId4">
              <a:alphaModFix/>
            </a:blip>
            <a:stretch>
              <a:fillRect b="0" l="0" r="0" t="0"/>
            </a:stretch>
          </a:blipFill>
          <a:ln>
            <a:noFill/>
          </a:ln>
        </p:spPr>
      </p:sp>
      <p:sp>
        <p:nvSpPr>
          <p:cNvPr id="197" name="Google Shape;197;p9"/>
          <p:cNvSpPr/>
          <p:nvPr/>
        </p:nvSpPr>
        <p:spPr>
          <a:xfrm>
            <a:off x="-2223542" y="-1199095"/>
            <a:ext cx="6784865" cy="4130287"/>
          </a:xfrm>
          <a:custGeom>
            <a:rect b="b" l="l" r="r" t="t"/>
            <a:pathLst>
              <a:path extrusionOk="0" h="4130287" w="6784865">
                <a:moveTo>
                  <a:pt x="0" y="0"/>
                </a:moveTo>
                <a:lnTo>
                  <a:pt x="6784865" y="0"/>
                </a:lnTo>
                <a:lnTo>
                  <a:pt x="6784865" y="4130286"/>
                </a:lnTo>
                <a:lnTo>
                  <a:pt x="0" y="4130286"/>
                </a:lnTo>
                <a:lnTo>
                  <a:pt x="0" y="0"/>
                </a:lnTo>
                <a:close/>
              </a:path>
            </a:pathLst>
          </a:custGeom>
          <a:blipFill rotWithShape="1">
            <a:blip r:embed="rId5">
              <a:alphaModFix/>
            </a:blip>
            <a:stretch>
              <a:fillRect b="0" l="0" r="0" t="0"/>
            </a:stretch>
          </a:blipFill>
          <a:ln>
            <a:noFill/>
          </a:ln>
        </p:spPr>
      </p:sp>
      <p:grpSp>
        <p:nvGrpSpPr>
          <p:cNvPr id="198" name="Google Shape;198;p9"/>
          <p:cNvGrpSpPr/>
          <p:nvPr/>
        </p:nvGrpSpPr>
        <p:grpSpPr>
          <a:xfrm>
            <a:off x="17259300" y="-704151"/>
            <a:ext cx="1028700" cy="4031759"/>
            <a:chOff x="0" y="-47625"/>
            <a:chExt cx="270933" cy="1061862"/>
          </a:xfrm>
        </p:grpSpPr>
        <p:sp>
          <p:nvSpPr>
            <p:cNvPr id="199" name="Google Shape;199;p9"/>
            <p:cNvSpPr/>
            <p:nvPr/>
          </p:nvSpPr>
          <p:spPr>
            <a:xfrm>
              <a:off x="0" y="0"/>
              <a:ext cx="270933" cy="1014237"/>
            </a:xfrm>
            <a:custGeom>
              <a:rect b="b" l="l" r="r" t="t"/>
              <a:pathLst>
                <a:path extrusionOk="0" h="1014237" w="270933">
                  <a:moveTo>
                    <a:pt x="0" y="0"/>
                  </a:moveTo>
                  <a:lnTo>
                    <a:pt x="270933" y="0"/>
                  </a:lnTo>
                  <a:lnTo>
                    <a:pt x="270933" y="1014237"/>
                  </a:lnTo>
                  <a:lnTo>
                    <a:pt x="0" y="1014237"/>
                  </a:lnTo>
                  <a:close/>
                </a:path>
              </a:pathLst>
            </a:custGeom>
            <a:solidFill>
              <a:srgbClr val="3E829A"/>
            </a:solidFill>
            <a:ln>
              <a:noFill/>
            </a:ln>
          </p:spPr>
        </p:sp>
        <p:sp>
          <p:nvSpPr>
            <p:cNvPr id="200" name="Google Shape;200;p9"/>
            <p:cNvSpPr txBox="1"/>
            <p:nvPr/>
          </p:nvSpPr>
          <p:spPr>
            <a:xfrm>
              <a:off x="0" y="-47625"/>
              <a:ext cx="270933" cy="1061862"/>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1" name="Google Shape;201;p9"/>
          <p:cNvGrpSpPr/>
          <p:nvPr/>
        </p:nvGrpSpPr>
        <p:grpSpPr>
          <a:xfrm>
            <a:off x="0" y="9601384"/>
            <a:ext cx="5157214" cy="685616"/>
            <a:chOff x="0" y="-47625"/>
            <a:chExt cx="1358279" cy="180574"/>
          </a:xfrm>
        </p:grpSpPr>
        <p:sp>
          <p:nvSpPr>
            <p:cNvPr id="202" name="Google Shape;202;p9"/>
            <p:cNvSpPr/>
            <p:nvPr/>
          </p:nvSpPr>
          <p:spPr>
            <a:xfrm>
              <a:off x="0" y="0"/>
              <a:ext cx="1358279" cy="132949"/>
            </a:xfrm>
            <a:custGeom>
              <a:rect b="b" l="l" r="r" t="t"/>
              <a:pathLst>
                <a:path extrusionOk="0" h="132949" w="1358279">
                  <a:moveTo>
                    <a:pt x="0" y="0"/>
                  </a:moveTo>
                  <a:lnTo>
                    <a:pt x="1358279" y="0"/>
                  </a:lnTo>
                  <a:lnTo>
                    <a:pt x="1358279" y="132949"/>
                  </a:lnTo>
                  <a:lnTo>
                    <a:pt x="0" y="132949"/>
                  </a:lnTo>
                  <a:close/>
                </a:path>
              </a:pathLst>
            </a:custGeom>
            <a:solidFill>
              <a:srgbClr val="3E829A"/>
            </a:solidFill>
            <a:ln>
              <a:noFill/>
            </a:ln>
          </p:spPr>
        </p:sp>
        <p:sp>
          <p:nvSpPr>
            <p:cNvPr id="203" name="Google Shape;203;p9"/>
            <p:cNvSpPr txBox="1"/>
            <p:nvPr/>
          </p:nvSpPr>
          <p:spPr>
            <a:xfrm>
              <a:off x="0" y="-47625"/>
              <a:ext cx="1358279" cy="180574"/>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4" name="Google Shape;204;p9"/>
          <p:cNvGrpSpPr/>
          <p:nvPr/>
        </p:nvGrpSpPr>
        <p:grpSpPr>
          <a:xfrm>
            <a:off x="6934505" y="1876204"/>
            <a:ext cx="9704395" cy="7689189"/>
            <a:chOff x="0" y="-47625"/>
            <a:chExt cx="2555890" cy="2025136"/>
          </a:xfrm>
        </p:grpSpPr>
        <p:sp>
          <p:nvSpPr>
            <p:cNvPr id="205" name="Google Shape;205;p9"/>
            <p:cNvSpPr/>
            <p:nvPr/>
          </p:nvSpPr>
          <p:spPr>
            <a:xfrm>
              <a:off x="0" y="0"/>
              <a:ext cx="2555890" cy="1977511"/>
            </a:xfrm>
            <a:custGeom>
              <a:rect b="b" l="l" r="r" t="t"/>
              <a:pathLst>
                <a:path extrusionOk="0" h="1977511" w="2555890">
                  <a:moveTo>
                    <a:pt x="40687" y="0"/>
                  </a:moveTo>
                  <a:lnTo>
                    <a:pt x="2515204" y="0"/>
                  </a:lnTo>
                  <a:cubicBezTo>
                    <a:pt x="2525994" y="0"/>
                    <a:pt x="2536343" y="4287"/>
                    <a:pt x="2543973" y="11917"/>
                  </a:cubicBezTo>
                  <a:cubicBezTo>
                    <a:pt x="2551604" y="19547"/>
                    <a:pt x="2555890" y="29896"/>
                    <a:pt x="2555890" y="40687"/>
                  </a:cubicBezTo>
                  <a:lnTo>
                    <a:pt x="2555890" y="1936825"/>
                  </a:lnTo>
                  <a:cubicBezTo>
                    <a:pt x="2555890" y="1959296"/>
                    <a:pt x="2537674" y="1977511"/>
                    <a:pt x="2515204" y="1977511"/>
                  </a:cubicBezTo>
                  <a:lnTo>
                    <a:pt x="40687" y="1977511"/>
                  </a:lnTo>
                  <a:cubicBezTo>
                    <a:pt x="18216" y="1977511"/>
                    <a:pt x="0" y="1959296"/>
                    <a:pt x="0" y="1936825"/>
                  </a:cubicBezTo>
                  <a:lnTo>
                    <a:pt x="0" y="40687"/>
                  </a:lnTo>
                  <a:cubicBezTo>
                    <a:pt x="0" y="18216"/>
                    <a:pt x="18216" y="0"/>
                    <a:pt x="40687" y="0"/>
                  </a:cubicBezTo>
                  <a:close/>
                </a:path>
              </a:pathLst>
            </a:custGeom>
            <a:solidFill>
              <a:srgbClr val="0836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9"/>
            <p:cNvSpPr txBox="1"/>
            <p:nvPr/>
          </p:nvSpPr>
          <p:spPr>
            <a:xfrm>
              <a:off x="0" y="-47625"/>
              <a:ext cx="2555890" cy="2025136"/>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7" name="Google Shape;207;p9"/>
          <p:cNvSpPr txBox="1"/>
          <p:nvPr/>
        </p:nvSpPr>
        <p:spPr>
          <a:xfrm>
            <a:off x="4561323" y="780323"/>
            <a:ext cx="12439320" cy="81153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None/>
            </a:pPr>
            <a:r>
              <a:rPr b="1" i="0" lang="en-US" sz="4800" u="none" cap="none" strike="noStrike">
                <a:solidFill>
                  <a:srgbClr val="2F3B69"/>
                </a:solidFill>
                <a:latin typeface="Montserrat"/>
                <a:ea typeface="Montserrat"/>
                <a:cs typeface="Montserrat"/>
                <a:sym typeface="Montserrat"/>
              </a:rPr>
              <a:t>HIERARCHICAL CLUSTERING</a:t>
            </a:r>
            <a:endParaRPr/>
          </a:p>
        </p:txBody>
      </p:sp>
      <p:sp>
        <p:nvSpPr>
          <p:cNvPr id="208" name="Google Shape;208;p9"/>
          <p:cNvSpPr txBox="1"/>
          <p:nvPr/>
        </p:nvSpPr>
        <p:spPr>
          <a:xfrm>
            <a:off x="7199616" y="2427605"/>
            <a:ext cx="8657040" cy="2715895"/>
          </a:xfrm>
          <a:prstGeom prst="rect">
            <a:avLst/>
          </a:prstGeom>
          <a:noFill/>
          <a:ln>
            <a:noFill/>
          </a:ln>
        </p:spPr>
        <p:txBody>
          <a:bodyPr anchorCtr="0" anchor="t" bIns="0" lIns="0" spcFirstLastPara="1" rIns="0" wrap="square" tIns="0">
            <a:spAutoFit/>
          </a:bodyPr>
          <a:lstStyle/>
          <a:p>
            <a:pPr indent="-237490" lvl="1" marL="474981" marR="0" rtl="0" algn="just">
              <a:lnSpc>
                <a:spcPct val="14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Membentuk struktur cluster bertingkat (hierarchy).</a:t>
            </a:r>
            <a:endParaRPr/>
          </a:p>
          <a:p>
            <a:pPr indent="-237490" lvl="1" marL="474981" marR="0" rtl="0" algn="just">
              <a:lnSpc>
                <a:spcPct val="14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Tidak memerlukan penentuan jumlah cluster di awal.</a:t>
            </a:r>
            <a:endParaRPr/>
          </a:p>
          <a:p>
            <a:pPr indent="-237490" lvl="1" marL="474981" marR="0" rtl="0" algn="just">
              <a:lnSpc>
                <a:spcPct val="14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Hasil divisualisasikan dalam bentuk dendrogram.</a:t>
            </a:r>
            <a:endParaRPr/>
          </a:p>
          <a:p>
            <a:pPr indent="-237490" lvl="1" marL="474981" marR="0" rtl="0" algn="just">
              <a:lnSpc>
                <a:spcPct val="14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Terdiri dari dua pendekatan:</a:t>
            </a:r>
            <a:endParaRPr/>
          </a:p>
          <a:p>
            <a:pPr indent="-316653" lvl="2" marL="949962" marR="0" rtl="0" algn="just">
              <a:lnSpc>
                <a:spcPct val="14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Agglomerative (bottom-up)</a:t>
            </a:r>
            <a:endParaRPr/>
          </a:p>
          <a:p>
            <a:pPr indent="-316653" lvl="2" marL="949962" marR="0" rtl="0" algn="just">
              <a:lnSpc>
                <a:spcPct val="14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Divisive (top-down)</a:t>
            </a:r>
            <a:endParaRPr/>
          </a:p>
          <a:p>
            <a:pPr indent="0" lvl="0" marL="0" marR="0" rtl="0" algn="just">
              <a:lnSpc>
                <a:spcPct val="140000"/>
              </a:lnSpc>
              <a:spcBef>
                <a:spcPts val="0"/>
              </a:spcBef>
              <a:spcAft>
                <a:spcPts val="0"/>
              </a:spcAft>
              <a:buNone/>
            </a:pPr>
            <a:r>
              <a:t/>
            </a:r>
            <a:endParaRPr b="0" i="0" sz="2200" u="none" cap="none" strike="noStrike">
              <a:solidFill>
                <a:srgbClr val="FFFFFF"/>
              </a:solidFill>
              <a:latin typeface="Montserrat"/>
              <a:ea typeface="Montserrat"/>
              <a:cs typeface="Montserrat"/>
              <a:sym typeface="Montserrat"/>
            </a:endParaRPr>
          </a:p>
        </p:txBody>
      </p:sp>
      <p:sp>
        <p:nvSpPr>
          <p:cNvPr id="209" name="Google Shape;209;p9"/>
          <p:cNvSpPr txBox="1"/>
          <p:nvPr/>
        </p:nvSpPr>
        <p:spPr>
          <a:xfrm>
            <a:off x="7458182" y="5287399"/>
            <a:ext cx="8657040" cy="427799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200" u="none" cap="none" strike="noStrike">
                <a:solidFill>
                  <a:srgbClr val="FFFFFF"/>
                </a:solidFill>
                <a:latin typeface="Montserrat"/>
                <a:ea typeface="Montserrat"/>
                <a:cs typeface="Montserrat"/>
                <a:sym typeface="Montserrat"/>
              </a:rPr>
              <a:t>Contoh Kasus: Pengelompokan Dokumen Akademik</a:t>
            </a:r>
            <a:endParaRPr/>
          </a:p>
          <a:p>
            <a:pPr indent="0" lvl="0" marL="0" marR="0" rtl="0" algn="just">
              <a:lnSpc>
                <a:spcPct val="140000"/>
              </a:lnSpc>
              <a:spcBef>
                <a:spcPts val="0"/>
              </a:spcBef>
              <a:spcAft>
                <a:spcPts val="0"/>
              </a:spcAft>
              <a:buNone/>
            </a:pPr>
            <a:r>
              <a:rPr b="0" i="0" lang="en-US" sz="2200" u="none" cap="none" strike="noStrike">
                <a:solidFill>
                  <a:srgbClr val="FFFFFF"/>
                </a:solidFill>
                <a:latin typeface="Montserrat"/>
                <a:ea typeface="Montserrat"/>
                <a:cs typeface="Montserrat"/>
                <a:sym typeface="Montserrat"/>
              </a:rPr>
              <a:t>Sekumpulan judul dan abstrak skripsi dikelompokkan untuk melihat hubungan topik penelitian. Hasil clustering ditampilkan dalam bentuk dendrogram sehingga dosen dapat melihat topik besar hingga subtopik.</a:t>
            </a:r>
            <a:endParaRPr/>
          </a:p>
          <a:p>
            <a:pPr indent="0" lvl="0" marL="0" marR="0" rtl="0" algn="just">
              <a:lnSpc>
                <a:spcPct val="140000"/>
              </a:lnSpc>
              <a:spcBef>
                <a:spcPts val="0"/>
              </a:spcBef>
              <a:spcAft>
                <a:spcPts val="0"/>
              </a:spcAft>
              <a:buNone/>
            </a:pPr>
            <a:r>
              <a:t/>
            </a:r>
            <a:endParaRPr b="0" i="0" sz="2200" u="none" cap="none" strike="noStrike">
              <a:solidFill>
                <a:srgbClr val="FFFFFF"/>
              </a:solidFill>
              <a:latin typeface="Montserrat"/>
              <a:ea typeface="Montserrat"/>
              <a:cs typeface="Montserrat"/>
              <a:sym typeface="Montserrat"/>
            </a:endParaRPr>
          </a:p>
          <a:p>
            <a:pPr indent="0" lvl="0" marL="0" marR="0" rtl="0" algn="just">
              <a:lnSpc>
                <a:spcPct val="140000"/>
              </a:lnSpc>
              <a:spcBef>
                <a:spcPts val="0"/>
              </a:spcBef>
              <a:spcAft>
                <a:spcPts val="0"/>
              </a:spcAft>
              <a:buNone/>
            </a:pPr>
            <a:r>
              <a:rPr b="0" i="0" lang="en-US" sz="2200" u="none" cap="none" strike="noStrike">
                <a:solidFill>
                  <a:srgbClr val="FFFFFF"/>
                </a:solidFill>
                <a:latin typeface="Montserrat"/>
                <a:ea typeface="Montserrat"/>
                <a:cs typeface="Montserrat"/>
                <a:sym typeface="Montserrat"/>
              </a:rPr>
              <a:t>Alasan Penggunaan:</a:t>
            </a:r>
            <a:endParaRPr/>
          </a:p>
          <a:p>
            <a:pPr indent="-237490" lvl="1" marL="474981" marR="0" rtl="0" algn="just">
              <a:lnSpc>
                <a:spcPct val="14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Tidak perlu menentukan jumlah cluster di awal</a:t>
            </a:r>
            <a:endParaRPr/>
          </a:p>
          <a:p>
            <a:pPr indent="-237490" lvl="1" marL="474981" marR="0" rtl="0" algn="just">
              <a:lnSpc>
                <a:spcPct val="14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Memudahkan analisis hubungan antar kelompok data</a:t>
            </a:r>
            <a:endParaRPr/>
          </a:p>
          <a:p>
            <a:pPr indent="-237490" lvl="1" marL="474981" marR="0" rtl="0" algn="just">
              <a:lnSpc>
                <a:spcPct val="14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Cocok untuk eksplorasi struktur data</a:t>
            </a:r>
            <a:endParaRPr/>
          </a:p>
          <a:p>
            <a:pPr indent="0" lvl="0" marL="0" marR="0" rtl="0" algn="just">
              <a:lnSpc>
                <a:spcPct val="140000"/>
              </a:lnSpc>
              <a:spcBef>
                <a:spcPts val="0"/>
              </a:spcBef>
              <a:spcAft>
                <a:spcPts val="0"/>
              </a:spcAft>
              <a:buNone/>
            </a:pPr>
            <a:r>
              <a:t/>
            </a:r>
            <a:endParaRPr b="0" i="0" sz="2200" u="none" cap="none" strike="noStrike">
              <a:solidFill>
                <a:srgbClr val="FFFFFF"/>
              </a:solidFill>
              <a:latin typeface="Montserrat"/>
              <a:ea typeface="Montserrat"/>
              <a:cs typeface="Montserrat"/>
              <a:sym typeface="Montserrat"/>
            </a:endParaRPr>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215" name="Google Shape;215;p10"/>
          <p:cNvGrpSpPr/>
          <p:nvPr/>
        </p:nvGrpSpPr>
        <p:grpSpPr>
          <a:xfrm>
            <a:off x="4283122" y="-180826"/>
            <a:ext cx="13932415" cy="10467826"/>
            <a:chOff x="0" y="-47625"/>
            <a:chExt cx="3669443" cy="2756958"/>
          </a:xfrm>
        </p:grpSpPr>
        <p:sp>
          <p:nvSpPr>
            <p:cNvPr id="216" name="Google Shape;216;p10"/>
            <p:cNvSpPr/>
            <p:nvPr/>
          </p:nvSpPr>
          <p:spPr>
            <a:xfrm>
              <a:off x="0" y="0"/>
              <a:ext cx="3669443" cy="2709333"/>
            </a:xfrm>
            <a:custGeom>
              <a:rect b="b" l="l" r="r" t="t"/>
              <a:pathLst>
                <a:path extrusionOk="0" h="2709333" w="3669443">
                  <a:moveTo>
                    <a:pt x="0" y="0"/>
                  </a:moveTo>
                  <a:lnTo>
                    <a:pt x="3669443" y="0"/>
                  </a:lnTo>
                  <a:lnTo>
                    <a:pt x="3669443" y="2709333"/>
                  </a:lnTo>
                  <a:lnTo>
                    <a:pt x="0" y="2709333"/>
                  </a:lnTo>
                  <a:close/>
                </a:path>
              </a:pathLst>
            </a:custGeom>
            <a:solidFill>
              <a:srgbClr val="FAFAFF"/>
            </a:solidFill>
            <a:ln>
              <a:noFill/>
            </a:ln>
          </p:spPr>
        </p:sp>
        <p:sp>
          <p:nvSpPr>
            <p:cNvPr id="217" name="Google Shape;217;p10"/>
            <p:cNvSpPr txBox="1"/>
            <p:nvPr/>
          </p:nvSpPr>
          <p:spPr>
            <a:xfrm>
              <a:off x="0" y="-47625"/>
              <a:ext cx="366944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8" name="Google Shape;218;p10"/>
          <p:cNvSpPr/>
          <p:nvPr/>
        </p:nvSpPr>
        <p:spPr>
          <a:xfrm>
            <a:off x="14285487" y="9258300"/>
            <a:ext cx="5947625" cy="2076262"/>
          </a:xfrm>
          <a:custGeom>
            <a:rect b="b" l="l" r="r" t="t"/>
            <a:pathLst>
              <a:path extrusionOk="0" h="2076262" w="5947625">
                <a:moveTo>
                  <a:pt x="0" y="0"/>
                </a:moveTo>
                <a:lnTo>
                  <a:pt x="5947626" y="0"/>
                </a:lnTo>
                <a:lnTo>
                  <a:pt x="5947626" y="2076262"/>
                </a:lnTo>
                <a:lnTo>
                  <a:pt x="0" y="2076262"/>
                </a:lnTo>
                <a:lnTo>
                  <a:pt x="0" y="0"/>
                </a:lnTo>
                <a:close/>
              </a:path>
            </a:pathLst>
          </a:custGeom>
          <a:blipFill rotWithShape="1">
            <a:blip r:embed="rId4">
              <a:alphaModFix/>
            </a:blip>
            <a:stretch>
              <a:fillRect b="0" l="0" r="0" t="0"/>
            </a:stretch>
          </a:blipFill>
          <a:ln>
            <a:noFill/>
          </a:ln>
        </p:spPr>
      </p:sp>
      <p:sp>
        <p:nvSpPr>
          <p:cNvPr id="219" name="Google Shape;219;p10"/>
          <p:cNvSpPr txBox="1"/>
          <p:nvPr/>
        </p:nvSpPr>
        <p:spPr>
          <a:xfrm>
            <a:off x="4108764" y="808898"/>
            <a:ext cx="11562567" cy="1064259"/>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100" u="none" cap="none" strike="noStrike">
                <a:solidFill>
                  <a:srgbClr val="2F3B69"/>
                </a:solidFill>
                <a:latin typeface="Montserrat"/>
                <a:ea typeface="Montserrat"/>
                <a:cs typeface="Montserrat"/>
                <a:sym typeface="Montserrat"/>
              </a:rPr>
              <a:t>DBSCAN (DENSITY-BASED SPATIAL CLUSTERING OF APPLICATIONS WITH NOISE)</a:t>
            </a:r>
            <a:endParaRPr/>
          </a:p>
        </p:txBody>
      </p:sp>
      <p:sp>
        <p:nvSpPr>
          <p:cNvPr id="220" name="Google Shape;220;p10"/>
          <p:cNvSpPr/>
          <p:nvPr/>
        </p:nvSpPr>
        <p:spPr>
          <a:xfrm>
            <a:off x="-2223542" y="-1199095"/>
            <a:ext cx="6784865" cy="4130287"/>
          </a:xfrm>
          <a:custGeom>
            <a:rect b="b" l="l" r="r" t="t"/>
            <a:pathLst>
              <a:path extrusionOk="0" h="4130287" w="6784865">
                <a:moveTo>
                  <a:pt x="0" y="0"/>
                </a:moveTo>
                <a:lnTo>
                  <a:pt x="6784865" y="0"/>
                </a:lnTo>
                <a:lnTo>
                  <a:pt x="6784865" y="4130286"/>
                </a:lnTo>
                <a:lnTo>
                  <a:pt x="0" y="4130286"/>
                </a:lnTo>
                <a:lnTo>
                  <a:pt x="0" y="0"/>
                </a:lnTo>
                <a:close/>
              </a:path>
            </a:pathLst>
          </a:custGeom>
          <a:blipFill rotWithShape="1">
            <a:blip r:embed="rId5">
              <a:alphaModFix/>
            </a:blip>
            <a:stretch>
              <a:fillRect b="0" l="0" r="0" t="0"/>
            </a:stretch>
          </a:blipFill>
          <a:ln>
            <a:noFill/>
          </a:ln>
        </p:spPr>
      </p:sp>
      <p:grpSp>
        <p:nvGrpSpPr>
          <p:cNvPr id="221" name="Google Shape;221;p10"/>
          <p:cNvGrpSpPr/>
          <p:nvPr/>
        </p:nvGrpSpPr>
        <p:grpSpPr>
          <a:xfrm>
            <a:off x="17259300" y="-704151"/>
            <a:ext cx="1028700" cy="4031759"/>
            <a:chOff x="0" y="-47625"/>
            <a:chExt cx="270933" cy="1061862"/>
          </a:xfrm>
        </p:grpSpPr>
        <p:sp>
          <p:nvSpPr>
            <p:cNvPr id="222" name="Google Shape;222;p10"/>
            <p:cNvSpPr/>
            <p:nvPr/>
          </p:nvSpPr>
          <p:spPr>
            <a:xfrm>
              <a:off x="0" y="0"/>
              <a:ext cx="270933" cy="1014237"/>
            </a:xfrm>
            <a:custGeom>
              <a:rect b="b" l="l" r="r" t="t"/>
              <a:pathLst>
                <a:path extrusionOk="0" h="1014237" w="270933">
                  <a:moveTo>
                    <a:pt x="0" y="0"/>
                  </a:moveTo>
                  <a:lnTo>
                    <a:pt x="270933" y="0"/>
                  </a:lnTo>
                  <a:lnTo>
                    <a:pt x="270933" y="1014237"/>
                  </a:lnTo>
                  <a:lnTo>
                    <a:pt x="0" y="1014237"/>
                  </a:lnTo>
                  <a:close/>
                </a:path>
              </a:pathLst>
            </a:custGeom>
            <a:solidFill>
              <a:srgbClr val="3E829A"/>
            </a:solidFill>
            <a:ln>
              <a:noFill/>
            </a:ln>
          </p:spPr>
        </p:sp>
        <p:sp>
          <p:nvSpPr>
            <p:cNvPr id="223" name="Google Shape;223;p10"/>
            <p:cNvSpPr txBox="1"/>
            <p:nvPr/>
          </p:nvSpPr>
          <p:spPr>
            <a:xfrm>
              <a:off x="0" y="-47625"/>
              <a:ext cx="270933" cy="1061862"/>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4" name="Google Shape;224;p10"/>
          <p:cNvGrpSpPr/>
          <p:nvPr/>
        </p:nvGrpSpPr>
        <p:grpSpPr>
          <a:xfrm>
            <a:off x="0" y="9601384"/>
            <a:ext cx="5157214" cy="685616"/>
            <a:chOff x="0" y="-47625"/>
            <a:chExt cx="1358279" cy="180574"/>
          </a:xfrm>
        </p:grpSpPr>
        <p:sp>
          <p:nvSpPr>
            <p:cNvPr id="225" name="Google Shape;225;p10"/>
            <p:cNvSpPr/>
            <p:nvPr/>
          </p:nvSpPr>
          <p:spPr>
            <a:xfrm>
              <a:off x="0" y="0"/>
              <a:ext cx="1358279" cy="132949"/>
            </a:xfrm>
            <a:custGeom>
              <a:rect b="b" l="l" r="r" t="t"/>
              <a:pathLst>
                <a:path extrusionOk="0" h="132949" w="1358279">
                  <a:moveTo>
                    <a:pt x="0" y="0"/>
                  </a:moveTo>
                  <a:lnTo>
                    <a:pt x="1358279" y="0"/>
                  </a:lnTo>
                  <a:lnTo>
                    <a:pt x="1358279" y="132949"/>
                  </a:lnTo>
                  <a:lnTo>
                    <a:pt x="0" y="132949"/>
                  </a:lnTo>
                  <a:close/>
                </a:path>
              </a:pathLst>
            </a:custGeom>
            <a:solidFill>
              <a:srgbClr val="3E829A"/>
            </a:solidFill>
            <a:ln>
              <a:noFill/>
            </a:ln>
          </p:spPr>
        </p:sp>
        <p:sp>
          <p:nvSpPr>
            <p:cNvPr id="226" name="Google Shape;226;p10"/>
            <p:cNvSpPr txBox="1"/>
            <p:nvPr/>
          </p:nvSpPr>
          <p:spPr>
            <a:xfrm>
              <a:off x="0" y="-47625"/>
              <a:ext cx="1358279" cy="180574"/>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7" name="Google Shape;227;p10"/>
          <p:cNvGrpSpPr/>
          <p:nvPr/>
        </p:nvGrpSpPr>
        <p:grpSpPr>
          <a:xfrm>
            <a:off x="6934505" y="1876204"/>
            <a:ext cx="9704395" cy="7236919"/>
            <a:chOff x="0" y="-47625"/>
            <a:chExt cx="2555890" cy="1906020"/>
          </a:xfrm>
        </p:grpSpPr>
        <p:sp>
          <p:nvSpPr>
            <p:cNvPr id="228" name="Google Shape;228;p10"/>
            <p:cNvSpPr/>
            <p:nvPr/>
          </p:nvSpPr>
          <p:spPr>
            <a:xfrm>
              <a:off x="0" y="0"/>
              <a:ext cx="2555890" cy="1858395"/>
            </a:xfrm>
            <a:custGeom>
              <a:rect b="b" l="l" r="r" t="t"/>
              <a:pathLst>
                <a:path extrusionOk="0" h="1858395" w="2555890">
                  <a:moveTo>
                    <a:pt x="40687" y="0"/>
                  </a:moveTo>
                  <a:lnTo>
                    <a:pt x="2515204" y="0"/>
                  </a:lnTo>
                  <a:cubicBezTo>
                    <a:pt x="2525994" y="0"/>
                    <a:pt x="2536343" y="4287"/>
                    <a:pt x="2543973" y="11917"/>
                  </a:cubicBezTo>
                  <a:cubicBezTo>
                    <a:pt x="2551604" y="19547"/>
                    <a:pt x="2555890" y="29896"/>
                    <a:pt x="2555890" y="40687"/>
                  </a:cubicBezTo>
                  <a:lnTo>
                    <a:pt x="2555890" y="1817708"/>
                  </a:lnTo>
                  <a:cubicBezTo>
                    <a:pt x="2555890" y="1840179"/>
                    <a:pt x="2537674" y="1858395"/>
                    <a:pt x="2515204" y="1858395"/>
                  </a:cubicBezTo>
                  <a:lnTo>
                    <a:pt x="40687" y="1858395"/>
                  </a:lnTo>
                  <a:cubicBezTo>
                    <a:pt x="18216" y="1858395"/>
                    <a:pt x="0" y="1840179"/>
                    <a:pt x="0" y="1817708"/>
                  </a:cubicBezTo>
                  <a:lnTo>
                    <a:pt x="0" y="40687"/>
                  </a:lnTo>
                  <a:cubicBezTo>
                    <a:pt x="0" y="18216"/>
                    <a:pt x="18216" y="0"/>
                    <a:pt x="40687" y="0"/>
                  </a:cubicBezTo>
                  <a:close/>
                </a:path>
              </a:pathLst>
            </a:custGeom>
            <a:solidFill>
              <a:srgbClr val="0836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
            <p:cNvSpPr txBox="1"/>
            <p:nvPr/>
          </p:nvSpPr>
          <p:spPr>
            <a:xfrm>
              <a:off x="0" y="-47625"/>
              <a:ext cx="2555890" cy="1906020"/>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230" name="Google Shape;230;p10"/>
          <p:cNvPicPr preferRelativeResize="0"/>
          <p:nvPr/>
        </p:nvPicPr>
        <p:blipFill rotWithShape="1">
          <a:blip r:embed="rId6">
            <a:alphaModFix/>
          </a:blip>
          <a:srcRect b="0" l="0" r="0" t="0"/>
          <a:stretch/>
        </p:blipFill>
        <p:spPr>
          <a:xfrm>
            <a:off x="-871444" y="2678797"/>
            <a:ext cx="7805949" cy="7103414"/>
          </a:xfrm>
          <a:prstGeom prst="rect">
            <a:avLst/>
          </a:prstGeom>
          <a:noFill/>
          <a:ln>
            <a:noFill/>
          </a:ln>
        </p:spPr>
      </p:pic>
      <p:sp>
        <p:nvSpPr>
          <p:cNvPr id="231" name="Google Shape;231;p10"/>
          <p:cNvSpPr txBox="1"/>
          <p:nvPr/>
        </p:nvSpPr>
        <p:spPr>
          <a:xfrm>
            <a:off x="7466849" y="2272238"/>
            <a:ext cx="8657040" cy="2325370"/>
          </a:xfrm>
          <a:prstGeom prst="rect">
            <a:avLst/>
          </a:prstGeom>
          <a:noFill/>
          <a:ln>
            <a:noFill/>
          </a:ln>
        </p:spPr>
        <p:txBody>
          <a:bodyPr anchorCtr="0" anchor="t" bIns="0" lIns="0" spcFirstLastPara="1" rIns="0" wrap="square" tIns="0">
            <a:spAutoFit/>
          </a:bodyPr>
          <a:lstStyle/>
          <a:p>
            <a:pPr indent="-237490" lvl="1" marL="474981" marR="0" rtl="0" algn="just">
              <a:lnSpc>
                <a:spcPct val="14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Algoritma clustering berbasis kepadatan (density-based).</a:t>
            </a:r>
            <a:endParaRPr/>
          </a:p>
          <a:p>
            <a:pPr indent="-237490" lvl="1" marL="474981" marR="0" rtl="0" algn="just">
              <a:lnSpc>
                <a:spcPct val="14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Mengelompokkan data berdasarkan kepadatan titik.</a:t>
            </a:r>
            <a:endParaRPr/>
          </a:p>
          <a:p>
            <a:pPr indent="-237490" lvl="1" marL="474981" marR="0" rtl="0" algn="just">
              <a:lnSpc>
                <a:spcPct val="14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Mampu mendeteksi noise atau data pencilan.</a:t>
            </a:r>
            <a:endParaRPr/>
          </a:p>
          <a:p>
            <a:pPr indent="-237490" lvl="1" marL="474981" marR="0" rtl="0" algn="just">
              <a:lnSpc>
                <a:spcPct val="14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Cocok untuk data dengan bentuk cluster yang tidak beraturan.</a:t>
            </a:r>
            <a:endParaRPr/>
          </a:p>
          <a:p>
            <a:pPr indent="0" lvl="0" marL="0" marR="0" rtl="0" algn="just">
              <a:lnSpc>
                <a:spcPct val="140000"/>
              </a:lnSpc>
              <a:spcBef>
                <a:spcPts val="0"/>
              </a:spcBef>
              <a:spcAft>
                <a:spcPts val="0"/>
              </a:spcAft>
              <a:buNone/>
            </a:pPr>
            <a:r>
              <a:t/>
            </a:r>
            <a:endParaRPr b="0" i="0" sz="2200" u="none" cap="none" strike="noStrike">
              <a:solidFill>
                <a:srgbClr val="FFFFFF"/>
              </a:solidFill>
              <a:latin typeface="Montserrat"/>
              <a:ea typeface="Montserrat"/>
              <a:cs typeface="Montserrat"/>
              <a:sym typeface="Montserrat"/>
            </a:endParaRPr>
          </a:p>
        </p:txBody>
      </p:sp>
      <p:sp>
        <p:nvSpPr>
          <p:cNvPr id="232" name="Google Shape;232;p10"/>
          <p:cNvSpPr txBox="1"/>
          <p:nvPr/>
        </p:nvSpPr>
        <p:spPr>
          <a:xfrm>
            <a:off x="7458182" y="4539311"/>
            <a:ext cx="8657040" cy="466852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200" u="none" cap="none" strike="noStrike">
                <a:solidFill>
                  <a:srgbClr val="FFFFFF"/>
                </a:solidFill>
                <a:latin typeface="Montserrat"/>
                <a:ea typeface="Montserrat"/>
                <a:cs typeface="Montserrat"/>
                <a:sym typeface="Montserrat"/>
              </a:rPr>
              <a:t>Contoh Kasus: Analisis Lokasi Kejahatan di Kota</a:t>
            </a:r>
            <a:endParaRPr/>
          </a:p>
          <a:p>
            <a:pPr indent="0" lvl="0" marL="0" marR="0" rtl="0" algn="just">
              <a:lnSpc>
                <a:spcPct val="140000"/>
              </a:lnSpc>
              <a:spcBef>
                <a:spcPts val="0"/>
              </a:spcBef>
              <a:spcAft>
                <a:spcPts val="0"/>
              </a:spcAft>
              <a:buNone/>
            </a:pPr>
            <a:r>
              <a:rPr b="0" i="0" lang="en-US" sz="2200" u="none" cap="none" strike="noStrike">
                <a:solidFill>
                  <a:srgbClr val="FFFFFF"/>
                </a:solidFill>
                <a:latin typeface="Montserrat"/>
                <a:ea typeface="Montserrat"/>
                <a:cs typeface="Montserrat"/>
                <a:sym typeface="Montserrat"/>
              </a:rPr>
              <a:t>Data lokasi kejadian kriminal digunakan untuk mengidentifikasi area rawan kejahatan. DBSCAN mampu membentuk cluster wilayah padat kejadian sekaligus mengabaikan kejadian yang bersifat pencilan (noise).</a:t>
            </a:r>
            <a:endParaRPr/>
          </a:p>
          <a:p>
            <a:pPr indent="0" lvl="0" marL="0" marR="0" rtl="0" algn="just">
              <a:lnSpc>
                <a:spcPct val="140000"/>
              </a:lnSpc>
              <a:spcBef>
                <a:spcPts val="0"/>
              </a:spcBef>
              <a:spcAft>
                <a:spcPts val="0"/>
              </a:spcAft>
              <a:buNone/>
            </a:pPr>
            <a:r>
              <a:t/>
            </a:r>
            <a:endParaRPr b="0" i="0" sz="2200" u="none" cap="none" strike="noStrike">
              <a:solidFill>
                <a:srgbClr val="FFFFFF"/>
              </a:solidFill>
              <a:latin typeface="Montserrat"/>
              <a:ea typeface="Montserrat"/>
              <a:cs typeface="Montserrat"/>
              <a:sym typeface="Montserrat"/>
            </a:endParaRPr>
          </a:p>
          <a:p>
            <a:pPr indent="0" lvl="0" marL="0" marR="0" rtl="0" algn="just">
              <a:lnSpc>
                <a:spcPct val="140000"/>
              </a:lnSpc>
              <a:spcBef>
                <a:spcPts val="0"/>
              </a:spcBef>
              <a:spcAft>
                <a:spcPts val="0"/>
              </a:spcAft>
              <a:buNone/>
            </a:pPr>
            <a:r>
              <a:rPr b="0" i="0" lang="en-US" sz="2200" u="none" cap="none" strike="noStrike">
                <a:solidFill>
                  <a:srgbClr val="FFFFFF"/>
                </a:solidFill>
                <a:latin typeface="Montserrat"/>
                <a:ea typeface="Montserrat"/>
                <a:cs typeface="Montserrat"/>
                <a:sym typeface="Montserrat"/>
              </a:rPr>
              <a:t>Alasan Penggunaan:</a:t>
            </a:r>
            <a:endParaRPr/>
          </a:p>
          <a:p>
            <a:pPr indent="-237490" lvl="1" marL="474981" marR="0" rtl="0" algn="just">
              <a:lnSpc>
                <a:spcPct val="14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Bentuk cluster tidak beraturan</a:t>
            </a:r>
            <a:endParaRPr/>
          </a:p>
          <a:p>
            <a:pPr indent="-237490" lvl="1" marL="474981" marR="0" rtl="0" algn="just">
              <a:lnSpc>
                <a:spcPct val="14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Terdapat data pencilan</a:t>
            </a:r>
            <a:endParaRPr/>
          </a:p>
          <a:p>
            <a:pPr indent="-237490" lvl="1" marL="474981" marR="0" rtl="0" algn="just">
              <a:lnSpc>
                <a:spcPct val="14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Berbasis kepadatan wilayah</a:t>
            </a:r>
            <a:endParaRPr/>
          </a:p>
          <a:p>
            <a:pPr indent="0" lvl="0" marL="0" marR="0" rtl="0" algn="just">
              <a:lnSpc>
                <a:spcPct val="140000"/>
              </a:lnSpc>
              <a:spcBef>
                <a:spcPts val="0"/>
              </a:spcBef>
              <a:spcAft>
                <a:spcPts val="0"/>
              </a:spcAft>
              <a:buNone/>
            </a:pPr>
            <a:r>
              <a:t/>
            </a:r>
            <a:endParaRPr b="0" i="0" sz="2200" u="none" cap="none" strike="noStrike">
              <a:solidFill>
                <a:srgbClr val="FFFFFF"/>
              </a:solidFill>
              <a:latin typeface="Montserrat"/>
              <a:ea typeface="Montserrat"/>
              <a:cs typeface="Montserrat"/>
              <a:sym typeface="Montserrat"/>
            </a:endParaRPr>
          </a:p>
          <a:p>
            <a:pPr indent="0" lvl="0" marL="0" marR="0" rtl="0" algn="just">
              <a:lnSpc>
                <a:spcPct val="140000"/>
              </a:lnSpc>
              <a:spcBef>
                <a:spcPts val="0"/>
              </a:spcBef>
              <a:spcAft>
                <a:spcPts val="0"/>
              </a:spcAft>
              <a:buNone/>
            </a:pPr>
            <a:r>
              <a:t/>
            </a:r>
            <a:endParaRPr b="0" i="0" sz="2200" u="none" cap="none" strike="noStrike">
              <a:solidFill>
                <a:srgbClr val="FFFFFF"/>
              </a:solidFill>
              <a:latin typeface="Montserrat"/>
              <a:ea typeface="Montserrat"/>
              <a:cs typeface="Montserrat"/>
              <a:sym typeface="Montserrat"/>
            </a:endParaRPr>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sp>
        <p:nvSpPr>
          <p:cNvPr id="238" name="Google Shape;238;p11"/>
          <p:cNvSpPr/>
          <p:nvPr/>
        </p:nvSpPr>
        <p:spPr>
          <a:xfrm>
            <a:off x="-2815285" y="-1634682"/>
            <a:ext cx="8151606" cy="4962290"/>
          </a:xfrm>
          <a:custGeom>
            <a:rect b="b" l="l" r="r" t="t"/>
            <a:pathLst>
              <a:path extrusionOk="0" h="4962290" w="8151606">
                <a:moveTo>
                  <a:pt x="0" y="0"/>
                </a:moveTo>
                <a:lnTo>
                  <a:pt x="8151606" y="0"/>
                </a:lnTo>
                <a:lnTo>
                  <a:pt x="8151606" y="4962290"/>
                </a:lnTo>
                <a:lnTo>
                  <a:pt x="0" y="4962290"/>
                </a:lnTo>
                <a:lnTo>
                  <a:pt x="0" y="0"/>
                </a:lnTo>
                <a:close/>
              </a:path>
            </a:pathLst>
          </a:custGeom>
          <a:blipFill rotWithShape="1">
            <a:blip r:embed="rId4">
              <a:alphaModFix/>
            </a:blip>
            <a:stretch>
              <a:fillRect b="0" l="0" r="0" t="0"/>
            </a:stretch>
          </a:blipFill>
          <a:ln>
            <a:noFill/>
          </a:ln>
        </p:spPr>
      </p:sp>
      <p:grpSp>
        <p:nvGrpSpPr>
          <p:cNvPr id="239" name="Google Shape;239;p11"/>
          <p:cNvGrpSpPr/>
          <p:nvPr/>
        </p:nvGrpSpPr>
        <p:grpSpPr>
          <a:xfrm>
            <a:off x="12585917" y="-180826"/>
            <a:ext cx="5629620" cy="10467826"/>
            <a:chOff x="0" y="-47625"/>
            <a:chExt cx="1482698" cy="2756958"/>
          </a:xfrm>
        </p:grpSpPr>
        <p:sp>
          <p:nvSpPr>
            <p:cNvPr id="240" name="Google Shape;240;p11"/>
            <p:cNvSpPr/>
            <p:nvPr/>
          </p:nvSpPr>
          <p:spPr>
            <a:xfrm>
              <a:off x="0" y="0"/>
              <a:ext cx="1482698" cy="2709333"/>
            </a:xfrm>
            <a:custGeom>
              <a:rect b="b" l="l" r="r" t="t"/>
              <a:pathLst>
                <a:path extrusionOk="0" h="2709333" w="1482698">
                  <a:moveTo>
                    <a:pt x="0" y="0"/>
                  </a:moveTo>
                  <a:lnTo>
                    <a:pt x="1482698" y="0"/>
                  </a:lnTo>
                  <a:lnTo>
                    <a:pt x="1482698" y="2709333"/>
                  </a:lnTo>
                  <a:lnTo>
                    <a:pt x="0" y="2709333"/>
                  </a:lnTo>
                  <a:close/>
                </a:path>
              </a:pathLst>
            </a:custGeom>
            <a:solidFill>
              <a:srgbClr val="FAFAFF"/>
            </a:solidFill>
            <a:ln>
              <a:noFill/>
            </a:ln>
          </p:spPr>
        </p:sp>
        <p:sp>
          <p:nvSpPr>
            <p:cNvPr id="241" name="Google Shape;241;p11"/>
            <p:cNvSpPr txBox="1"/>
            <p:nvPr/>
          </p:nvSpPr>
          <p:spPr>
            <a:xfrm>
              <a:off x="0" y="-47625"/>
              <a:ext cx="148269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2" name="Google Shape;242;p11"/>
          <p:cNvSpPr/>
          <p:nvPr/>
        </p:nvSpPr>
        <p:spPr>
          <a:xfrm>
            <a:off x="14026831" y="8668637"/>
            <a:ext cx="5947625" cy="2076262"/>
          </a:xfrm>
          <a:custGeom>
            <a:rect b="b" l="l" r="r" t="t"/>
            <a:pathLst>
              <a:path extrusionOk="0" h="2076262" w="5947625">
                <a:moveTo>
                  <a:pt x="0" y="0"/>
                </a:moveTo>
                <a:lnTo>
                  <a:pt x="5947625" y="0"/>
                </a:lnTo>
                <a:lnTo>
                  <a:pt x="5947625" y="2076262"/>
                </a:lnTo>
                <a:lnTo>
                  <a:pt x="0" y="2076262"/>
                </a:lnTo>
                <a:lnTo>
                  <a:pt x="0" y="0"/>
                </a:lnTo>
                <a:close/>
              </a:path>
            </a:pathLst>
          </a:custGeom>
          <a:blipFill rotWithShape="1">
            <a:blip r:embed="rId5">
              <a:alphaModFix/>
            </a:blip>
            <a:stretch>
              <a:fillRect b="0" l="0" r="0" t="0"/>
            </a:stretch>
          </a:blipFill>
          <a:ln>
            <a:noFill/>
          </a:ln>
        </p:spPr>
      </p:sp>
      <p:grpSp>
        <p:nvGrpSpPr>
          <p:cNvPr id="243" name="Google Shape;243;p11"/>
          <p:cNvGrpSpPr/>
          <p:nvPr/>
        </p:nvGrpSpPr>
        <p:grpSpPr>
          <a:xfrm>
            <a:off x="17259300" y="-704151"/>
            <a:ext cx="1028700" cy="4031759"/>
            <a:chOff x="0" y="-47625"/>
            <a:chExt cx="270933" cy="1061862"/>
          </a:xfrm>
        </p:grpSpPr>
        <p:sp>
          <p:nvSpPr>
            <p:cNvPr id="244" name="Google Shape;244;p11"/>
            <p:cNvSpPr/>
            <p:nvPr/>
          </p:nvSpPr>
          <p:spPr>
            <a:xfrm>
              <a:off x="0" y="0"/>
              <a:ext cx="270933" cy="1014237"/>
            </a:xfrm>
            <a:custGeom>
              <a:rect b="b" l="l" r="r" t="t"/>
              <a:pathLst>
                <a:path extrusionOk="0" h="1014237" w="270933">
                  <a:moveTo>
                    <a:pt x="0" y="0"/>
                  </a:moveTo>
                  <a:lnTo>
                    <a:pt x="270933" y="0"/>
                  </a:lnTo>
                  <a:lnTo>
                    <a:pt x="270933" y="1014237"/>
                  </a:lnTo>
                  <a:lnTo>
                    <a:pt x="0" y="1014237"/>
                  </a:lnTo>
                  <a:close/>
                </a:path>
              </a:pathLst>
            </a:custGeom>
            <a:solidFill>
              <a:srgbClr val="3E829A"/>
            </a:solidFill>
            <a:ln>
              <a:noFill/>
            </a:ln>
          </p:spPr>
        </p:sp>
        <p:sp>
          <p:nvSpPr>
            <p:cNvPr id="245" name="Google Shape;245;p11"/>
            <p:cNvSpPr txBox="1"/>
            <p:nvPr/>
          </p:nvSpPr>
          <p:spPr>
            <a:xfrm>
              <a:off x="0" y="-47625"/>
              <a:ext cx="270933" cy="1061862"/>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6" name="Google Shape;246;p11"/>
          <p:cNvGrpSpPr/>
          <p:nvPr/>
        </p:nvGrpSpPr>
        <p:grpSpPr>
          <a:xfrm>
            <a:off x="0" y="9601384"/>
            <a:ext cx="4585172" cy="685616"/>
            <a:chOff x="0" y="-47625"/>
            <a:chExt cx="1207617" cy="180574"/>
          </a:xfrm>
        </p:grpSpPr>
        <p:sp>
          <p:nvSpPr>
            <p:cNvPr id="247" name="Google Shape;247;p11"/>
            <p:cNvSpPr/>
            <p:nvPr/>
          </p:nvSpPr>
          <p:spPr>
            <a:xfrm>
              <a:off x="0" y="0"/>
              <a:ext cx="1207617" cy="132949"/>
            </a:xfrm>
            <a:custGeom>
              <a:rect b="b" l="l" r="r" t="t"/>
              <a:pathLst>
                <a:path extrusionOk="0" h="132949" w="1207617">
                  <a:moveTo>
                    <a:pt x="0" y="0"/>
                  </a:moveTo>
                  <a:lnTo>
                    <a:pt x="1207617" y="0"/>
                  </a:lnTo>
                  <a:lnTo>
                    <a:pt x="1207617" y="132949"/>
                  </a:lnTo>
                  <a:lnTo>
                    <a:pt x="0" y="132949"/>
                  </a:lnTo>
                  <a:close/>
                </a:path>
              </a:pathLst>
            </a:custGeom>
            <a:solidFill>
              <a:srgbClr val="3E829A"/>
            </a:solidFill>
            <a:ln>
              <a:noFill/>
            </a:ln>
          </p:spPr>
        </p:sp>
        <p:sp>
          <p:nvSpPr>
            <p:cNvPr id="248" name="Google Shape;248;p11"/>
            <p:cNvSpPr txBox="1"/>
            <p:nvPr/>
          </p:nvSpPr>
          <p:spPr>
            <a:xfrm>
              <a:off x="0" y="-47625"/>
              <a:ext cx="1207617" cy="180574"/>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9" name="Google Shape;249;p11"/>
          <p:cNvSpPr/>
          <p:nvPr/>
        </p:nvSpPr>
        <p:spPr>
          <a:xfrm>
            <a:off x="4585172" y="431411"/>
            <a:ext cx="12254238" cy="9405128"/>
          </a:xfrm>
          <a:custGeom>
            <a:rect b="b" l="l" r="r" t="t"/>
            <a:pathLst>
              <a:path extrusionOk="0" h="9405128" w="12254238">
                <a:moveTo>
                  <a:pt x="0" y="0"/>
                </a:moveTo>
                <a:lnTo>
                  <a:pt x="12254238" y="0"/>
                </a:lnTo>
                <a:lnTo>
                  <a:pt x="12254238" y="9405128"/>
                </a:lnTo>
                <a:lnTo>
                  <a:pt x="0" y="9405128"/>
                </a:lnTo>
                <a:lnTo>
                  <a:pt x="0" y="0"/>
                </a:lnTo>
                <a:close/>
              </a:path>
            </a:pathLst>
          </a:custGeom>
          <a:blipFill rotWithShape="1">
            <a:blip r:embed="rId6">
              <a:alphaModFix/>
            </a:blip>
            <a:stretch>
              <a:fillRect b="0" l="0" r="0" t="0"/>
            </a:stretch>
          </a:blipFill>
          <a:ln>
            <a:noFill/>
          </a:ln>
        </p:spPr>
      </p:sp>
      <p:pic>
        <p:nvPicPr>
          <p:cNvPr id="250" name="Google Shape;250;p11"/>
          <p:cNvPicPr preferRelativeResize="0"/>
          <p:nvPr/>
        </p:nvPicPr>
        <p:blipFill rotWithShape="1">
          <a:blip r:embed="rId7">
            <a:alphaModFix/>
          </a:blip>
          <a:srcRect b="0" l="0" r="0" t="0"/>
          <a:stretch/>
        </p:blipFill>
        <p:spPr>
          <a:xfrm>
            <a:off x="146619" y="2856383"/>
            <a:ext cx="4871351" cy="6673084"/>
          </a:xfrm>
          <a:prstGeom prst="rect">
            <a:avLst/>
          </a:prstGeom>
          <a:noFill/>
          <a:ln>
            <a:noFill/>
          </a:ln>
        </p:spPr>
      </p:pic>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sp>
        <p:nvSpPr>
          <p:cNvPr id="256" name="Google Shape;256;p12"/>
          <p:cNvSpPr/>
          <p:nvPr/>
        </p:nvSpPr>
        <p:spPr>
          <a:xfrm>
            <a:off x="-2815285" y="-1634682"/>
            <a:ext cx="8151606" cy="4962290"/>
          </a:xfrm>
          <a:custGeom>
            <a:rect b="b" l="l" r="r" t="t"/>
            <a:pathLst>
              <a:path extrusionOk="0" h="4962290" w="8151606">
                <a:moveTo>
                  <a:pt x="0" y="0"/>
                </a:moveTo>
                <a:lnTo>
                  <a:pt x="8151606" y="0"/>
                </a:lnTo>
                <a:lnTo>
                  <a:pt x="8151606" y="4962290"/>
                </a:lnTo>
                <a:lnTo>
                  <a:pt x="0" y="4962290"/>
                </a:lnTo>
                <a:lnTo>
                  <a:pt x="0" y="0"/>
                </a:lnTo>
                <a:close/>
              </a:path>
            </a:pathLst>
          </a:custGeom>
          <a:blipFill rotWithShape="1">
            <a:blip r:embed="rId4">
              <a:alphaModFix/>
            </a:blip>
            <a:stretch>
              <a:fillRect b="0" l="0" r="0" t="0"/>
            </a:stretch>
          </a:blipFill>
          <a:ln>
            <a:noFill/>
          </a:ln>
        </p:spPr>
      </p:sp>
      <p:grpSp>
        <p:nvGrpSpPr>
          <p:cNvPr id="257" name="Google Shape;257;p12"/>
          <p:cNvGrpSpPr/>
          <p:nvPr/>
        </p:nvGrpSpPr>
        <p:grpSpPr>
          <a:xfrm>
            <a:off x="12585917" y="-180826"/>
            <a:ext cx="5629620" cy="10467826"/>
            <a:chOff x="0" y="-47625"/>
            <a:chExt cx="1482698" cy="2756958"/>
          </a:xfrm>
        </p:grpSpPr>
        <p:sp>
          <p:nvSpPr>
            <p:cNvPr id="258" name="Google Shape;258;p12"/>
            <p:cNvSpPr/>
            <p:nvPr/>
          </p:nvSpPr>
          <p:spPr>
            <a:xfrm>
              <a:off x="0" y="0"/>
              <a:ext cx="1482698" cy="2709333"/>
            </a:xfrm>
            <a:custGeom>
              <a:rect b="b" l="l" r="r" t="t"/>
              <a:pathLst>
                <a:path extrusionOk="0" h="2709333" w="1482698">
                  <a:moveTo>
                    <a:pt x="0" y="0"/>
                  </a:moveTo>
                  <a:lnTo>
                    <a:pt x="1482698" y="0"/>
                  </a:lnTo>
                  <a:lnTo>
                    <a:pt x="1482698" y="2709333"/>
                  </a:lnTo>
                  <a:lnTo>
                    <a:pt x="0" y="2709333"/>
                  </a:lnTo>
                  <a:close/>
                </a:path>
              </a:pathLst>
            </a:custGeom>
            <a:solidFill>
              <a:srgbClr val="FAFAFF"/>
            </a:solidFill>
            <a:ln>
              <a:noFill/>
            </a:ln>
          </p:spPr>
        </p:sp>
        <p:sp>
          <p:nvSpPr>
            <p:cNvPr id="259" name="Google Shape;259;p12"/>
            <p:cNvSpPr txBox="1"/>
            <p:nvPr/>
          </p:nvSpPr>
          <p:spPr>
            <a:xfrm>
              <a:off x="0" y="-47625"/>
              <a:ext cx="148269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0" name="Google Shape;260;p12"/>
          <p:cNvSpPr/>
          <p:nvPr/>
        </p:nvSpPr>
        <p:spPr>
          <a:xfrm>
            <a:off x="14026831" y="8668637"/>
            <a:ext cx="5947625" cy="2076262"/>
          </a:xfrm>
          <a:custGeom>
            <a:rect b="b" l="l" r="r" t="t"/>
            <a:pathLst>
              <a:path extrusionOk="0" h="2076262" w="5947625">
                <a:moveTo>
                  <a:pt x="0" y="0"/>
                </a:moveTo>
                <a:lnTo>
                  <a:pt x="5947625" y="0"/>
                </a:lnTo>
                <a:lnTo>
                  <a:pt x="5947625" y="2076262"/>
                </a:lnTo>
                <a:lnTo>
                  <a:pt x="0" y="2076262"/>
                </a:lnTo>
                <a:lnTo>
                  <a:pt x="0" y="0"/>
                </a:lnTo>
                <a:close/>
              </a:path>
            </a:pathLst>
          </a:custGeom>
          <a:blipFill rotWithShape="1">
            <a:blip r:embed="rId5">
              <a:alphaModFix/>
            </a:blip>
            <a:stretch>
              <a:fillRect b="0" l="0" r="0" t="0"/>
            </a:stretch>
          </a:blipFill>
          <a:ln>
            <a:noFill/>
          </a:ln>
        </p:spPr>
      </p:sp>
      <p:grpSp>
        <p:nvGrpSpPr>
          <p:cNvPr id="261" name="Google Shape;261;p12"/>
          <p:cNvGrpSpPr/>
          <p:nvPr/>
        </p:nvGrpSpPr>
        <p:grpSpPr>
          <a:xfrm>
            <a:off x="17259300" y="-704151"/>
            <a:ext cx="1028700" cy="4031759"/>
            <a:chOff x="0" y="-47625"/>
            <a:chExt cx="270933" cy="1061862"/>
          </a:xfrm>
        </p:grpSpPr>
        <p:sp>
          <p:nvSpPr>
            <p:cNvPr id="262" name="Google Shape;262;p12"/>
            <p:cNvSpPr/>
            <p:nvPr/>
          </p:nvSpPr>
          <p:spPr>
            <a:xfrm>
              <a:off x="0" y="0"/>
              <a:ext cx="270933" cy="1014237"/>
            </a:xfrm>
            <a:custGeom>
              <a:rect b="b" l="l" r="r" t="t"/>
              <a:pathLst>
                <a:path extrusionOk="0" h="1014237" w="270933">
                  <a:moveTo>
                    <a:pt x="0" y="0"/>
                  </a:moveTo>
                  <a:lnTo>
                    <a:pt x="270933" y="0"/>
                  </a:lnTo>
                  <a:lnTo>
                    <a:pt x="270933" y="1014237"/>
                  </a:lnTo>
                  <a:lnTo>
                    <a:pt x="0" y="1014237"/>
                  </a:lnTo>
                  <a:close/>
                </a:path>
              </a:pathLst>
            </a:custGeom>
            <a:solidFill>
              <a:srgbClr val="3E829A"/>
            </a:solidFill>
            <a:ln>
              <a:noFill/>
            </a:ln>
          </p:spPr>
        </p:sp>
        <p:sp>
          <p:nvSpPr>
            <p:cNvPr id="263" name="Google Shape;263;p12"/>
            <p:cNvSpPr txBox="1"/>
            <p:nvPr/>
          </p:nvSpPr>
          <p:spPr>
            <a:xfrm>
              <a:off x="0" y="-47625"/>
              <a:ext cx="270933" cy="1061862"/>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4" name="Google Shape;264;p12"/>
          <p:cNvGrpSpPr/>
          <p:nvPr/>
        </p:nvGrpSpPr>
        <p:grpSpPr>
          <a:xfrm>
            <a:off x="0" y="9601384"/>
            <a:ext cx="4585172" cy="685616"/>
            <a:chOff x="0" y="-47625"/>
            <a:chExt cx="1207617" cy="180574"/>
          </a:xfrm>
        </p:grpSpPr>
        <p:sp>
          <p:nvSpPr>
            <p:cNvPr id="265" name="Google Shape;265;p12"/>
            <p:cNvSpPr/>
            <p:nvPr/>
          </p:nvSpPr>
          <p:spPr>
            <a:xfrm>
              <a:off x="0" y="0"/>
              <a:ext cx="1207617" cy="132949"/>
            </a:xfrm>
            <a:custGeom>
              <a:rect b="b" l="l" r="r" t="t"/>
              <a:pathLst>
                <a:path extrusionOk="0" h="132949" w="1207617">
                  <a:moveTo>
                    <a:pt x="0" y="0"/>
                  </a:moveTo>
                  <a:lnTo>
                    <a:pt x="1207617" y="0"/>
                  </a:lnTo>
                  <a:lnTo>
                    <a:pt x="1207617" y="132949"/>
                  </a:lnTo>
                  <a:lnTo>
                    <a:pt x="0" y="132949"/>
                  </a:lnTo>
                  <a:close/>
                </a:path>
              </a:pathLst>
            </a:custGeom>
            <a:solidFill>
              <a:srgbClr val="3E829A"/>
            </a:solidFill>
            <a:ln>
              <a:noFill/>
            </a:ln>
          </p:spPr>
        </p:sp>
        <p:sp>
          <p:nvSpPr>
            <p:cNvPr id="266" name="Google Shape;266;p12"/>
            <p:cNvSpPr txBox="1"/>
            <p:nvPr/>
          </p:nvSpPr>
          <p:spPr>
            <a:xfrm>
              <a:off x="0" y="-47625"/>
              <a:ext cx="1207617" cy="180574"/>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7" name="Google Shape;267;p12"/>
          <p:cNvSpPr/>
          <p:nvPr/>
        </p:nvSpPr>
        <p:spPr>
          <a:xfrm>
            <a:off x="4082961" y="1919148"/>
            <a:ext cx="12917683" cy="6749489"/>
          </a:xfrm>
          <a:custGeom>
            <a:rect b="b" l="l" r="r" t="t"/>
            <a:pathLst>
              <a:path extrusionOk="0" h="6749489" w="12917683">
                <a:moveTo>
                  <a:pt x="0" y="0"/>
                </a:moveTo>
                <a:lnTo>
                  <a:pt x="12917683" y="0"/>
                </a:lnTo>
                <a:lnTo>
                  <a:pt x="12917683" y="6749489"/>
                </a:lnTo>
                <a:lnTo>
                  <a:pt x="0" y="6749489"/>
                </a:lnTo>
                <a:lnTo>
                  <a:pt x="0" y="0"/>
                </a:lnTo>
                <a:close/>
              </a:path>
            </a:pathLst>
          </a:custGeom>
          <a:blipFill rotWithShape="1">
            <a:blip r:embed="rId6">
              <a:alphaModFix/>
            </a:blip>
            <a:stretch>
              <a:fillRect b="0" l="0" r="0" t="0"/>
            </a:stretch>
          </a:blipFill>
          <a:ln>
            <a:noFill/>
          </a:ln>
        </p:spPr>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273" name="Google Shape;273;p13"/>
          <p:cNvGrpSpPr/>
          <p:nvPr/>
        </p:nvGrpSpPr>
        <p:grpSpPr>
          <a:xfrm>
            <a:off x="-30623" y="-180826"/>
            <a:ext cx="18318623" cy="10592324"/>
            <a:chOff x="0" y="-47625"/>
            <a:chExt cx="4824658" cy="2789748"/>
          </a:xfrm>
        </p:grpSpPr>
        <p:sp>
          <p:nvSpPr>
            <p:cNvPr id="274" name="Google Shape;274;p13"/>
            <p:cNvSpPr/>
            <p:nvPr/>
          </p:nvSpPr>
          <p:spPr>
            <a:xfrm>
              <a:off x="0" y="0"/>
              <a:ext cx="4824658" cy="2742123"/>
            </a:xfrm>
            <a:custGeom>
              <a:rect b="b" l="l" r="r" t="t"/>
              <a:pathLst>
                <a:path extrusionOk="0" h="2742123" w="4824658">
                  <a:moveTo>
                    <a:pt x="0" y="0"/>
                  </a:moveTo>
                  <a:lnTo>
                    <a:pt x="4824658" y="0"/>
                  </a:lnTo>
                  <a:lnTo>
                    <a:pt x="4824658" y="2742123"/>
                  </a:lnTo>
                  <a:lnTo>
                    <a:pt x="0" y="2742123"/>
                  </a:lnTo>
                  <a:close/>
                </a:path>
              </a:pathLst>
            </a:custGeom>
            <a:solidFill>
              <a:srgbClr val="FAFAFF"/>
            </a:solidFill>
            <a:ln>
              <a:noFill/>
            </a:ln>
          </p:spPr>
        </p:sp>
        <p:sp>
          <p:nvSpPr>
            <p:cNvPr id="275" name="Google Shape;275;p13"/>
            <p:cNvSpPr txBox="1"/>
            <p:nvPr/>
          </p:nvSpPr>
          <p:spPr>
            <a:xfrm>
              <a:off x="0" y="-47625"/>
              <a:ext cx="4824658" cy="278974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6" name="Google Shape;276;p13"/>
          <p:cNvSpPr/>
          <p:nvPr/>
        </p:nvSpPr>
        <p:spPr>
          <a:xfrm>
            <a:off x="11762666" y="2473730"/>
            <a:ext cx="7820850" cy="6051383"/>
          </a:xfrm>
          <a:custGeom>
            <a:rect b="b" l="l" r="r" t="t"/>
            <a:pathLst>
              <a:path extrusionOk="0" h="6051383" w="7820850">
                <a:moveTo>
                  <a:pt x="0" y="0"/>
                </a:moveTo>
                <a:lnTo>
                  <a:pt x="7820850" y="0"/>
                </a:lnTo>
                <a:lnTo>
                  <a:pt x="7820850" y="6051382"/>
                </a:lnTo>
                <a:lnTo>
                  <a:pt x="0" y="6051382"/>
                </a:lnTo>
                <a:lnTo>
                  <a:pt x="0" y="0"/>
                </a:lnTo>
                <a:close/>
              </a:path>
            </a:pathLst>
          </a:custGeom>
          <a:blipFill rotWithShape="1">
            <a:blip r:embed="rId4">
              <a:alphaModFix/>
            </a:blip>
            <a:stretch>
              <a:fillRect b="0" l="0" r="0" t="0"/>
            </a:stretch>
          </a:blipFill>
          <a:ln>
            <a:noFill/>
          </a:ln>
        </p:spPr>
      </p:sp>
      <p:sp>
        <p:nvSpPr>
          <p:cNvPr id="277" name="Google Shape;277;p13"/>
          <p:cNvSpPr/>
          <p:nvPr/>
        </p:nvSpPr>
        <p:spPr>
          <a:xfrm>
            <a:off x="11221661" y="-1914833"/>
            <a:ext cx="8902861" cy="5746392"/>
          </a:xfrm>
          <a:custGeom>
            <a:rect b="b" l="l" r="r" t="t"/>
            <a:pathLst>
              <a:path extrusionOk="0" h="5746392" w="8902861">
                <a:moveTo>
                  <a:pt x="0" y="0"/>
                </a:moveTo>
                <a:lnTo>
                  <a:pt x="8902861" y="0"/>
                </a:lnTo>
                <a:lnTo>
                  <a:pt x="8902861" y="5746392"/>
                </a:lnTo>
                <a:lnTo>
                  <a:pt x="0" y="5746392"/>
                </a:lnTo>
                <a:lnTo>
                  <a:pt x="0" y="0"/>
                </a:lnTo>
                <a:close/>
              </a:path>
            </a:pathLst>
          </a:custGeom>
          <a:blipFill rotWithShape="1">
            <a:blip r:embed="rId5">
              <a:alphaModFix/>
            </a:blip>
            <a:stretch>
              <a:fillRect b="0" l="0" r="0" t="0"/>
            </a:stretch>
          </a:blipFill>
          <a:ln>
            <a:noFill/>
          </a:ln>
        </p:spPr>
      </p:sp>
      <p:sp>
        <p:nvSpPr>
          <p:cNvPr id="278" name="Google Shape;278;p13"/>
          <p:cNvSpPr/>
          <p:nvPr/>
        </p:nvSpPr>
        <p:spPr>
          <a:xfrm>
            <a:off x="-1495994" y="8525112"/>
            <a:ext cx="10364200" cy="4070304"/>
          </a:xfrm>
          <a:custGeom>
            <a:rect b="b" l="l" r="r" t="t"/>
            <a:pathLst>
              <a:path extrusionOk="0" h="4070304" w="10364200">
                <a:moveTo>
                  <a:pt x="0" y="0"/>
                </a:moveTo>
                <a:lnTo>
                  <a:pt x="10364200" y="0"/>
                </a:lnTo>
                <a:lnTo>
                  <a:pt x="10364200" y="4070304"/>
                </a:lnTo>
                <a:lnTo>
                  <a:pt x="0" y="4070304"/>
                </a:lnTo>
                <a:lnTo>
                  <a:pt x="0" y="0"/>
                </a:lnTo>
                <a:close/>
              </a:path>
            </a:pathLst>
          </a:custGeom>
          <a:blipFill rotWithShape="1">
            <a:blip r:embed="rId6">
              <a:alphaModFix/>
            </a:blip>
            <a:stretch>
              <a:fillRect b="0" l="0" r="0" t="0"/>
            </a:stretch>
          </a:blipFill>
          <a:ln>
            <a:noFill/>
          </a:ln>
        </p:spPr>
      </p:sp>
      <p:sp>
        <p:nvSpPr>
          <p:cNvPr id="279" name="Google Shape;279;p13"/>
          <p:cNvSpPr/>
          <p:nvPr/>
        </p:nvSpPr>
        <p:spPr>
          <a:xfrm>
            <a:off x="-2412729" y="-2717395"/>
            <a:ext cx="4825458" cy="4114800"/>
          </a:xfrm>
          <a:custGeom>
            <a:rect b="b" l="l" r="r" t="t"/>
            <a:pathLst>
              <a:path extrusionOk="0" h="4114800" w="4825458">
                <a:moveTo>
                  <a:pt x="0" y="0"/>
                </a:moveTo>
                <a:lnTo>
                  <a:pt x="4825458" y="0"/>
                </a:lnTo>
                <a:lnTo>
                  <a:pt x="4825458" y="4114800"/>
                </a:lnTo>
                <a:lnTo>
                  <a:pt x="0" y="4114800"/>
                </a:lnTo>
                <a:lnTo>
                  <a:pt x="0" y="0"/>
                </a:lnTo>
                <a:close/>
              </a:path>
            </a:pathLst>
          </a:custGeom>
          <a:blipFill rotWithShape="1">
            <a:blip r:embed="rId7">
              <a:alphaModFix/>
            </a:blip>
            <a:stretch>
              <a:fillRect b="0" l="0" r="0" t="0"/>
            </a:stretch>
          </a:blipFill>
          <a:ln>
            <a:noFill/>
          </a:ln>
        </p:spPr>
      </p:sp>
      <p:sp>
        <p:nvSpPr>
          <p:cNvPr id="280" name="Google Shape;280;p13"/>
          <p:cNvSpPr/>
          <p:nvPr/>
        </p:nvSpPr>
        <p:spPr>
          <a:xfrm>
            <a:off x="13730749" y="9022254"/>
            <a:ext cx="6663644" cy="4114800"/>
          </a:xfrm>
          <a:custGeom>
            <a:rect b="b" l="l" r="r" t="t"/>
            <a:pathLst>
              <a:path extrusionOk="0" h="4114800" w="6663644">
                <a:moveTo>
                  <a:pt x="0" y="0"/>
                </a:moveTo>
                <a:lnTo>
                  <a:pt x="6663643" y="0"/>
                </a:lnTo>
                <a:lnTo>
                  <a:pt x="6663643" y="4114800"/>
                </a:lnTo>
                <a:lnTo>
                  <a:pt x="0" y="4114800"/>
                </a:lnTo>
                <a:lnTo>
                  <a:pt x="0" y="0"/>
                </a:lnTo>
                <a:close/>
              </a:path>
            </a:pathLst>
          </a:custGeom>
          <a:blipFill rotWithShape="1">
            <a:blip r:embed="rId8">
              <a:alphaModFix/>
            </a:blip>
            <a:stretch>
              <a:fillRect b="0" l="0" r="0" t="0"/>
            </a:stretch>
          </a:blipFill>
          <a:ln>
            <a:noFill/>
          </a:ln>
        </p:spPr>
      </p:sp>
      <p:sp>
        <p:nvSpPr>
          <p:cNvPr id="281" name="Google Shape;281;p13"/>
          <p:cNvSpPr txBox="1"/>
          <p:nvPr/>
        </p:nvSpPr>
        <p:spPr>
          <a:xfrm>
            <a:off x="1028700" y="3214718"/>
            <a:ext cx="10733966" cy="2389464"/>
          </a:xfrm>
          <a:prstGeom prst="rect">
            <a:avLst/>
          </a:prstGeom>
          <a:noFill/>
          <a:ln>
            <a:noFill/>
          </a:ln>
        </p:spPr>
        <p:txBody>
          <a:bodyPr anchorCtr="0" anchor="t" bIns="0" lIns="0" spcFirstLastPara="1" rIns="0" wrap="square" tIns="0">
            <a:spAutoFit/>
          </a:bodyPr>
          <a:lstStyle/>
          <a:p>
            <a:pPr indent="0" lvl="0" marL="0" marR="0" rtl="0" algn="l">
              <a:lnSpc>
                <a:spcPct val="161007"/>
              </a:lnSpc>
              <a:spcBef>
                <a:spcPts val="0"/>
              </a:spcBef>
              <a:spcAft>
                <a:spcPts val="0"/>
              </a:spcAft>
              <a:buNone/>
            </a:pPr>
            <a:r>
              <a:rPr b="0" i="0" lang="en-US" sz="2403" u="none" cap="none" strike="noStrike">
                <a:solidFill>
                  <a:srgbClr val="2F3B69"/>
                </a:solidFill>
                <a:latin typeface="Montserrat"/>
                <a:ea typeface="Montserrat"/>
                <a:cs typeface="Montserrat"/>
                <a:sym typeface="Montserrat"/>
              </a:rPr>
              <a:t>Tujuan Praktikum</a:t>
            </a:r>
            <a:endParaRPr/>
          </a:p>
          <a:p>
            <a:pPr indent="-259428" lvl="1" marL="518856" marR="0" rtl="0" algn="l">
              <a:lnSpc>
                <a:spcPct val="161007"/>
              </a:lnSpc>
              <a:spcBef>
                <a:spcPts val="0"/>
              </a:spcBef>
              <a:spcAft>
                <a:spcPts val="0"/>
              </a:spcAft>
              <a:buClr>
                <a:srgbClr val="2F3B69"/>
              </a:buClr>
              <a:buSzPts val="2403"/>
              <a:buFont typeface="Montserrat"/>
              <a:buAutoNum type="arabicPeriod"/>
            </a:pPr>
            <a:r>
              <a:rPr b="0" i="0" lang="en-US" sz="2403" u="none" cap="none" strike="noStrike">
                <a:solidFill>
                  <a:srgbClr val="2F3B69"/>
                </a:solidFill>
                <a:latin typeface="Montserrat"/>
                <a:ea typeface="Montserrat"/>
                <a:cs typeface="Montserrat"/>
                <a:sym typeface="Montserrat"/>
              </a:rPr>
              <a:t>Memahami konsep clustering dengan K-Means</a:t>
            </a:r>
            <a:endParaRPr/>
          </a:p>
          <a:p>
            <a:pPr indent="-259428" lvl="1" marL="518856" marR="0" rtl="0" algn="l">
              <a:lnSpc>
                <a:spcPct val="161007"/>
              </a:lnSpc>
              <a:spcBef>
                <a:spcPts val="0"/>
              </a:spcBef>
              <a:spcAft>
                <a:spcPts val="0"/>
              </a:spcAft>
              <a:buClr>
                <a:srgbClr val="2F3B69"/>
              </a:buClr>
              <a:buSzPts val="2403"/>
              <a:buFont typeface="Montserrat"/>
              <a:buAutoNum type="arabicPeriod"/>
            </a:pPr>
            <a:r>
              <a:rPr b="0" i="0" lang="en-US" sz="2403" u="none" cap="none" strike="noStrike">
                <a:solidFill>
                  <a:srgbClr val="2F3B69"/>
                </a:solidFill>
                <a:latin typeface="Montserrat"/>
                <a:ea typeface="Montserrat"/>
                <a:cs typeface="Montserrat"/>
                <a:sym typeface="Montserrat"/>
              </a:rPr>
              <a:t>Mengelompokkan data tanpa label</a:t>
            </a:r>
            <a:endParaRPr/>
          </a:p>
          <a:p>
            <a:pPr indent="-259428" lvl="1" marL="518856" marR="0" rtl="0" algn="l">
              <a:lnSpc>
                <a:spcPct val="161007"/>
              </a:lnSpc>
              <a:spcBef>
                <a:spcPts val="0"/>
              </a:spcBef>
              <a:spcAft>
                <a:spcPts val="0"/>
              </a:spcAft>
              <a:buClr>
                <a:srgbClr val="2F3B69"/>
              </a:buClr>
              <a:buSzPts val="2403"/>
              <a:buFont typeface="Montserrat"/>
              <a:buAutoNum type="arabicPeriod"/>
            </a:pPr>
            <a:r>
              <a:rPr b="0" i="0" lang="en-US" sz="2403" u="none" cap="none" strike="noStrike">
                <a:solidFill>
                  <a:srgbClr val="2F3B69"/>
                </a:solidFill>
                <a:latin typeface="Montserrat"/>
                <a:ea typeface="Montserrat"/>
                <a:cs typeface="Montserrat"/>
                <a:sym typeface="Montserrat"/>
              </a:rPr>
              <a:t>Mengevaluasi kualitas clustering menggunakan metrik evaluasi</a:t>
            </a:r>
            <a:endParaRPr/>
          </a:p>
          <a:p>
            <a:pPr indent="0" lvl="0" marL="0" marR="0" rtl="0" algn="l">
              <a:lnSpc>
                <a:spcPct val="161007"/>
              </a:lnSpc>
              <a:spcBef>
                <a:spcPts val="0"/>
              </a:spcBef>
              <a:spcAft>
                <a:spcPts val="0"/>
              </a:spcAft>
              <a:buNone/>
            </a:pPr>
            <a:r>
              <a:t/>
            </a:r>
            <a:endParaRPr b="0" i="0" sz="2403" u="none" cap="none" strike="noStrike">
              <a:solidFill>
                <a:srgbClr val="2F3B69"/>
              </a:solidFill>
              <a:latin typeface="Montserrat"/>
              <a:ea typeface="Montserrat"/>
              <a:cs typeface="Montserrat"/>
              <a:sym typeface="Montserrat"/>
            </a:endParaRPr>
          </a:p>
        </p:txBody>
      </p:sp>
      <p:sp>
        <p:nvSpPr>
          <p:cNvPr id="282" name="Google Shape;282;p13"/>
          <p:cNvSpPr txBox="1"/>
          <p:nvPr/>
        </p:nvSpPr>
        <p:spPr>
          <a:xfrm>
            <a:off x="1028700" y="1767372"/>
            <a:ext cx="11273976" cy="12515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600" u="none" cap="none" strike="noStrike">
                <a:solidFill>
                  <a:srgbClr val="2F3B69"/>
                </a:solidFill>
                <a:latin typeface="Montserrat"/>
                <a:ea typeface="Montserrat"/>
                <a:cs typeface="Montserrat"/>
                <a:sym typeface="Montserrat"/>
              </a:rPr>
              <a:t>PRAKTIKUM CLUSTERING MENGGUNAKAN METODE K-MEANS</a:t>
            </a:r>
            <a:endParaRPr/>
          </a:p>
        </p:txBody>
      </p:sp>
      <p:sp>
        <p:nvSpPr>
          <p:cNvPr id="283" name="Google Shape;283;p13"/>
          <p:cNvSpPr txBox="1"/>
          <p:nvPr/>
        </p:nvSpPr>
        <p:spPr>
          <a:xfrm>
            <a:off x="1028700" y="5413696"/>
            <a:ext cx="10733966" cy="3846789"/>
          </a:xfrm>
          <a:prstGeom prst="rect">
            <a:avLst/>
          </a:prstGeom>
          <a:noFill/>
          <a:ln>
            <a:noFill/>
          </a:ln>
        </p:spPr>
        <p:txBody>
          <a:bodyPr anchorCtr="0" anchor="t" bIns="0" lIns="0" spcFirstLastPara="1" rIns="0" wrap="square" tIns="0">
            <a:spAutoFit/>
          </a:bodyPr>
          <a:lstStyle/>
          <a:p>
            <a:pPr indent="0" lvl="0" marL="0" marR="0" rtl="0" algn="l">
              <a:lnSpc>
                <a:spcPct val="161007"/>
              </a:lnSpc>
              <a:spcBef>
                <a:spcPts val="0"/>
              </a:spcBef>
              <a:spcAft>
                <a:spcPts val="0"/>
              </a:spcAft>
              <a:buNone/>
            </a:pPr>
            <a:r>
              <a:rPr b="0" i="0" lang="en-US" sz="2403" u="none" cap="none" strike="noStrike">
                <a:solidFill>
                  <a:srgbClr val="2F3B69"/>
                </a:solidFill>
                <a:latin typeface="Montserrat"/>
                <a:ea typeface="Montserrat"/>
                <a:cs typeface="Montserrat"/>
                <a:sym typeface="Montserrat"/>
              </a:rPr>
              <a:t>Studi Kasus</a:t>
            </a:r>
            <a:endParaRPr/>
          </a:p>
          <a:p>
            <a:pPr indent="0" lvl="0" marL="0" marR="0" rtl="0" algn="l">
              <a:lnSpc>
                <a:spcPct val="161007"/>
              </a:lnSpc>
              <a:spcBef>
                <a:spcPts val="0"/>
              </a:spcBef>
              <a:spcAft>
                <a:spcPts val="0"/>
              </a:spcAft>
              <a:buNone/>
            </a:pPr>
            <a:r>
              <a:rPr b="0" i="0" lang="en-US" sz="2403" u="none" cap="none" strike="noStrike">
                <a:solidFill>
                  <a:srgbClr val="2F3B69"/>
                </a:solidFill>
                <a:latin typeface="Montserrat"/>
                <a:ea typeface="Montserrat"/>
                <a:cs typeface="Montserrat"/>
                <a:sym typeface="Montserrat"/>
              </a:rPr>
              <a:t>Segmentasi mahasiswa berdasarkan aktivitas akademik.</a:t>
            </a:r>
            <a:endParaRPr/>
          </a:p>
          <a:p>
            <a:pPr indent="0" lvl="0" marL="0" marR="0" rtl="0" algn="l">
              <a:lnSpc>
                <a:spcPct val="161007"/>
              </a:lnSpc>
              <a:spcBef>
                <a:spcPts val="0"/>
              </a:spcBef>
              <a:spcAft>
                <a:spcPts val="0"/>
              </a:spcAft>
              <a:buNone/>
            </a:pPr>
            <a:r>
              <a:rPr b="0" i="0" lang="en-US" sz="2403" u="none" cap="none" strike="noStrike">
                <a:solidFill>
                  <a:srgbClr val="2F3B69"/>
                </a:solidFill>
                <a:latin typeface="Montserrat"/>
                <a:ea typeface="Montserrat"/>
                <a:cs typeface="Montserrat"/>
                <a:sym typeface="Montserrat"/>
              </a:rPr>
              <a:t>Atribut Dataset:</a:t>
            </a:r>
            <a:endParaRPr/>
          </a:p>
          <a:p>
            <a:pPr indent="-259428" lvl="1" marL="518856" marR="0" rtl="0" algn="l">
              <a:lnSpc>
                <a:spcPct val="161007"/>
              </a:lnSpc>
              <a:spcBef>
                <a:spcPts val="0"/>
              </a:spcBef>
              <a:spcAft>
                <a:spcPts val="0"/>
              </a:spcAft>
              <a:buClr>
                <a:srgbClr val="2F3B69"/>
              </a:buClr>
              <a:buSzPts val="2403"/>
              <a:buFont typeface="Arial"/>
              <a:buChar char="•"/>
            </a:pPr>
            <a:r>
              <a:rPr b="0" i="0" lang="en-US" sz="2403" u="none" cap="none" strike="noStrike">
                <a:solidFill>
                  <a:srgbClr val="2F3B69"/>
                </a:solidFill>
                <a:latin typeface="Montserrat"/>
                <a:ea typeface="Montserrat"/>
                <a:cs typeface="Montserrat"/>
                <a:sym typeface="Montserrat"/>
              </a:rPr>
              <a:t>IPK</a:t>
            </a:r>
            <a:endParaRPr/>
          </a:p>
          <a:p>
            <a:pPr indent="-259428" lvl="1" marL="518856" marR="0" rtl="0" algn="l">
              <a:lnSpc>
                <a:spcPct val="161007"/>
              </a:lnSpc>
              <a:spcBef>
                <a:spcPts val="0"/>
              </a:spcBef>
              <a:spcAft>
                <a:spcPts val="0"/>
              </a:spcAft>
              <a:buClr>
                <a:srgbClr val="2F3B69"/>
              </a:buClr>
              <a:buSzPts val="2403"/>
              <a:buFont typeface="Arial"/>
              <a:buChar char="•"/>
            </a:pPr>
            <a:r>
              <a:rPr b="0" i="0" lang="en-US" sz="2403" u="none" cap="none" strike="noStrike">
                <a:solidFill>
                  <a:srgbClr val="2F3B69"/>
                </a:solidFill>
                <a:latin typeface="Montserrat"/>
                <a:ea typeface="Montserrat"/>
                <a:cs typeface="Montserrat"/>
                <a:sym typeface="Montserrat"/>
              </a:rPr>
              <a:t>Persentase Kehadiran</a:t>
            </a:r>
            <a:endParaRPr/>
          </a:p>
          <a:p>
            <a:pPr indent="-259428" lvl="1" marL="518856" marR="0" rtl="0" algn="l">
              <a:lnSpc>
                <a:spcPct val="161007"/>
              </a:lnSpc>
              <a:spcBef>
                <a:spcPts val="0"/>
              </a:spcBef>
              <a:spcAft>
                <a:spcPts val="0"/>
              </a:spcAft>
              <a:buClr>
                <a:srgbClr val="2F3B69"/>
              </a:buClr>
              <a:buSzPts val="2403"/>
              <a:buFont typeface="Arial"/>
              <a:buChar char="•"/>
            </a:pPr>
            <a:r>
              <a:rPr b="0" i="0" lang="en-US" sz="2403" u="none" cap="none" strike="noStrike">
                <a:solidFill>
                  <a:srgbClr val="2F3B69"/>
                </a:solidFill>
                <a:latin typeface="Montserrat"/>
                <a:ea typeface="Montserrat"/>
                <a:cs typeface="Montserrat"/>
                <a:sym typeface="Montserrat"/>
              </a:rPr>
              <a:t>Jumlah SKS</a:t>
            </a:r>
            <a:endParaRPr/>
          </a:p>
          <a:p>
            <a:pPr indent="-259428" lvl="1" marL="518856" marR="0" rtl="0" algn="l">
              <a:lnSpc>
                <a:spcPct val="161007"/>
              </a:lnSpc>
              <a:spcBef>
                <a:spcPts val="0"/>
              </a:spcBef>
              <a:spcAft>
                <a:spcPts val="0"/>
              </a:spcAft>
              <a:buClr>
                <a:srgbClr val="2F3B69"/>
              </a:buClr>
              <a:buSzPts val="2403"/>
              <a:buFont typeface="Arial"/>
              <a:buChar char="•"/>
            </a:pPr>
            <a:r>
              <a:rPr b="0" i="0" lang="en-US" sz="2403" u="none" cap="none" strike="noStrike">
                <a:solidFill>
                  <a:srgbClr val="2F3B69"/>
                </a:solidFill>
                <a:latin typeface="Montserrat"/>
                <a:ea typeface="Montserrat"/>
                <a:cs typeface="Montserrat"/>
                <a:sym typeface="Montserrat"/>
              </a:rPr>
              <a:t>Nilai Tugas</a:t>
            </a:r>
            <a:endParaRPr/>
          </a:p>
          <a:p>
            <a:pPr indent="0" lvl="0" marL="0" marR="0" rtl="0" algn="l">
              <a:lnSpc>
                <a:spcPct val="161007"/>
              </a:lnSpc>
              <a:spcBef>
                <a:spcPts val="0"/>
              </a:spcBef>
              <a:spcAft>
                <a:spcPts val="0"/>
              </a:spcAft>
              <a:buNone/>
            </a:pPr>
            <a:r>
              <a:rPr b="0" i="0" lang="en-US" sz="2403" u="none" cap="none" strike="noStrike">
                <a:solidFill>
                  <a:srgbClr val="2F3B69"/>
                </a:solidFill>
                <a:latin typeface="Montserrat"/>
                <a:ea typeface="Montserrat"/>
                <a:cs typeface="Montserrat"/>
                <a:sym typeface="Montserrat"/>
              </a:rPr>
              <a:t>Dataset tidak memiliki label, sehingga cocok untuk clustering.</a:t>
            </a:r>
            <a:endParaRPr/>
          </a:p>
        </p:txBody>
      </p:sp>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289" name="Google Shape;289;p14"/>
          <p:cNvGrpSpPr/>
          <p:nvPr/>
        </p:nvGrpSpPr>
        <p:grpSpPr>
          <a:xfrm>
            <a:off x="0" y="-180826"/>
            <a:ext cx="18215537" cy="10467826"/>
            <a:chOff x="0" y="-47625"/>
            <a:chExt cx="4797508" cy="2756958"/>
          </a:xfrm>
        </p:grpSpPr>
        <p:sp>
          <p:nvSpPr>
            <p:cNvPr id="290" name="Google Shape;290;p14"/>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291" name="Google Shape;291;p14"/>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2" name="Google Shape;292;p14"/>
          <p:cNvSpPr/>
          <p:nvPr/>
        </p:nvSpPr>
        <p:spPr>
          <a:xfrm>
            <a:off x="1028700" y="2334717"/>
            <a:ext cx="16230600" cy="3809870"/>
          </a:xfrm>
          <a:custGeom>
            <a:rect b="b" l="l" r="r" t="t"/>
            <a:pathLst>
              <a:path extrusionOk="0" h="3809870" w="16230600">
                <a:moveTo>
                  <a:pt x="0" y="0"/>
                </a:moveTo>
                <a:lnTo>
                  <a:pt x="16230600" y="0"/>
                </a:lnTo>
                <a:lnTo>
                  <a:pt x="16230600" y="3809869"/>
                </a:lnTo>
                <a:lnTo>
                  <a:pt x="0" y="3809869"/>
                </a:lnTo>
                <a:lnTo>
                  <a:pt x="0" y="0"/>
                </a:lnTo>
                <a:close/>
              </a:path>
            </a:pathLst>
          </a:custGeom>
          <a:blipFill rotWithShape="1">
            <a:blip r:embed="rId4">
              <a:alphaModFix/>
            </a:blip>
            <a:stretch>
              <a:fillRect b="0" l="-829" r="-4076" t="0"/>
            </a:stretch>
          </a:blipFill>
          <a:ln>
            <a:noFill/>
          </a:ln>
        </p:spPr>
      </p:sp>
      <p:sp>
        <p:nvSpPr>
          <p:cNvPr id="293" name="Google Shape;293;p14"/>
          <p:cNvSpPr txBox="1"/>
          <p:nvPr/>
        </p:nvSpPr>
        <p:spPr>
          <a:xfrm>
            <a:off x="1370107" y="1379823"/>
            <a:ext cx="12762117"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Import Library yang Digunakaneriksa Struktur dan Tipe Data</a:t>
            </a:r>
            <a:endParaRPr/>
          </a:p>
        </p:txBody>
      </p:sp>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299" name="Google Shape;299;p15"/>
          <p:cNvGrpSpPr/>
          <p:nvPr/>
        </p:nvGrpSpPr>
        <p:grpSpPr>
          <a:xfrm>
            <a:off x="0" y="-180826"/>
            <a:ext cx="18215537" cy="10467826"/>
            <a:chOff x="0" y="-47625"/>
            <a:chExt cx="4797508" cy="2756958"/>
          </a:xfrm>
        </p:grpSpPr>
        <p:sp>
          <p:nvSpPr>
            <p:cNvPr id="300" name="Google Shape;300;p15"/>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301" name="Google Shape;301;p15"/>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2" name="Google Shape;302;p15"/>
          <p:cNvSpPr/>
          <p:nvPr/>
        </p:nvSpPr>
        <p:spPr>
          <a:xfrm>
            <a:off x="1370107" y="2065512"/>
            <a:ext cx="14218605" cy="5157497"/>
          </a:xfrm>
          <a:custGeom>
            <a:rect b="b" l="l" r="r" t="t"/>
            <a:pathLst>
              <a:path extrusionOk="0" h="5157497" w="14218605">
                <a:moveTo>
                  <a:pt x="0" y="0"/>
                </a:moveTo>
                <a:lnTo>
                  <a:pt x="14218606" y="0"/>
                </a:lnTo>
                <a:lnTo>
                  <a:pt x="14218606" y="5157498"/>
                </a:lnTo>
                <a:lnTo>
                  <a:pt x="0" y="5157498"/>
                </a:lnTo>
                <a:lnTo>
                  <a:pt x="0" y="0"/>
                </a:lnTo>
                <a:close/>
              </a:path>
            </a:pathLst>
          </a:custGeom>
          <a:blipFill rotWithShape="1">
            <a:blip r:embed="rId4">
              <a:alphaModFix/>
            </a:blip>
            <a:stretch>
              <a:fillRect b="0" l="0" r="0" t="0"/>
            </a:stretch>
          </a:blipFill>
          <a:ln>
            <a:noFill/>
          </a:ln>
        </p:spPr>
      </p:sp>
      <p:sp>
        <p:nvSpPr>
          <p:cNvPr id="303" name="Google Shape;303;p15"/>
          <p:cNvSpPr txBox="1"/>
          <p:nvPr/>
        </p:nvSpPr>
        <p:spPr>
          <a:xfrm>
            <a:off x="1370107" y="1379823"/>
            <a:ext cx="12762117"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Membuat Dataset Sederhana</a:t>
            </a:r>
            <a:endParaRPr/>
          </a:p>
        </p:txBody>
      </p:sp>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309" name="Google Shape;309;p16"/>
          <p:cNvGrpSpPr/>
          <p:nvPr/>
        </p:nvGrpSpPr>
        <p:grpSpPr>
          <a:xfrm>
            <a:off x="0" y="-180826"/>
            <a:ext cx="18215537" cy="10467826"/>
            <a:chOff x="0" y="-47625"/>
            <a:chExt cx="4797508" cy="2756958"/>
          </a:xfrm>
        </p:grpSpPr>
        <p:sp>
          <p:nvSpPr>
            <p:cNvPr id="310" name="Google Shape;310;p16"/>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311" name="Google Shape;311;p16"/>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2" name="Google Shape;312;p16"/>
          <p:cNvSpPr/>
          <p:nvPr/>
        </p:nvSpPr>
        <p:spPr>
          <a:xfrm>
            <a:off x="1370107" y="2163979"/>
            <a:ext cx="9790700" cy="1987586"/>
          </a:xfrm>
          <a:custGeom>
            <a:rect b="b" l="l" r="r" t="t"/>
            <a:pathLst>
              <a:path extrusionOk="0" h="1987586" w="9790700">
                <a:moveTo>
                  <a:pt x="0" y="0"/>
                </a:moveTo>
                <a:lnTo>
                  <a:pt x="9790700" y="0"/>
                </a:lnTo>
                <a:lnTo>
                  <a:pt x="9790700" y="1987586"/>
                </a:lnTo>
                <a:lnTo>
                  <a:pt x="0" y="1987586"/>
                </a:lnTo>
                <a:lnTo>
                  <a:pt x="0" y="0"/>
                </a:lnTo>
                <a:close/>
              </a:path>
            </a:pathLst>
          </a:custGeom>
          <a:blipFill rotWithShape="1">
            <a:blip r:embed="rId4">
              <a:alphaModFix/>
            </a:blip>
            <a:stretch>
              <a:fillRect b="0" l="0" r="0" t="0"/>
            </a:stretch>
          </a:blipFill>
          <a:ln>
            <a:noFill/>
          </a:ln>
        </p:spPr>
      </p:sp>
      <p:sp>
        <p:nvSpPr>
          <p:cNvPr id="313" name="Google Shape;313;p16"/>
          <p:cNvSpPr/>
          <p:nvPr/>
        </p:nvSpPr>
        <p:spPr>
          <a:xfrm>
            <a:off x="1370107" y="6334760"/>
            <a:ext cx="9988396" cy="2114660"/>
          </a:xfrm>
          <a:custGeom>
            <a:rect b="b" l="l" r="r" t="t"/>
            <a:pathLst>
              <a:path extrusionOk="0" h="2114660" w="9988396">
                <a:moveTo>
                  <a:pt x="0" y="0"/>
                </a:moveTo>
                <a:lnTo>
                  <a:pt x="9988396" y="0"/>
                </a:lnTo>
                <a:lnTo>
                  <a:pt x="9988396" y="2114661"/>
                </a:lnTo>
                <a:lnTo>
                  <a:pt x="0" y="2114661"/>
                </a:lnTo>
                <a:lnTo>
                  <a:pt x="0" y="0"/>
                </a:lnTo>
                <a:close/>
              </a:path>
            </a:pathLst>
          </a:custGeom>
          <a:blipFill rotWithShape="1">
            <a:blip r:embed="rId5">
              <a:alphaModFix/>
            </a:blip>
            <a:stretch>
              <a:fillRect b="0" l="0" r="0" t="0"/>
            </a:stretch>
          </a:blipFill>
          <a:ln>
            <a:noFill/>
          </a:ln>
        </p:spPr>
      </p:sp>
      <p:sp>
        <p:nvSpPr>
          <p:cNvPr id="314" name="Google Shape;314;p16"/>
          <p:cNvSpPr txBox="1"/>
          <p:nvPr/>
        </p:nvSpPr>
        <p:spPr>
          <a:xfrm>
            <a:off x="1370107" y="1379823"/>
            <a:ext cx="12762117"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Normalisasi Data</a:t>
            </a:r>
            <a:endParaRPr/>
          </a:p>
        </p:txBody>
      </p:sp>
      <p:sp>
        <p:nvSpPr>
          <p:cNvPr id="315" name="Google Shape;315;p16"/>
          <p:cNvSpPr txBox="1"/>
          <p:nvPr/>
        </p:nvSpPr>
        <p:spPr>
          <a:xfrm>
            <a:off x="1370107" y="5095875"/>
            <a:ext cx="12762117" cy="8959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Menentukan Jumlah Cluster</a:t>
            </a:r>
            <a:endParaRPr/>
          </a:p>
          <a:p>
            <a:pPr indent="0" lvl="0" marL="0" marR="0" rtl="0" algn="just">
              <a:lnSpc>
                <a:spcPct val="140015"/>
              </a:lnSpc>
              <a:spcBef>
                <a:spcPts val="0"/>
              </a:spcBef>
              <a:spcAft>
                <a:spcPts val="0"/>
              </a:spcAft>
              <a:buNone/>
            </a:pPr>
            <a:r>
              <a:rPr b="0" i="0" lang="en-US" sz="2599" u="none" cap="none" strike="noStrike">
                <a:solidFill>
                  <a:srgbClr val="162651"/>
                </a:solidFill>
                <a:latin typeface="Montserrat"/>
                <a:ea typeface="Montserrat"/>
                <a:cs typeface="Montserrat"/>
                <a:sym typeface="Montserrat"/>
              </a:rPr>
              <a:t>Pada contoh ini digunakan K = 3</a:t>
            </a:r>
            <a:endParaRPr/>
          </a:p>
        </p:txBody>
      </p:sp>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321" name="Google Shape;321;p17"/>
          <p:cNvGrpSpPr/>
          <p:nvPr/>
        </p:nvGrpSpPr>
        <p:grpSpPr>
          <a:xfrm>
            <a:off x="0" y="-180826"/>
            <a:ext cx="18215537" cy="10467826"/>
            <a:chOff x="0" y="-47625"/>
            <a:chExt cx="4797508" cy="2756958"/>
          </a:xfrm>
        </p:grpSpPr>
        <p:sp>
          <p:nvSpPr>
            <p:cNvPr id="322" name="Google Shape;322;p17"/>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323" name="Google Shape;323;p17"/>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24" name="Google Shape;324;p17"/>
          <p:cNvSpPr/>
          <p:nvPr/>
        </p:nvSpPr>
        <p:spPr>
          <a:xfrm>
            <a:off x="1370107" y="2238977"/>
            <a:ext cx="8465366" cy="1587258"/>
          </a:xfrm>
          <a:custGeom>
            <a:rect b="b" l="l" r="r" t="t"/>
            <a:pathLst>
              <a:path extrusionOk="0" h="1587258" w="8465366">
                <a:moveTo>
                  <a:pt x="0" y="0"/>
                </a:moveTo>
                <a:lnTo>
                  <a:pt x="8465367" y="0"/>
                </a:lnTo>
                <a:lnTo>
                  <a:pt x="8465367" y="1587258"/>
                </a:lnTo>
                <a:lnTo>
                  <a:pt x="0" y="1587258"/>
                </a:lnTo>
                <a:lnTo>
                  <a:pt x="0" y="0"/>
                </a:lnTo>
                <a:close/>
              </a:path>
            </a:pathLst>
          </a:custGeom>
          <a:blipFill rotWithShape="1">
            <a:blip r:embed="rId4">
              <a:alphaModFix/>
            </a:blip>
            <a:stretch>
              <a:fillRect b="-51418" l="0" r="0" t="0"/>
            </a:stretch>
          </a:blipFill>
          <a:ln>
            <a:noFill/>
          </a:ln>
        </p:spPr>
      </p:sp>
      <p:sp>
        <p:nvSpPr>
          <p:cNvPr id="325" name="Google Shape;325;p17"/>
          <p:cNvSpPr/>
          <p:nvPr/>
        </p:nvSpPr>
        <p:spPr>
          <a:xfrm>
            <a:off x="1370107" y="5404502"/>
            <a:ext cx="12996296" cy="3625778"/>
          </a:xfrm>
          <a:custGeom>
            <a:rect b="b" l="l" r="r" t="t"/>
            <a:pathLst>
              <a:path extrusionOk="0" h="3625778" w="12996296">
                <a:moveTo>
                  <a:pt x="0" y="0"/>
                </a:moveTo>
                <a:lnTo>
                  <a:pt x="12996297" y="0"/>
                </a:lnTo>
                <a:lnTo>
                  <a:pt x="12996297" y="3625778"/>
                </a:lnTo>
                <a:lnTo>
                  <a:pt x="0" y="3625778"/>
                </a:lnTo>
                <a:lnTo>
                  <a:pt x="0" y="0"/>
                </a:lnTo>
                <a:close/>
              </a:path>
            </a:pathLst>
          </a:custGeom>
          <a:blipFill rotWithShape="1">
            <a:blip r:embed="rId5">
              <a:alphaModFix/>
            </a:blip>
            <a:stretch>
              <a:fillRect b="0" l="0" r="0" t="0"/>
            </a:stretch>
          </a:blipFill>
          <a:ln>
            <a:noFill/>
          </a:ln>
        </p:spPr>
      </p:sp>
      <p:sp>
        <p:nvSpPr>
          <p:cNvPr id="326" name="Google Shape;326;p17"/>
          <p:cNvSpPr txBox="1"/>
          <p:nvPr/>
        </p:nvSpPr>
        <p:spPr>
          <a:xfrm>
            <a:off x="1370107" y="1379823"/>
            <a:ext cx="12762117"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Menambahkan Hasil Cluster ke Dataset</a:t>
            </a:r>
            <a:endParaRPr/>
          </a:p>
        </p:txBody>
      </p:sp>
      <p:sp>
        <p:nvSpPr>
          <p:cNvPr id="327" name="Google Shape;327;p17"/>
          <p:cNvSpPr txBox="1"/>
          <p:nvPr/>
        </p:nvSpPr>
        <p:spPr>
          <a:xfrm>
            <a:off x="1370107" y="4704715"/>
            <a:ext cx="12762117"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Visualisasi Hasil Clustering</a:t>
            </a:r>
            <a:endParaRPr/>
          </a:p>
        </p:txBody>
      </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333" name="Google Shape;333;p18"/>
          <p:cNvGrpSpPr/>
          <p:nvPr/>
        </p:nvGrpSpPr>
        <p:grpSpPr>
          <a:xfrm>
            <a:off x="0" y="-180826"/>
            <a:ext cx="18215537" cy="10467826"/>
            <a:chOff x="0" y="-47625"/>
            <a:chExt cx="4797508" cy="2756958"/>
          </a:xfrm>
        </p:grpSpPr>
        <p:sp>
          <p:nvSpPr>
            <p:cNvPr id="334" name="Google Shape;334;p18"/>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335" name="Google Shape;335;p18"/>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336" name="Google Shape;336;p18"/>
          <p:cNvPicPr preferRelativeResize="0"/>
          <p:nvPr/>
        </p:nvPicPr>
        <p:blipFill rotWithShape="1">
          <a:blip r:embed="rId4">
            <a:alphaModFix/>
          </a:blip>
          <a:srcRect b="0" l="0" r="0" t="0"/>
          <a:stretch/>
        </p:blipFill>
        <p:spPr>
          <a:xfrm>
            <a:off x="990600" y="1219200"/>
            <a:ext cx="8046163" cy="7848600"/>
          </a:xfrm>
          <a:prstGeom prst="rect">
            <a:avLst/>
          </a:prstGeom>
          <a:noFill/>
          <a:ln>
            <a:noFill/>
          </a:ln>
        </p:spPr>
      </p:pic>
      <p:pic>
        <p:nvPicPr>
          <p:cNvPr id="337" name="Google Shape;337;p18"/>
          <p:cNvPicPr preferRelativeResize="0"/>
          <p:nvPr/>
        </p:nvPicPr>
        <p:blipFill rotWithShape="1">
          <a:blip r:embed="rId5">
            <a:alphaModFix/>
          </a:blip>
          <a:srcRect b="0" l="0" r="0" t="0"/>
          <a:stretch/>
        </p:blipFill>
        <p:spPr>
          <a:xfrm>
            <a:off x="9448800" y="1219200"/>
            <a:ext cx="8119511" cy="6210300"/>
          </a:xfrm>
          <a:prstGeom prst="rect">
            <a:avLst/>
          </a:prstGeom>
          <a:noFill/>
          <a:ln>
            <a:noFill/>
          </a:ln>
        </p:spPr>
      </p:pic>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343" name="Google Shape;343;p19"/>
          <p:cNvGrpSpPr/>
          <p:nvPr/>
        </p:nvGrpSpPr>
        <p:grpSpPr>
          <a:xfrm>
            <a:off x="0" y="-180826"/>
            <a:ext cx="18215537" cy="10467826"/>
            <a:chOff x="0" y="-47625"/>
            <a:chExt cx="4797508" cy="2756958"/>
          </a:xfrm>
        </p:grpSpPr>
        <p:sp>
          <p:nvSpPr>
            <p:cNvPr id="344" name="Google Shape;344;p19"/>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345" name="Google Shape;345;p19"/>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6" name="Google Shape;346;p19"/>
          <p:cNvSpPr/>
          <p:nvPr/>
        </p:nvSpPr>
        <p:spPr>
          <a:xfrm>
            <a:off x="1370107" y="2363768"/>
            <a:ext cx="11783914" cy="3768354"/>
          </a:xfrm>
          <a:custGeom>
            <a:rect b="b" l="l" r="r" t="t"/>
            <a:pathLst>
              <a:path extrusionOk="0" h="3768354" w="11783914">
                <a:moveTo>
                  <a:pt x="0" y="0"/>
                </a:moveTo>
                <a:lnTo>
                  <a:pt x="11783914" y="0"/>
                </a:lnTo>
                <a:lnTo>
                  <a:pt x="11783914" y="3768354"/>
                </a:lnTo>
                <a:lnTo>
                  <a:pt x="0" y="3768354"/>
                </a:lnTo>
                <a:lnTo>
                  <a:pt x="0" y="0"/>
                </a:lnTo>
                <a:close/>
              </a:path>
            </a:pathLst>
          </a:custGeom>
          <a:blipFill rotWithShape="1">
            <a:blip r:embed="rId4">
              <a:alphaModFix/>
            </a:blip>
            <a:stretch>
              <a:fillRect b="0" l="0" r="0" t="0"/>
            </a:stretch>
          </a:blipFill>
          <a:ln>
            <a:noFill/>
          </a:ln>
        </p:spPr>
      </p:sp>
      <p:sp>
        <p:nvSpPr>
          <p:cNvPr id="347" name="Google Shape;347;p19"/>
          <p:cNvSpPr txBox="1"/>
          <p:nvPr/>
        </p:nvSpPr>
        <p:spPr>
          <a:xfrm>
            <a:off x="1370107" y="1379823"/>
            <a:ext cx="12762117"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Evaluasi Hasil Clustering</a:t>
            </a:r>
            <a:endParaRPr/>
          </a:p>
        </p:txBody>
      </p:sp>
      <p:sp>
        <p:nvSpPr>
          <p:cNvPr id="348" name="Google Shape;348;p19"/>
          <p:cNvSpPr txBox="1"/>
          <p:nvPr/>
        </p:nvSpPr>
        <p:spPr>
          <a:xfrm>
            <a:off x="1370107" y="6627422"/>
            <a:ext cx="12762117" cy="18103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0" i="0" lang="en-US" sz="2599" u="none" cap="none" strike="noStrike">
                <a:solidFill>
                  <a:srgbClr val="162651"/>
                </a:solidFill>
                <a:latin typeface="Montserrat"/>
                <a:ea typeface="Montserrat"/>
                <a:cs typeface="Montserrat"/>
                <a:sym typeface="Montserrat"/>
              </a:rPr>
              <a:t>Interpretasi Singkat:</a:t>
            </a:r>
            <a:endParaRPr/>
          </a:p>
          <a:p>
            <a:pPr indent="-280668" lvl="1" marL="561339" marR="0" rtl="0" algn="just">
              <a:lnSpc>
                <a:spcPct val="140015"/>
              </a:lnSpc>
              <a:spcBef>
                <a:spcPts val="0"/>
              </a:spcBef>
              <a:spcAft>
                <a:spcPts val="0"/>
              </a:spcAft>
              <a:buClr>
                <a:srgbClr val="162651"/>
              </a:buClr>
              <a:buSzPts val="2599"/>
              <a:buFont typeface="Arial"/>
              <a:buChar char="•"/>
            </a:pPr>
            <a:r>
              <a:rPr b="0" i="0" lang="en-US" sz="2599" u="none" cap="none" strike="noStrike">
                <a:solidFill>
                  <a:srgbClr val="162651"/>
                </a:solidFill>
                <a:latin typeface="Montserrat"/>
                <a:ea typeface="Montserrat"/>
                <a:cs typeface="Montserrat"/>
                <a:sym typeface="Montserrat"/>
              </a:rPr>
              <a:t>Silhouette Score mendekati 1 → cluster cukup baik</a:t>
            </a:r>
            <a:endParaRPr/>
          </a:p>
          <a:p>
            <a:pPr indent="-280668" lvl="1" marL="561339" marR="0" rtl="0" algn="just">
              <a:lnSpc>
                <a:spcPct val="140015"/>
              </a:lnSpc>
              <a:spcBef>
                <a:spcPts val="0"/>
              </a:spcBef>
              <a:spcAft>
                <a:spcPts val="0"/>
              </a:spcAft>
              <a:buClr>
                <a:srgbClr val="162651"/>
              </a:buClr>
              <a:buSzPts val="2599"/>
              <a:buFont typeface="Arial"/>
              <a:buChar char="•"/>
            </a:pPr>
            <a:r>
              <a:rPr b="0" i="0" lang="en-US" sz="2599" u="none" cap="none" strike="noStrike">
                <a:solidFill>
                  <a:srgbClr val="162651"/>
                </a:solidFill>
                <a:latin typeface="Montserrat"/>
                <a:ea typeface="Montserrat"/>
                <a:cs typeface="Montserrat"/>
                <a:sym typeface="Montserrat"/>
              </a:rPr>
              <a:t>Davies–Bouldin Index kecil → cluster kompak dan terpisah</a:t>
            </a:r>
            <a:endParaRPr/>
          </a:p>
          <a:p>
            <a:pPr indent="-280668" lvl="1" marL="561339" marR="0" rtl="0" algn="just">
              <a:lnSpc>
                <a:spcPct val="140015"/>
              </a:lnSpc>
              <a:spcBef>
                <a:spcPts val="0"/>
              </a:spcBef>
              <a:spcAft>
                <a:spcPts val="0"/>
              </a:spcAft>
              <a:buClr>
                <a:srgbClr val="162651"/>
              </a:buClr>
              <a:buSzPts val="2599"/>
              <a:buFont typeface="Arial"/>
              <a:buChar char="•"/>
            </a:pPr>
            <a:r>
              <a:rPr b="0" i="0" lang="en-US" sz="2599" u="none" cap="none" strike="noStrike">
                <a:solidFill>
                  <a:srgbClr val="162651"/>
                </a:solidFill>
                <a:latin typeface="Montserrat"/>
                <a:ea typeface="Montserrat"/>
                <a:cs typeface="Montserrat"/>
                <a:sym typeface="Montserrat"/>
              </a:rPr>
              <a:t>Calinski–Harabasz Index besar → pemisahan cluster baik</a:t>
            </a:r>
            <a:endParaRPr/>
          </a:p>
        </p:txBody>
      </p:sp>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354" name="Google Shape;354;p20"/>
          <p:cNvGrpSpPr/>
          <p:nvPr/>
        </p:nvGrpSpPr>
        <p:grpSpPr>
          <a:xfrm>
            <a:off x="0" y="-180826"/>
            <a:ext cx="18215537" cy="10467826"/>
            <a:chOff x="0" y="-47625"/>
            <a:chExt cx="4797508" cy="2756958"/>
          </a:xfrm>
        </p:grpSpPr>
        <p:sp>
          <p:nvSpPr>
            <p:cNvPr id="355" name="Google Shape;355;p20"/>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356" name="Google Shape;356;p20"/>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7" name="Google Shape;357;p20"/>
          <p:cNvSpPr/>
          <p:nvPr/>
        </p:nvSpPr>
        <p:spPr>
          <a:xfrm>
            <a:off x="1370107" y="2242557"/>
            <a:ext cx="8916944" cy="6205582"/>
          </a:xfrm>
          <a:custGeom>
            <a:rect b="b" l="l" r="r" t="t"/>
            <a:pathLst>
              <a:path extrusionOk="0" h="6205582" w="8916944">
                <a:moveTo>
                  <a:pt x="0" y="0"/>
                </a:moveTo>
                <a:lnTo>
                  <a:pt x="8916945" y="0"/>
                </a:lnTo>
                <a:lnTo>
                  <a:pt x="8916945" y="6205582"/>
                </a:lnTo>
                <a:lnTo>
                  <a:pt x="0" y="6205582"/>
                </a:lnTo>
                <a:lnTo>
                  <a:pt x="0" y="0"/>
                </a:lnTo>
                <a:close/>
              </a:path>
            </a:pathLst>
          </a:custGeom>
          <a:blipFill rotWithShape="1">
            <a:blip r:embed="rId4">
              <a:alphaModFix/>
            </a:blip>
            <a:stretch>
              <a:fillRect b="0" l="0" r="0" t="0"/>
            </a:stretch>
          </a:blipFill>
          <a:ln>
            <a:noFill/>
          </a:ln>
        </p:spPr>
      </p:sp>
      <p:sp>
        <p:nvSpPr>
          <p:cNvPr id="358" name="Google Shape;358;p20"/>
          <p:cNvSpPr txBox="1"/>
          <p:nvPr/>
        </p:nvSpPr>
        <p:spPr>
          <a:xfrm>
            <a:off x="1370107" y="1379823"/>
            <a:ext cx="12762117"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Analisa Sederhana</a:t>
            </a:r>
            <a:endParaRPr/>
          </a:p>
        </p:txBody>
      </p:sp>
      <p:sp>
        <p:nvSpPr>
          <p:cNvPr id="359" name="Google Shape;359;p20"/>
          <p:cNvSpPr txBox="1"/>
          <p:nvPr/>
        </p:nvSpPr>
        <p:spPr>
          <a:xfrm>
            <a:off x="10658065" y="2372486"/>
            <a:ext cx="6241086" cy="40963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0" i="0" lang="en-US" sz="2599" u="none" cap="none" strike="noStrike">
                <a:solidFill>
                  <a:srgbClr val="162651"/>
                </a:solidFill>
                <a:latin typeface="Montserrat"/>
                <a:ea typeface="Montserrat"/>
                <a:cs typeface="Montserrat"/>
                <a:sym typeface="Montserrat"/>
              </a:rPr>
              <a:t>Interpretasi Singkat:</a:t>
            </a:r>
            <a:endParaRPr/>
          </a:p>
          <a:p>
            <a:pPr indent="-280668" lvl="1" marL="561339" marR="0" rtl="0" algn="just">
              <a:lnSpc>
                <a:spcPct val="140015"/>
              </a:lnSpc>
              <a:spcBef>
                <a:spcPts val="0"/>
              </a:spcBef>
              <a:spcAft>
                <a:spcPts val="0"/>
              </a:spcAft>
              <a:buClr>
                <a:srgbClr val="162651"/>
              </a:buClr>
              <a:buSzPts val="2599"/>
              <a:buFont typeface="Arial"/>
              <a:buChar char="•"/>
            </a:pPr>
            <a:r>
              <a:rPr b="0" i="0" lang="en-US" sz="2599" u="none" cap="none" strike="noStrike">
                <a:solidFill>
                  <a:srgbClr val="162651"/>
                </a:solidFill>
                <a:latin typeface="Montserrat"/>
                <a:ea typeface="Montserrat"/>
                <a:cs typeface="Montserrat"/>
                <a:sym typeface="Montserrat"/>
              </a:rPr>
              <a:t>Cluster 0 – Mahasiswa dengan Performa Akademik Rendah–Menengah</a:t>
            </a:r>
            <a:endParaRPr/>
          </a:p>
          <a:p>
            <a:pPr indent="-280668" lvl="1" marL="561339" marR="0" rtl="0" algn="just">
              <a:lnSpc>
                <a:spcPct val="140015"/>
              </a:lnSpc>
              <a:spcBef>
                <a:spcPts val="0"/>
              </a:spcBef>
              <a:spcAft>
                <a:spcPts val="0"/>
              </a:spcAft>
              <a:buClr>
                <a:srgbClr val="162651"/>
              </a:buClr>
              <a:buSzPts val="2599"/>
              <a:buFont typeface="Arial"/>
              <a:buChar char="•"/>
            </a:pPr>
            <a:r>
              <a:rPr b="0" i="0" lang="en-US" sz="2599" u="none" cap="none" strike="noStrike">
                <a:solidFill>
                  <a:srgbClr val="162651"/>
                </a:solidFill>
                <a:latin typeface="Montserrat"/>
                <a:ea typeface="Montserrat"/>
                <a:cs typeface="Montserrat"/>
                <a:sym typeface="Montserrat"/>
              </a:rPr>
              <a:t>Cluster 1 – Mahasiswa dengan Performa Akademik Sangat Baik</a:t>
            </a:r>
            <a:endParaRPr/>
          </a:p>
          <a:p>
            <a:pPr indent="-280668" lvl="1" marL="561339" marR="0" rtl="0" algn="just">
              <a:lnSpc>
                <a:spcPct val="140015"/>
              </a:lnSpc>
              <a:spcBef>
                <a:spcPts val="0"/>
              </a:spcBef>
              <a:spcAft>
                <a:spcPts val="0"/>
              </a:spcAft>
              <a:buClr>
                <a:srgbClr val="162651"/>
              </a:buClr>
              <a:buSzPts val="2599"/>
              <a:buFont typeface="Arial"/>
              <a:buChar char="•"/>
            </a:pPr>
            <a:r>
              <a:rPr b="0" i="0" lang="en-US" sz="2599" u="none" cap="none" strike="noStrike">
                <a:solidFill>
                  <a:srgbClr val="162651"/>
                </a:solidFill>
                <a:latin typeface="Montserrat"/>
                <a:ea typeface="Montserrat"/>
                <a:cs typeface="Montserrat"/>
                <a:sym typeface="Montserrat"/>
              </a:rPr>
              <a:t>Cluster 2 – Mahasiswa dengan Performa Akademik Baik dan Stabil</a:t>
            </a:r>
            <a:endParaRPr/>
          </a:p>
        </p:txBody>
      </p:sp>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365" name="Google Shape;365;p21"/>
          <p:cNvGrpSpPr/>
          <p:nvPr/>
        </p:nvGrpSpPr>
        <p:grpSpPr>
          <a:xfrm>
            <a:off x="0" y="-180826"/>
            <a:ext cx="18215537" cy="10467826"/>
            <a:chOff x="0" y="-47625"/>
            <a:chExt cx="4797508" cy="2756958"/>
          </a:xfrm>
        </p:grpSpPr>
        <p:sp>
          <p:nvSpPr>
            <p:cNvPr id="366" name="Google Shape;366;p21"/>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367" name="Google Shape;367;p21"/>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8" name="Google Shape;368;p21"/>
          <p:cNvSpPr/>
          <p:nvPr/>
        </p:nvSpPr>
        <p:spPr>
          <a:xfrm>
            <a:off x="9820202" y="3376659"/>
            <a:ext cx="8198131" cy="6910341"/>
          </a:xfrm>
          <a:custGeom>
            <a:rect b="b" l="l" r="r" t="t"/>
            <a:pathLst>
              <a:path extrusionOk="0" h="6910341" w="8198131">
                <a:moveTo>
                  <a:pt x="0" y="0"/>
                </a:moveTo>
                <a:lnTo>
                  <a:pt x="8198131" y="0"/>
                </a:lnTo>
                <a:lnTo>
                  <a:pt x="8198131" y="6910341"/>
                </a:lnTo>
                <a:lnTo>
                  <a:pt x="0" y="6910341"/>
                </a:lnTo>
                <a:lnTo>
                  <a:pt x="0" y="0"/>
                </a:lnTo>
                <a:close/>
              </a:path>
            </a:pathLst>
          </a:custGeom>
          <a:blipFill rotWithShape="1">
            <a:blip r:embed="rId4">
              <a:alphaModFix/>
            </a:blip>
            <a:stretch>
              <a:fillRect b="0" l="0" r="0" t="0"/>
            </a:stretch>
          </a:blipFill>
          <a:ln>
            <a:noFill/>
          </a:ln>
        </p:spPr>
      </p:sp>
      <p:sp>
        <p:nvSpPr>
          <p:cNvPr id="369" name="Google Shape;369;p21"/>
          <p:cNvSpPr txBox="1"/>
          <p:nvPr/>
        </p:nvSpPr>
        <p:spPr>
          <a:xfrm>
            <a:off x="1370107" y="1232732"/>
            <a:ext cx="12762117"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Praktikum Clustering K-Means</a:t>
            </a:r>
            <a:endParaRPr/>
          </a:p>
        </p:txBody>
      </p:sp>
      <p:sp>
        <p:nvSpPr>
          <p:cNvPr id="370" name="Google Shape;370;p21"/>
          <p:cNvSpPr txBox="1"/>
          <p:nvPr/>
        </p:nvSpPr>
        <p:spPr>
          <a:xfrm>
            <a:off x="1370107" y="2149780"/>
            <a:ext cx="7941455" cy="50063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1" i="0" lang="en-US" sz="2400" u="none" cap="none" strike="noStrike">
                <a:solidFill>
                  <a:srgbClr val="162651"/>
                </a:solidFill>
                <a:latin typeface="Montserrat"/>
                <a:ea typeface="Montserrat"/>
                <a:cs typeface="Montserrat"/>
                <a:sym typeface="Montserrat"/>
              </a:rPr>
              <a:t>Studi Kasus</a:t>
            </a:r>
            <a:endParaRPr/>
          </a:p>
          <a:p>
            <a:pPr indent="0" lvl="0" marL="0" marR="0" rtl="0" algn="l">
              <a:lnSpc>
                <a:spcPct val="139958"/>
              </a:lnSpc>
              <a:spcBef>
                <a:spcPts val="0"/>
              </a:spcBef>
              <a:spcAft>
                <a:spcPts val="0"/>
              </a:spcAft>
              <a:buNone/>
            </a:pPr>
            <a:r>
              <a:t/>
            </a:r>
            <a:endParaRPr b="1" i="0" sz="2400" u="none" cap="none" strike="noStrike">
              <a:solidFill>
                <a:srgbClr val="162651"/>
              </a:solidFill>
              <a:latin typeface="Montserrat"/>
              <a:ea typeface="Montserrat"/>
              <a:cs typeface="Montserrat"/>
              <a:sym typeface="Montserrat"/>
            </a:endParaRPr>
          </a:p>
          <a:p>
            <a:pPr indent="0" lvl="0" marL="0" marR="0" rtl="0" algn="l">
              <a:lnSpc>
                <a:spcPct val="139958"/>
              </a:lnSpc>
              <a:spcBef>
                <a:spcPts val="0"/>
              </a:spcBef>
              <a:spcAft>
                <a:spcPts val="0"/>
              </a:spcAft>
              <a:buNone/>
            </a:pPr>
            <a:r>
              <a:rPr b="0" i="0" lang="en-US" sz="2400" u="none" cap="none" strike="noStrike">
                <a:solidFill>
                  <a:srgbClr val="162651"/>
                </a:solidFill>
                <a:latin typeface="Montserrat"/>
                <a:ea typeface="Montserrat"/>
                <a:cs typeface="Montserrat"/>
                <a:sym typeface="Montserrat"/>
              </a:rPr>
              <a:t>Segmentasi Pelanggan E-Commerce Berdasarkan Perilaku Transaksi</a:t>
            </a:r>
            <a:endParaRPr/>
          </a:p>
          <a:p>
            <a:pPr indent="0" lvl="0" marL="0" marR="0" rtl="0" algn="l">
              <a:lnSpc>
                <a:spcPct val="139958"/>
              </a:lnSpc>
              <a:spcBef>
                <a:spcPts val="0"/>
              </a:spcBef>
              <a:spcAft>
                <a:spcPts val="0"/>
              </a:spcAft>
              <a:buNone/>
            </a:pPr>
            <a:r>
              <a:t/>
            </a:r>
            <a:endParaRPr b="0" i="0" sz="2400" u="none" cap="none" strike="noStrike">
              <a:solidFill>
                <a:srgbClr val="162651"/>
              </a:solidFill>
              <a:latin typeface="Montserrat"/>
              <a:ea typeface="Montserrat"/>
              <a:cs typeface="Montserrat"/>
              <a:sym typeface="Montserrat"/>
            </a:endParaRPr>
          </a:p>
          <a:p>
            <a:pPr indent="0" lvl="0" marL="0" marR="0" rtl="0" algn="l">
              <a:lnSpc>
                <a:spcPct val="139958"/>
              </a:lnSpc>
              <a:spcBef>
                <a:spcPts val="0"/>
              </a:spcBef>
              <a:spcAft>
                <a:spcPts val="0"/>
              </a:spcAft>
              <a:buNone/>
            </a:pPr>
            <a:r>
              <a:rPr b="0" i="0" lang="en-US" sz="2400" u="none" cap="none" strike="noStrike">
                <a:solidFill>
                  <a:srgbClr val="162651"/>
                </a:solidFill>
                <a:latin typeface="Montserrat"/>
                <a:ea typeface="Montserrat"/>
                <a:cs typeface="Montserrat"/>
                <a:sym typeface="Montserrat"/>
              </a:rPr>
              <a:t>Sebuah perusahaan e-commerce ingin mengelompokkan pelanggan berdasarkan perilaku transaksi untuk menentukan strategi pemasaran yang tepat. Data pelanggan tidak memiliki label, sehingga digunakan metode clustering.</a:t>
            </a:r>
            <a:endParaRPr/>
          </a:p>
          <a:p>
            <a:pPr indent="0" lvl="0" marL="0" marR="0" rtl="0" algn="l">
              <a:lnSpc>
                <a:spcPct val="139958"/>
              </a:lnSpc>
              <a:spcBef>
                <a:spcPts val="0"/>
              </a:spcBef>
              <a:spcAft>
                <a:spcPts val="0"/>
              </a:spcAft>
              <a:buNone/>
            </a:pPr>
            <a:r>
              <a:t/>
            </a:r>
            <a:endParaRPr b="0" i="0" sz="2400" u="none" cap="none" strike="noStrike">
              <a:solidFill>
                <a:srgbClr val="162651"/>
              </a:solidFill>
              <a:latin typeface="Montserrat"/>
              <a:ea typeface="Montserrat"/>
              <a:cs typeface="Montserrat"/>
              <a:sym typeface="Montserrat"/>
            </a:endParaRPr>
          </a:p>
          <a:p>
            <a:pPr indent="0" lvl="0" marL="0" marR="0" rtl="0" algn="l">
              <a:lnSpc>
                <a:spcPct val="139958"/>
              </a:lnSpc>
              <a:spcBef>
                <a:spcPts val="0"/>
              </a:spcBef>
              <a:spcAft>
                <a:spcPts val="0"/>
              </a:spcAft>
              <a:buNone/>
            </a:pPr>
            <a:r>
              <a:t/>
            </a:r>
            <a:endParaRPr b="0" i="0" sz="2400" u="none" cap="none" strike="noStrike">
              <a:solidFill>
                <a:srgbClr val="162651"/>
              </a:solidFill>
              <a:latin typeface="Montserrat"/>
              <a:ea typeface="Montserrat"/>
              <a:cs typeface="Montserrat"/>
              <a:sym typeface="Montserrat"/>
            </a:endParaRPr>
          </a:p>
        </p:txBody>
      </p:sp>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376" name="Google Shape;376;p22"/>
          <p:cNvGrpSpPr/>
          <p:nvPr/>
        </p:nvGrpSpPr>
        <p:grpSpPr>
          <a:xfrm>
            <a:off x="0" y="-180826"/>
            <a:ext cx="18215537" cy="10467826"/>
            <a:chOff x="0" y="-47625"/>
            <a:chExt cx="4797508" cy="2756958"/>
          </a:xfrm>
        </p:grpSpPr>
        <p:sp>
          <p:nvSpPr>
            <p:cNvPr id="377" name="Google Shape;377;p22"/>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378" name="Google Shape;378;p22"/>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9" name="Google Shape;379;p22"/>
          <p:cNvSpPr/>
          <p:nvPr/>
        </p:nvSpPr>
        <p:spPr>
          <a:xfrm>
            <a:off x="1028700" y="2334717"/>
            <a:ext cx="16230600" cy="3809870"/>
          </a:xfrm>
          <a:custGeom>
            <a:rect b="b" l="l" r="r" t="t"/>
            <a:pathLst>
              <a:path extrusionOk="0" h="3809870" w="16230600">
                <a:moveTo>
                  <a:pt x="0" y="0"/>
                </a:moveTo>
                <a:lnTo>
                  <a:pt x="16230600" y="0"/>
                </a:lnTo>
                <a:lnTo>
                  <a:pt x="16230600" y="3809869"/>
                </a:lnTo>
                <a:lnTo>
                  <a:pt x="0" y="3809869"/>
                </a:lnTo>
                <a:lnTo>
                  <a:pt x="0" y="0"/>
                </a:lnTo>
                <a:close/>
              </a:path>
            </a:pathLst>
          </a:custGeom>
          <a:blipFill rotWithShape="1">
            <a:blip r:embed="rId4">
              <a:alphaModFix/>
            </a:blip>
            <a:stretch>
              <a:fillRect b="0" l="-829" r="-4076" t="0"/>
            </a:stretch>
          </a:blipFill>
          <a:ln>
            <a:noFill/>
          </a:ln>
        </p:spPr>
      </p:sp>
      <p:sp>
        <p:nvSpPr>
          <p:cNvPr id="380" name="Google Shape;380;p22"/>
          <p:cNvSpPr txBox="1"/>
          <p:nvPr/>
        </p:nvSpPr>
        <p:spPr>
          <a:xfrm>
            <a:off x="1028700" y="1428853"/>
            <a:ext cx="12762117"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Import Library yang Digunakaneriksa Struktur dan Tipe Data</a:t>
            </a:r>
            <a:endParaRPr/>
          </a:p>
        </p:txBody>
      </p:sp>
    </p:spTree>
  </p:cSld>
  <p:clrMapOvr>
    <a:masterClrMapping/>
  </p:clrMapOvr>
  <p:transition spd="slow">
    <p:push/>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386" name="Google Shape;386;p23"/>
          <p:cNvGrpSpPr/>
          <p:nvPr/>
        </p:nvGrpSpPr>
        <p:grpSpPr>
          <a:xfrm>
            <a:off x="0" y="-180826"/>
            <a:ext cx="18215537" cy="10467826"/>
            <a:chOff x="0" y="-47625"/>
            <a:chExt cx="4797508" cy="2756958"/>
          </a:xfrm>
        </p:grpSpPr>
        <p:sp>
          <p:nvSpPr>
            <p:cNvPr id="387" name="Google Shape;387;p23"/>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388" name="Google Shape;388;p23"/>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9" name="Google Shape;389;p23"/>
          <p:cNvSpPr/>
          <p:nvPr/>
        </p:nvSpPr>
        <p:spPr>
          <a:xfrm>
            <a:off x="1028700" y="2061630"/>
            <a:ext cx="11267323" cy="6769045"/>
          </a:xfrm>
          <a:custGeom>
            <a:rect b="b" l="l" r="r" t="t"/>
            <a:pathLst>
              <a:path extrusionOk="0" h="6769045" w="11267323">
                <a:moveTo>
                  <a:pt x="0" y="0"/>
                </a:moveTo>
                <a:lnTo>
                  <a:pt x="11267323" y="0"/>
                </a:lnTo>
                <a:lnTo>
                  <a:pt x="11267323" y="6769045"/>
                </a:lnTo>
                <a:lnTo>
                  <a:pt x="0" y="6769045"/>
                </a:lnTo>
                <a:lnTo>
                  <a:pt x="0" y="0"/>
                </a:lnTo>
                <a:close/>
              </a:path>
            </a:pathLst>
          </a:custGeom>
          <a:blipFill rotWithShape="1">
            <a:blip r:embed="rId4">
              <a:alphaModFix/>
            </a:blip>
            <a:stretch>
              <a:fillRect b="0" l="0" r="0" t="0"/>
            </a:stretch>
          </a:blipFill>
          <a:ln>
            <a:noFill/>
          </a:ln>
        </p:spPr>
      </p:sp>
      <p:sp>
        <p:nvSpPr>
          <p:cNvPr id="390" name="Google Shape;390;p23"/>
          <p:cNvSpPr txBox="1"/>
          <p:nvPr/>
        </p:nvSpPr>
        <p:spPr>
          <a:xfrm>
            <a:off x="1028700" y="1428853"/>
            <a:ext cx="12762117"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Membuat Dataset</a:t>
            </a:r>
            <a:endParaRPr/>
          </a:p>
        </p:txBody>
      </p:sp>
    </p:spTree>
  </p:cSld>
  <p:clrMapOvr>
    <a:masterClrMapping/>
  </p:clrMapOvr>
  <p:transition spd="slow">
    <p:push/>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396" name="Google Shape;396;p24"/>
          <p:cNvGrpSpPr/>
          <p:nvPr/>
        </p:nvGrpSpPr>
        <p:grpSpPr>
          <a:xfrm>
            <a:off x="0" y="-180826"/>
            <a:ext cx="18215537" cy="10467826"/>
            <a:chOff x="0" y="-47625"/>
            <a:chExt cx="4797508" cy="2756958"/>
          </a:xfrm>
        </p:grpSpPr>
        <p:sp>
          <p:nvSpPr>
            <p:cNvPr id="397" name="Google Shape;397;p24"/>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398" name="Google Shape;398;p24"/>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99" name="Google Shape;399;p24"/>
          <p:cNvSpPr/>
          <p:nvPr/>
        </p:nvSpPr>
        <p:spPr>
          <a:xfrm>
            <a:off x="1028700" y="2403144"/>
            <a:ext cx="15774075" cy="5659965"/>
          </a:xfrm>
          <a:custGeom>
            <a:rect b="b" l="l" r="r" t="t"/>
            <a:pathLst>
              <a:path extrusionOk="0" h="5659965" w="15774075">
                <a:moveTo>
                  <a:pt x="0" y="0"/>
                </a:moveTo>
                <a:lnTo>
                  <a:pt x="15774075" y="0"/>
                </a:lnTo>
                <a:lnTo>
                  <a:pt x="15774075" y="5659965"/>
                </a:lnTo>
                <a:lnTo>
                  <a:pt x="0" y="5659965"/>
                </a:lnTo>
                <a:lnTo>
                  <a:pt x="0" y="0"/>
                </a:lnTo>
                <a:close/>
              </a:path>
            </a:pathLst>
          </a:custGeom>
          <a:blipFill rotWithShape="1">
            <a:blip r:embed="rId4">
              <a:alphaModFix/>
            </a:blip>
            <a:stretch>
              <a:fillRect b="0" l="0" r="0" t="0"/>
            </a:stretch>
          </a:blipFill>
          <a:ln>
            <a:noFill/>
          </a:ln>
        </p:spPr>
      </p:sp>
      <p:sp>
        <p:nvSpPr>
          <p:cNvPr id="400" name="Google Shape;400;p24"/>
          <p:cNvSpPr txBox="1"/>
          <p:nvPr/>
        </p:nvSpPr>
        <p:spPr>
          <a:xfrm>
            <a:off x="1028700" y="1428853"/>
            <a:ext cx="12762117"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Normalisasi Data</a:t>
            </a:r>
            <a:endParaRPr/>
          </a:p>
        </p:txBody>
      </p:sp>
    </p:spTree>
  </p:cSld>
  <p:clrMapOvr>
    <a:masterClrMapping/>
  </p:clrMapOvr>
  <p:transition spd="slow">
    <p:push/>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406" name="Google Shape;406;p25"/>
          <p:cNvGrpSpPr/>
          <p:nvPr/>
        </p:nvGrpSpPr>
        <p:grpSpPr>
          <a:xfrm>
            <a:off x="0" y="-180826"/>
            <a:ext cx="18215537" cy="10467826"/>
            <a:chOff x="0" y="-47625"/>
            <a:chExt cx="4797508" cy="2756958"/>
          </a:xfrm>
        </p:grpSpPr>
        <p:sp>
          <p:nvSpPr>
            <p:cNvPr id="407" name="Google Shape;407;p25"/>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408" name="Google Shape;408;p25"/>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9" name="Google Shape;409;p25"/>
          <p:cNvSpPr/>
          <p:nvPr/>
        </p:nvSpPr>
        <p:spPr>
          <a:xfrm>
            <a:off x="1028700" y="2272318"/>
            <a:ext cx="13041814" cy="4281472"/>
          </a:xfrm>
          <a:custGeom>
            <a:rect b="b" l="l" r="r" t="t"/>
            <a:pathLst>
              <a:path extrusionOk="0" h="4281472" w="13041814">
                <a:moveTo>
                  <a:pt x="0" y="0"/>
                </a:moveTo>
                <a:lnTo>
                  <a:pt x="13041814" y="0"/>
                </a:lnTo>
                <a:lnTo>
                  <a:pt x="13041814" y="4281472"/>
                </a:lnTo>
                <a:lnTo>
                  <a:pt x="0" y="4281472"/>
                </a:lnTo>
                <a:lnTo>
                  <a:pt x="0" y="0"/>
                </a:lnTo>
                <a:close/>
              </a:path>
            </a:pathLst>
          </a:custGeom>
          <a:blipFill rotWithShape="1">
            <a:blip r:embed="rId4">
              <a:alphaModFix/>
            </a:blip>
            <a:stretch>
              <a:fillRect b="0" l="0" r="0" t="-3696"/>
            </a:stretch>
          </a:blipFill>
          <a:ln>
            <a:noFill/>
          </a:ln>
        </p:spPr>
      </p:sp>
      <p:sp>
        <p:nvSpPr>
          <p:cNvPr id="410" name="Google Shape;410;p25"/>
          <p:cNvSpPr txBox="1"/>
          <p:nvPr/>
        </p:nvSpPr>
        <p:spPr>
          <a:xfrm>
            <a:off x="1028700" y="1428853"/>
            <a:ext cx="12762117"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Penerapan K-Means</a:t>
            </a:r>
            <a:endParaRPr/>
          </a:p>
        </p:txBody>
      </p:sp>
    </p:spTree>
  </p:cSld>
  <p:clrMapOvr>
    <a:masterClrMapping/>
  </p:clrMapOvr>
  <p:transition spd="slow">
    <p:push/>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2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416" name="Google Shape;416;p26"/>
          <p:cNvGrpSpPr/>
          <p:nvPr/>
        </p:nvGrpSpPr>
        <p:grpSpPr>
          <a:xfrm>
            <a:off x="0" y="-180826"/>
            <a:ext cx="18215537" cy="10467826"/>
            <a:chOff x="0" y="-47625"/>
            <a:chExt cx="4797508" cy="2756958"/>
          </a:xfrm>
        </p:grpSpPr>
        <p:sp>
          <p:nvSpPr>
            <p:cNvPr id="417" name="Google Shape;417;p26"/>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418" name="Google Shape;418;p26"/>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19" name="Google Shape;419;p26"/>
          <p:cNvSpPr/>
          <p:nvPr/>
        </p:nvSpPr>
        <p:spPr>
          <a:xfrm>
            <a:off x="1028700" y="2174547"/>
            <a:ext cx="15864777" cy="4091067"/>
          </a:xfrm>
          <a:custGeom>
            <a:rect b="b" l="l" r="r" t="t"/>
            <a:pathLst>
              <a:path extrusionOk="0" h="4091067" w="15864777">
                <a:moveTo>
                  <a:pt x="0" y="0"/>
                </a:moveTo>
                <a:lnTo>
                  <a:pt x="15864777" y="0"/>
                </a:lnTo>
                <a:lnTo>
                  <a:pt x="15864777" y="4091067"/>
                </a:lnTo>
                <a:lnTo>
                  <a:pt x="0" y="4091067"/>
                </a:lnTo>
                <a:lnTo>
                  <a:pt x="0" y="0"/>
                </a:lnTo>
                <a:close/>
              </a:path>
            </a:pathLst>
          </a:custGeom>
          <a:blipFill rotWithShape="1">
            <a:blip r:embed="rId4">
              <a:alphaModFix/>
            </a:blip>
            <a:stretch>
              <a:fillRect b="0" l="0" r="0" t="0"/>
            </a:stretch>
          </a:blipFill>
          <a:ln>
            <a:noFill/>
          </a:ln>
        </p:spPr>
      </p:sp>
      <p:sp>
        <p:nvSpPr>
          <p:cNvPr id="420" name="Google Shape;420;p26"/>
          <p:cNvSpPr txBox="1"/>
          <p:nvPr/>
        </p:nvSpPr>
        <p:spPr>
          <a:xfrm>
            <a:off x="1028700" y="1428853"/>
            <a:ext cx="12762117"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Visualisasi Hasil Clustering</a:t>
            </a:r>
            <a:endParaRPr/>
          </a:p>
        </p:txBody>
      </p:sp>
    </p:spTree>
  </p:cSld>
  <p:clrMapOvr>
    <a:masterClrMapping/>
  </p:clrMapOvr>
  <p:transition spd="slow">
    <p:push/>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2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426" name="Google Shape;426;p27"/>
          <p:cNvGrpSpPr/>
          <p:nvPr/>
        </p:nvGrpSpPr>
        <p:grpSpPr>
          <a:xfrm>
            <a:off x="0" y="-180826"/>
            <a:ext cx="18215537" cy="10467826"/>
            <a:chOff x="0" y="-47625"/>
            <a:chExt cx="4797508" cy="2756958"/>
          </a:xfrm>
        </p:grpSpPr>
        <p:sp>
          <p:nvSpPr>
            <p:cNvPr id="427" name="Google Shape;427;p27"/>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428" name="Google Shape;428;p27"/>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9" name="Google Shape;429;p27"/>
          <p:cNvSpPr/>
          <p:nvPr/>
        </p:nvSpPr>
        <p:spPr>
          <a:xfrm>
            <a:off x="1028700" y="2254102"/>
            <a:ext cx="14607060" cy="5155433"/>
          </a:xfrm>
          <a:custGeom>
            <a:rect b="b" l="l" r="r" t="t"/>
            <a:pathLst>
              <a:path extrusionOk="0" h="5155433" w="14607060">
                <a:moveTo>
                  <a:pt x="0" y="0"/>
                </a:moveTo>
                <a:lnTo>
                  <a:pt x="14607060" y="0"/>
                </a:lnTo>
                <a:lnTo>
                  <a:pt x="14607060" y="5155433"/>
                </a:lnTo>
                <a:lnTo>
                  <a:pt x="0" y="5155433"/>
                </a:lnTo>
                <a:lnTo>
                  <a:pt x="0" y="0"/>
                </a:lnTo>
                <a:close/>
              </a:path>
            </a:pathLst>
          </a:custGeom>
          <a:blipFill rotWithShape="1">
            <a:blip r:embed="rId4">
              <a:alphaModFix/>
            </a:blip>
            <a:stretch>
              <a:fillRect b="0" l="0" r="0" t="0"/>
            </a:stretch>
          </a:blipFill>
          <a:ln>
            <a:noFill/>
          </a:ln>
        </p:spPr>
      </p:sp>
      <p:sp>
        <p:nvSpPr>
          <p:cNvPr id="430" name="Google Shape;430;p27"/>
          <p:cNvSpPr txBox="1"/>
          <p:nvPr/>
        </p:nvSpPr>
        <p:spPr>
          <a:xfrm>
            <a:off x="1028700" y="1428853"/>
            <a:ext cx="12762117"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Evaluasi Hasil Clustering</a:t>
            </a:r>
            <a:endParaRPr/>
          </a:p>
        </p:txBody>
      </p:sp>
    </p:spTree>
  </p:cSld>
  <p:clrMapOvr>
    <a:masterClrMapping/>
  </p:clrMapOvr>
  <p:transition spd="slow">
    <p:push/>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2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436" name="Google Shape;436;p28"/>
          <p:cNvGrpSpPr/>
          <p:nvPr/>
        </p:nvGrpSpPr>
        <p:grpSpPr>
          <a:xfrm>
            <a:off x="0" y="-180826"/>
            <a:ext cx="18215537" cy="10467826"/>
            <a:chOff x="0" y="-47625"/>
            <a:chExt cx="4797508" cy="2756958"/>
          </a:xfrm>
        </p:grpSpPr>
        <p:sp>
          <p:nvSpPr>
            <p:cNvPr id="437" name="Google Shape;437;p28"/>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438" name="Google Shape;438;p28"/>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39" name="Google Shape;439;p28"/>
          <p:cNvSpPr/>
          <p:nvPr/>
        </p:nvSpPr>
        <p:spPr>
          <a:xfrm>
            <a:off x="1028700" y="2240779"/>
            <a:ext cx="11415780" cy="5801462"/>
          </a:xfrm>
          <a:custGeom>
            <a:rect b="b" l="l" r="r" t="t"/>
            <a:pathLst>
              <a:path extrusionOk="0" h="5801462" w="11415780">
                <a:moveTo>
                  <a:pt x="0" y="0"/>
                </a:moveTo>
                <a:lnTo>
                  <a:pt x="11415780" y="0"/>
                </a:lnTo>
                <a:lnTo>
                  <a:pt x="11415780" y="5801462"/>
                </a:lnTo>
                <a:lnTo>
                  <a:pt x="0" y="5801462"/>
                </a:lnTo>
                <a:lnTo>
                  <a:pt x="0" y="0"/>
                </a:lnTo>
                <a:close/>
              </a:path>
            </a:pathLst>
          </a:custGeom>
          <a:blipFill rotWithShape="1">
            <a:blip r:embed="rId4">
              <a:alphaModFix/>
            </a:blip>
            <a:stretch>
              <a:fillRect b="0" l="0" r="0" t="0"/>
            </a:stretch>
          </a:blipFill>
          <a:ln>
            <a:noFill/>
          </a:ln>
        </p:spPr>
      </p:sp>
      <p:sp>
        <p:nvSpPr>
          <p:cNvPr id="440" name="Google Shape;440;p28"/>
          <p:cNvSpPr txBox="1"/>
          <p:nvPr/>
        </p:nvSpPr>
        <p:spPr>
          <a:xfrm>
            <a:off x="1028700" y="1428853"/>
            <a:ext cx="12762117" cy="43878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Analisa Sederhana</a:t>
            </a:r>
            <a:endParaRPr/>
          </a:p>
        </p:txBody>
      </p:sp>
    </p:spTree>
  </p:cSld>
  <p:clrMapOvr>
    <a:masterClrMapping/>
  </p:clrMapOvr>
  <p:transition spd="slow">
    <p:push/>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2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4877" r="-4876" t="0"/>
            </a:stretch>
          </a:blipFill>
          <a:ln>
            <a:noFill/>
          </a:ln>
        </p:spPr>
      </p:sp>
      <p:grpSp>
        <p:nvGrpSpPr>
          <p:cNvPr id="446" name="Google Shape;446;p29"/>
          <p:cNvGrpSpPr/>
          <p:nvPr/>
        </p:nvGrpSpPr>
        <p:grpSpPr>
          <a:xfrm>
            <a:off x="0" y="-180826"/>
            <a:ext cx="18215537" cy="10467826"/>
            <a:chOff x="0" y="-47625"/>
            <a:chExt cx="4797508" cy="2756958"/>
          </a:xfrm>
        </p:grpSpPr>
        <p:sp>
          <p:nvSpPr>
            <p:cNvPr id="447" name="Google Shape;447;p29"/>
            <p:cNvSpPr/>
            <p:nvPr/>
          </p:nvSpPr>
          <p:spPr>
            <a:xfrm>
              <a:off x="0" y="0"/>
              <a:ext cx="4797508" cy="2709333"/>
            </a:xfrm>
            <a:custGeom>
              <a:rect b="b" l="l" r="r" t="t"/>
              <a:pathLst>
                <a:path extrusionOk="0" h="2709333" w="4797508">
                  <a:moveTo>
                    <a:pt x="0" y="0"/>
                  </a:moveTo>
                  <a:lnTo>
                    <a:pt x="4797508" y="0"/>
                  </a:lnTo>
                  <a:lnTo>
                    <a:pt x="4797508" y="2709333"/>
                  </a:lnTo>
                  <a:lnTo>
                    <a:pt x="0" y="2709333"/>
                  </a:lnTo>
                  <a:close/>
                </a:path>
              </a:pathLst>
            </a:custGeom>
            <a:solidFill>
              <a:srgbClr val="FAFAFF">
                <a:alpha val="21960"/>
              </a:srgbClr>
            </a:solidFill>
            <a:ln>
              <a:noFill/>
            </a:ln>
          </p:spPr>
        </p:sp>
        <p:sp>
          <p:nvSpPr>
            <p:cNvPr id="448" name="Google Shape;448;p29"/>
            <p:cNvSpPr txBox="1"/>
            <p:nvPr/>
          </p:nvSpPr>
          <p:spPr>
            <a:xfrm>
              <a:off x="0" y="-47625"/>
              <a:ext cx="479750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95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49" name="Google Shape;449;p29"/>
          <p:cNvSpPr/>
          <p:nvPr/>
        </p:nvSpPr>
        <p:spPr>
          <a:xfrm flipH="1">
            <a:off x="5695556" y="3310519"/>
            <a:ext cx="6555397" cy="6571827"/>
          </a:xfrm>
          <a:custGeom>
            <a:rect b="b" l="l" r="r" t="t"/>
            <a:pathLst>
              <a:path extrusionOk="0" h="6571827" w="6555397">
                <a:moveTo>
                  <a:pt x="6555398" y="0"/>
                </a:moveTo>
                <a:lnTo>
                  <a:pt x="0" y="0"/>
                </a:lnTo>
                <a:lnTo>
                  <a:pt x="0" y="6571826"/>
                </a:lnTo>
                <a:lnTo>
                  <a:pt x="6555398" y="6571826"/>
                </a:lnTo>
                <a:lnTo>
                  <a:pt x="6555398" y="0"/>
                </a:lnTo>
                <a:close/>
              </a:path>
            </a:pathLst>
          </a:custGeom>
          <a:blipFill rotWithShape="1">
            <a:blip r:embed="rId4">
              <a:alphaModFix/>
            </a:blip>
            <a:stretch>
              <a:fillRect b="0" l="0" r="0" t="0"/>
            </a:stretch>
          </a:blipFill>
          <a:ln>
            <a:noFill/>
          </a:ln>
        </p:spPr>
      </p:sp>
      <p:sp>
        <p:nvSpPr>
          <p:cNvPr id="450" name="Google Shape;450;p29"/>
          <p:cNvSpPr txBox="1"/>
          <p:nvPr/>
        </p:nvSpPr>
        <p:spPr>
          <a:xfrm>
            <a:off x="1318103" y="1544808"/>
            <a:ext cx="7409866" cy="795021"/>
          </a:xfrm>
          <a:prstGeom prst="rect">
            <a:avLst/>
          </a:prstGeom>
          <a:noFill/>
          <a:ln>
            <a:noFill/>
          </a:ln>
        </p:spPr>
        <p:txBody>
          <a:bodyPr anchorCtr="0" anchor="t" bIns="0" lIns="0" spcFirstLastPara="1" rIns="0" wrap="square" tIns="0">
            <a:spAutoFit/>
          </a:bodyPr>
          <a:lstStyle/>
          <a:p>
            <a:pPr indent="0" lvl="0" marL="0" marR="0" rtl="0" algn="just">
              <a:lnSpc>
                <a:spcPct val="140008"/>
              </a:lnSpc>
              <a:spcBef>
                <a:spcPts val="0"/>
              </a:spcBef>
              <a:spcAft>
                <a:spcPts val="0"/>
              </a:spcAft>
              <a:buNone/>
            </a:pPr>
            <a:r>
              <a:rPr b="1" i="0" lang="en-US" sz="4699" u="none" cap="none" strike="noStrike">
                <a:solidFill>
                  <a:srgbClr val="162651"/>
                </a:solidFill>
                <a:latin typeface="Montserrat"/>
                <a:ea typeface="Montserrat"/>
                <a:cs typeface="Montserrat"/>
                <a:sym typeface="Montserrat"/>
              </a:rPr>
              <a:t>Praktik Mandiri</a:t>
            </a:r>
            <a:endParaRPr/>
          </a:p>
        </p:txBody>
      </p:sp>
      <p:sp>
        <p:nvSpPr>
          <p:cNvPr id="451" name="Google Shape;451;p29"/>
          <p:cNvSpPr txBox="1"/>
          <p:nvPr/>
        </p:nvSpPr>
        <p:spPr>
          <a:xfrm>
            <a:off x="11680422" y="1654036"/>
            <a:ext cx="5309496" cy="3962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162651"/>
                </a:solidFill>
                <a:latin typeface="Montserrat"/>
                <a:ea typeface="Montserrat"/>
                <a:cs typeface="Montserrat"/>
                <a:sym typeface="Montserrat"/>
              </a:rPr>
              <a:t>Ambil dataset:</a:t>
            </a:r>
            <a:endParaRPr/>
          </a:p>
        </p:txBody>
      </p:sp>
      <p:sp>
        <p:nvSpPr>
          <p:cNvPr id="452" name="Google Shape;452;p29"/>
          <p:cNvSpPr txBox="1"/>
          <p:nvPr/>
        </p:nvSpPr>
        <p:spPr>
          <a:xfrm>
            <a:off x="1318103" y="2414534"/>
            <a:ext cx="6989696" cy="1353185"/>
          </a:xfrm>
          <a:prstGeom prst="rect">
            <a:avLst/>
          </a:prstGeom>
          <a:noFill/>
          <a:ln>
            <a:noFill/>
          </a:ln>
        </p:spPr>
        <p:txBody>
          <a:bodyPr anchorCtr="0" anchor="t" bIns="0" lIns="0" spcFirstLastPara="1" rIns="0" wrap="square" tIns="0">
            <a:spAutoFit/>
          </a:bodyPr>
          <a:lstStyle/>
          <a:p>
            <a:pPr indent="0" lvl="0" marL="0" marR="0" rtl="0" algn="l">
              <a:lnSpc>
                <a:spcPct val="140015"/>
              </a:lnSpc>
              <a:spcBef>
                <a:spcPts val="0"/>
              </a:spcBef>
              <a:spcAft>
                <a:spcPts val="0"/>
              </a:spcAft>
              <a:buNone/>
            </a:pPr>
            <a:r>
              <a:rPr b="1" i="0" lang="en-US" sz="2599" u="none" cap="none" strike="noStrike">
                <a:solidFill>
                  <a:srgbClr val="162651"/>
                </a:solidFill>
                <a:latin typeface="Montserrat"/>
                <a:ea typeface="Montserrat"/>
                <a:cs typeface="Montserrat"/>
                <a:sym typeface="Montserrat"/>
              </a:rPr>
              <a:t>Segmentasi Pelanggan UMKM Marketplace Berdasarkan Perilaku Transaksi</a:t>
            </a:r>
            <a:endParaRPr/>
          </a:p>
        </p:txBody>
      </p:sp>
      <p:sp>
        <p:nvSpPr>
          <p:cNvPr id="453" name="Google Shape;453;p29"/>
          <p:cNvSpPr txBox="1"/>
          <p:nvPr/>
        </p:nvSpPr>
        <p:spPr>
          <a:xfrm>
            <a:off x="1213065" y="4207018"/>
            <a:ext cx="5309496" cy="2910840"/>
          </a:xfrm>
          <a:prstGeom prst="rect">
            <a:avLst/>
          </a:prstGeom>
          <a:noFill/>
          <a:ln>
            <a:noFill/>
          </a:ln>
        </p:spPr>
        <p:txBody>
          <a:bodyPr anchorCtr="0" anchor="t" bIns="0" lIns="0" spcFirstLastPara="1" rIns="0" wrap="square" tIns="0">
            <a:spAutoFit/>
          </a:bodyPr>
          <a:lstStyle/>
          <a:p>
            <a:pPr indent="-259079" lvl="1" marL="518160" marR="0" rtl="0" algn="l">
              <a:lnSpc>
                <a:spcPct val="139958"/>
              </a:lnSpc>
              <a:spcBef>
                <a:spcPts val="0"/>
              </a:spcBef>
              <a:spcAft>
                <a:spcPts val="0"/>
              </a:spcAft>
              <a:buClr>
                <a:srgbClr val="162651"/>
              </a:buClr>
              <a:buSzPts val="2400"/>
              <a:buFont typeface="Montserrat"/>
              <a:buAutoNum type="arabicPeriod"/>
            </a:pPr>
            <a:r>
              <a:rPr b="0" i="0" lang="en-US" sz="2400" u="none" cap="none" strike="noStrike">
                <a:solidFill>
                  <a:srgbClr val="162651"/>
                </a:solidFill>
                <a:latin typeface="Montserrat"/>
                <a:ea typeface="Montserrat"/>
                <a:cs typeface="Montserrat"/>
                <a:sym typeface="Montserrat"/>
              </a:rPr>
              <a:t>Penanganan missing value</a:t>
            </a:r>
            <a:endParaRPr/>
          </a:p>
          <a:p>
            <a:pPr indent="-259079" lvl="1" marL="518160" marR="0" rtl="0" algn="l">
              <a:lnSpc>
                <a:spcPct val="139958"/>
              </a:lnSpc>
              <a:spcBef>
                <a:spcPts val="0"/>
              </a:spcBef>
              <a:spcAft>
                <a:spcPts val="0"/>
              </a:spcAft>
              <a:buClr>
                <a:srgbClr val="162651"/>
              </a:buClr>
              <a:buSzPts val="2400"/>
              <a:buFont typeface="Montserrat"/>
              <a:buAutoNum type="arabicPeriod"/>
            </a:pPr>
            <a:r>
              <a:rPr b="0" i="0" lang="en-US" sz="2400" u="none" cap="none" strike="noStrike">
                <a:solidFill>
                  <a:srgbClr val="162651"/>
                </a:solidFill>
                <a:latin typeface="Montserrat"/>
                <a:ea typeface="Montserrat"/>
                <a:cs typeface="Montserrat"/>
                <a:sym typeface="Montserrat"/>
              </a:rPr>
              <a:t>Kategorikal tidak konsisten</a:t>
            </a:r>
            <a:endParaRPr/>
          </a:p>
          <a:p>
            <a:pPr indent="-259079" lvl="1" marL="518160" marR="0" rtl="0" algn="l">
              <a:lnSpc>
                <a:spcPct val="139958"/>
              </a:lnSpc>
              <a:spcBef>
                <a:spcPts val="0"/>
              </a:spcBef>
              <a:spcAft>
                <a:spcPts val="0"/>
              </a:spcAft>
              <a:buClr>
                <a:srgbClr val="162651"/>
              </a:buClr>
              <a:buSzPts val="2400"/>
              <a:buFont typeface="Montserrat"/>
              <a:buAutoNum type="arabicPeriod"/>
            </a:pPr>
            <a:r>
              <a:rPr b="0" i="0" lang="en-US" sz="2400" u="none" cap="none" strike="noStrike">
                <a:solidFill>
                  <a:srgbClr val="162651"/>
                </a:solidFill>
                <a:latin typeface="Montserrat"/>
                <a:ea typeface="Montserrat"/>
                <a:cs typeface="Montserrat"/>
                <a:sym typeface="Montserrat"/>
              </a:rPr>
              <a:t>Deteksi outlier</a:t>
            </a:r>
            <a:endParaRPr/>
          </a:p>
          <a:p>
            <a:pPr indent="-259079" lvl="1" marL="518160" marR="0" rtl="0" algn="l">
              <a:lnSpc>
                <a:spcPct val="139958"/>
              </a:lnSpc>
              <a:spcBef>
                <a:spcPts val="0"/>
              </a:spcBef>
              <a:spcAft>
                <a:spcPts val="0"/>
              </a:spcAft>
              <a:buClr>
                <a:srgbClr val="162651"/>
              </a:buClr>
              <a:buSzPts val="2400"/>
              <a:buFont typeface="Montserrat"/>
              <a:buAutoNum type="arabicPeriod"/>
            </a:pPr>
            <a:r>
              <a:rPr b="0" i="0" lang="en-US" sz="2400" u="none" cap="none" strike="noStrike">
                <a:solidFill>
                  <a:srgbClr val="162651"/>
                </a:solidFill>
                <a:latin typeface="Montserrat"/>
                <a:ea typeface="Montserrat"/>
                <a:cs typeface="Montserrat"/>
                <a:sym typeface="Montserrat"/>
              </a:rPr>
              <a:t>Encoding data</a:t>
            </a:r>
            <a:endParaRPr/>
          </a:p>
          <a:p>
            <a:pPr indent="-259079" lvl="1" marL="518160" marR="0" rtl="0" algn="l">
              <a:lnSpc>
                <a:spcPct val="139958"/>
              </a:lnSpc>
              <a:spcBef>
                <a:spcPts val="0"/>
              </a:spcBef>
              <a:spcAft>
                <a:spcPts val="0"/>
              </a:spcAft>
              <a:buClr>
                <a:srgbClr val="162651"/>
              </a:buClr>
              <a:buSzPts val="2400"/>
              <a:buFont typeface="Montserrat"/>
              <a:buAutoNum type="arabicPeriod"/>
            </a:pPr>
            <a:r>
              <a:rPr b="0" i="0" lang="en-US" sz="2400" u="none" cap="none" strike="noStrike">
                <a:solidFill>
                  <a:srgbClr val="162651"/>
                </a:solidFill>
                <a:latin typeface="Montserrat"/>
                <a:ea typeface="Montserrat"/>
                <a:cs typeface="Montserrat"/>
                <a:sym typeface="Montserrat"/>
              </a:rPr>
              <a:t>Normalisasi Data</a:t>
            </a:r>
            <a:endParaRPr/>
          </a:p>
          <a:p>
            <a:pPr indent="-259079" lvl="1" marL="518160" marR="0" rtl="0" algn="l">
              <a:lnSpc>
                <a:spcPct val="139958"/>
              </a:lnSpc>
              <a:spcBef>
                <a:spcPts val="0"/>
              </a:spcBef>
              <a:spcAft>
                <a:spcPts val="0"/>
              </a:spcAft>
              <a:buClr>
                <a:srgbClr val="162651"/>
              </a:buClr>
              <a:buSzPts val="2400"/>
              <a:buFont typeface="Montserrat"/>
              <a:buAutoNum type="arabicPeriod"/>
            </a:pPr>
            <a:r>
              <a:rPr b="0" i="0" lang="en-US" sz="2400" u="none" cap="none" strike="noStrike">
                <a:solidFill>
                  <a:srgbClr val="162651"/>
                </a:solidFill>
                <a:latin typeface="Montserrat"/>
                <a:ea typeface="Montserrat"/>
                <a:cs typeface="Montserrat"/>
                <a:sym typeface="Montserrat"/>
              </a:rPr>
              <a:t>K-Means</a:t>
            </a:r>
            <a:endParaRPr/>
          </a:p>
          <a:p>
            <a:pPr indent="0" lvl="0" marL="0" marR="0" rtl="0" algn="l">
              <a:lnSpc>
                <a:spcPct val="139958"/>
              </a:lnSpc>
              <a:spcBef>
                <a:spcPts val="0"/>
              </a:spcBef>
              <a:spcAft>
                <a:spcPts val="0"/>
              </a:spcAft>
              <a:buNone/>
            </a:pPr>
            <a:r>
              <a:t/>
            </a:r>
            <a:endParaRPr b="0" i="0" sz="2400" u="none" cap="none" strike="noStrike">
              <a:solidFill>
                <a:srgbClr val="162651"/>
              </a:solidFill>
              <a:latin typeface="Montserrat"/>
              <a:ea typeface="Montserrat"/>
              <a:cs typeface="Montserrat"/>
              <a:sym typeface="Montserrat"/>
            </a:endParaRPr>
          </a:p>
        </p:txBody>
      </p:sp>
      <p:pic>
        <p:nvPicPr>
          <p:cNvPr id="454" name="Google Shape;454;p29"/>
          <p:cNvPicPr preferRelativeResize="0"/>
          <p:nvPr/>
        </p:nvPicPr>
        <p:blipFill rotWithShape="1">
          <a:blip r:embed="rId5">
            <a:alphaModFix/>
          </a:blip>
          <a:srcRect b="0" l="0" r="0" t="0"/>
          <a:stretch/>
        </p:blipFill>
        <p:spPr>
          <a:xfrm>
            <a:off x="11078466" y="1860203"/>
            <a:ext cx="7223472" cy="7223472"/>
          </a:xfrm>
          <a:prstGeom prst="rect">
            <a:avLst/>
          </a:prstGeom>
          <a:noFill/>
          <a:ln>
            <a:noFill/>
          </a:ln>
        </p:spPr>
      </p:pic>
    </p:spTree>
  </p:cSld>
  <p:clrMapOvr>
    <a:masterClrMapping/>
  </p:clrMapOvr>
  <p:transition spd="slow">
    <p:push/>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